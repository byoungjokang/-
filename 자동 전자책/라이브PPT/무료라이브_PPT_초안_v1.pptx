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slideMasters/slideMaster159.xml" ContentType="application/vnd.openxmlformats-officedocument.presentationml.slideMaster+xml"/>
  <Override PartName="/ppt/slides/slide159.xml" ContentType="application/vnd.openxmlformats-officedocument.presentationml.slide+xml"/>
  <Override PartName="/ppt/slideMasters/slideMaster160.xml" ContentType="application/vnd.openxmlformats-officedocument.presentationml.slideMaster+xml"/>
  <Override PartName="/ppt/slides/slide160.xml" ContentType="application/vnd.openxmlformats-officedocument.presentationml.slide+xml"/>
  <Override PartName="/ppt/slideMasters/slideMaster161.xml" ContentType="application/vnd.openxmlformats-officedocument.presentationml.slideMaster+xml"/>
  <Override PartName="/ppt/slides/slide161.xml" ContentType="application/vnd.openxmlformats-officedocument.presentationml.slide+xml"/>
  <Override PartName="/ppt/slideMasters/slideMaster162.xml" ContentType="application/vnd.openxmlformats-officedocument.presentationml.slideMaster+xml"/>
  <Override PartName="/ppt/slides/slide162.xml" ContentType="application/vnd.openxmlformats-officedocument.presentationml.slide+xml"/>
  <Override PartName="/ppt/slideMasters/slideMaster163.xml" ContentType="application/vnd.openxmlformats-officedocument.presentationml.slideMaster+xml"/>
  <Override PartName="/ppt/slides/slide163.xml" ContentType="application/vnd.openxmlformats-officedocument.presentationml.slide+xml"/>
  <Override PartName="/ppt/slideMasters/slideMaster164.xml" ContentType="application/vnd.openxmlformats-officedocument.presentationml.slideMaster+xml"/>
  <Override PartName="/ppt/slides/slide164.xml" ContentType="application/vnd.openxmlformats-officedocument.presentationml.slide+xml"/>
  <Override PartName="/ppt/slideMasters/slideMaster165.xml" ContentType="application/vnd.openxmlformats-officedocument.presentationml.slideMaster+xml"/>
  <Override PartName="/ppt/slides/slide165.xml" ContentType="application/vnd.openxmlformats-officedocument.presentationml.slide+xml"/>
  <Override PartName="/ppt/slideMasters/slideMaster166.xml" ContentType="application/vnd.openxmlformats-officedocument.presentationml.slideMaster+xml"/>
  <Override PartName="/ppt/slides/slide166.xml" ContentType="application/vnd.openxmlformats-officedocument.presentationml.slide+xml"/>
  <Override PartName="/ppt/slideMasters/slideMaster167.xml" ContentType="application/vnd.openxmlformats-officedocument.presentationml.slideMaster+xml"/>
  <Override PartName="/ppt/slides/slide167.xml" ContentType="application/vnd.openxmlformats-officedocument.presentationml.slide+xml"/>
  <Override PartName="/ppt/slideMasters/slideMaster168.xml" ContentType="application/vnd.openxmlformats-officedocument.presentationml.slideMaster+xml"/>
  <Override PartName="/ppt/slides/slide168.xml" ContentType="application/vnd.openxmlformats-officedocument.presentationml.slide+xml"/>
  <Override PartName="/ppt/slideMasters/slideMaster169.xml" ContentType="application/vnd.openxmlformats-officedocument.presentationml.slideMaster+xml"/>
  <Override PartName="/ppt/slides/slide169.xml" ContentType="application/vnd.openxmlformats-officedocument.presentationml.slide+xml"/>
  <Override PartName="/ppt/slideMasters/slideMaster170.xml" ContentType="application/vnd.openxmlformats-officedocument.presentationml.slideMaster+xml"/>
  <Override PartName="/ppt/slides/slide170.xml" ContentType="application/vnd.openxmlformats-officedocument.presentationml.slide+xml"/>
  <Override PartName="/ppt/slideMasters/slideMaster171.xml" ContentType="application/vnd.openxmlformats-officedocument.presentationml.slideMaster+xml"/>
  <Override PartName="/ppt/slides/slide171.xml" ContentType="application/vnd.openxmlformats-officedocument.presentationml.slide+xml"/>
  <Override PartName="/ppt/slideMasters/slideMaster172.xml" ContentType="application/vnd.openxmlformats-officedocument.presentationml.slideMaster+xml"/>
  <Override PartName="/ppt/slides/slide172.xml" ContentType="application/vnd.openxmlformats-officedocument.presentationml.slide+xml"/>
  <Override PartName="/ppt/slideMasters/slideMaster173.xml" ContentType="application/vnd.openxmlformats-officedocument.presentationml.slideMaster+xml"/>
  <Override PartName="/ppt/slides/slide173.xml" ContentType="application/vnd.openxmlformats-officedocument.presentationml.slide+xml"/>
  <Override PartName="/ppt/slideMasters/slideMaster174.xml" ContentType="application/vnd.openxmlformats-officedocument.presentationml.slideMaster+xml"/>
  <Override PartName="/ppt/slides/slide174.xml" ContentType="application/vnd.openxmlformats-officedocument.presentationml.slide+xml"/>
  <Override PartName="/ppt/slideMasters/slideMaster175.xml" ContentType="application/vnd.openxmlformats-officedocument.presentationml.slideMaster+xml"/>
  <Override PartName="/ppt/slides/slide175.xml" ContentType="application/vnd.openxmlformats-officedocument.presentationml.slide+xml"/>
  <Override PartName="/ppt/slideMasters/slideMaster176.xml" ContentType="application/vnd.openxmlformats-officedocument.presentationml.slideMaster+xml"/>
  <Override PartName="/ppt/slides/slide176.xml" ContentType="application/vnd.openxmlformats-officedocument.presentationml.slide+xml"/>
  <Override PartName="/ppt/slideMasters/slideMaster177.xml" ContentType="application/vnd.openxmlformats-officedocument.presentationml.slideMaster+xml"/>
  <Override PartName="/ppt/slides/slide177.xml" ContentType="application/vnd.openxmlformats-officedocument.presentationml.slide+xml"/>
  <Override PartName="/ppt/slideMasters/slideMaster178.xml" ContentType="application/vnd.openxmlformats-officedocument.presentationml.slideMaster+xml"/>
  <Override PartName="/ppt/slides/slide178.xml" ContentType="application/vnd.openxmlformats-officedocument.presentationml.slide+xml"/>
  <Override PartName="/ppt/slideMasters/slideMaster179.xml" ContentType="application/vnd.openxmlformats-officedocument.presentationml.slideMaster+xml"/>
  <Override PartName="/ppt/slides/slide179.xml" ContentType="application/vnd.openxmlformats-officedocument.presentationml.slide+xml"/>
  <Override PartName="/ppt/slideMasters/slideMaster180.xml" ContentType="application/vnd.openxmlformats-officedocument.presentationml.slideMaster+xml"/>
  <Override PartName="/ppt/slides/slide180.xml" ContentType="application/vnd.openxmlformats-officedocument.presentationml.slide+xml"/>
  <Override PartName="/ppt/slideMasters/slideMaster181.xml" ContentType="application/vnd.openxmlformats-officedocument.presentationml.slideMaster+xml"/>
  <Override PartName="/ppt/slides/slide181.xml" ContentType="application/vnd.openxmlformats-officedocument.presentationml.slide+xml"/>
  <Override PartName="/ppt/slideMasters/slideMaster182.xml" ContentType="application/vnd.openxmlformats-officedocument.presentationml.slideMaster+xml"/>
  <Override PartName="/ppt/slides/slide182.xml" ContentType="application/vnd.openxmlformats-officedocument.presentationml.slide+xml"/>
  <Override PartName="/ppt/slideMasters/slideMaster183.xml" ContentType="application/vnd.openxmlformats-officedocument.presentationml.slideMaster+xml"/>
  <Override PartName="/ppt/slides/slide183.xml" ContentType="application/vnd.openxmlformats-officedocument.presentationml.slide+xml"/>
  <Override PartName="/ppt/slideMasters/slideMaster184.xml" ContentType="application/vnd.openxmlformats-officedocument.presentationml.slideMaster+xml"/>
  <Override PartName="/ppt/slides/slide184.xml" ContentType="application/vnd.openxmlformats-officedocument.presentationml.slide+xml"/>
  <Override PartName="/ppt/slideMasters/slideMaster185.xml" ContentType="application/vnd.openxmlformats-officedocument.presentationml.slideMaster+xml"/>
  <Override PartName="/ppt/slides/slide185.xml" ContentType="application/vnd.openxmlformats-officedocument.presentationml.slide+xml"/>
  <Override PartName="/ppt/slideMasters/slideMaster186.xml" ContentType="application/vnd.openxmlformats-officedocument.presentationml.slideMaster+xml"/>
  <Override PartName="/ppt/slides/slide186.xml" ContentType="application/vnd.openxmlformats-officedocument.presentationml.slide+xml"/>
  <Override PartName="/ppt/slideMasters/slideMaster187.xml" ContentType="application/vnd.openxmlformats-officedocument.presentationml.slideMaster+xml"/>
  <Override PartName="/ppt/slides/slide187.xml" ContentType="application/vnd.openxmlformats-officedocument.presentationml.slide+xml"/>
  <Override PartName="/ppt/slideMasters/slideMaster188.xml" ContentType="application/vnd.openxmlformats-officedocument.presentationml.slideMaster+xml"/>
  <Override PartName="/ppt/slides/slide188.xml" ContentType="application/vnd.openxmlformats-officedocument.presentationml.slide+xml"/>
  <Override PartName="/ppt/slideMasters/slideMaster189.xml" ContentType="application/vnd.openxmlformats-officedocument.presentationml.slideMaster+xml"/>
  <Override PartName="/ppt/slides/slide189.xml" ContentType="application/vnd.openxmlformats-officedocument.presentationml.slide+xml"/>
  <Override PartName="/ppt/slideMasters/slideMaster190.xml" ContentType="application/vnd.openxmlformats-officedocument.presentationml.slideMaster+xml"/>
  <Override PartName="/ppt/slides/slide19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</p:sldIdLst>
  <p:notesMasterIdLst>
    <p:notesMasterId r:id="rId19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. 오프닝 · 첫 100만원 발표" id="{73215965-4c49-8d3b-0385-898056e17956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2. 오늘의 100만원 이벤트" id="{a20baa25-1f6e-fef7-ace6-b301d6485089}">
          <p14:sldIdLst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3. 부수입, 다들 원하잖아요" id="{de24d332-e18b-408c-2fc8-13f8e7ffffed}">
          <p14:sldIdLst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</p14:sldIdLst>
        </p14:section>
        <p14:section name="4. 다른 부업이랑 비교해볼게요" id="{f0462687-8075-d691-353b-a443ca187594}">
          <p14:sldIdLst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</p14:sldIdLst>
        </p14:section>
        <p14:section name="5. 그게 바로 전자책이에요" id="{c08dae59-4f02-0f6a-74b1-d446517a04a4}">
          <p14:sldIdLst>
            <p14:sldId id="296"/>
            <p14:sldId id="297"/>
            <p14:sldId id="298"/>
            <p14:sldId id="299"/>
            <p14:sldId id="300"/>
            <p14:sldId id="301"/>
            <p14:sldId id="302"/>
          </p14:sldIdLst>
        </p14:section>
        <p14:section name="6. 진짜 팔리냐고요? 보여드릴게요" id="{d566c0f3-515d-5697-1cd1-80a09766bca3}">
          <p14:sldIdLst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</p14:sldIdLst>
        </p14:section>
        <p14:section name="7. 사람들은 왜 돈 내고 살까요?" id="{0117981d-d325-23cb-4182-0114519fbf01}">
          <p14:sldIdLst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</p14:sldIdLst>
        </p14:section>
        <p14:section name="8. 팔리는 주제 찾는 법" id="{10585377-1e10-a2a4-b1b7-0d793c349b90}">
          <p14:sldIdLst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</p14:sldIdLst>
        </p14:section>
        <p14:section name="9. 저도 책 한 권에 1,100만원 썼어요" id="{e3118029-dd79-7913-01e7-071387df24e4}">
          <p14:sldIdLst>
            <p14:sldId id="339"/>
            <p14:sldId id="340"/>
            <p14:sldId id="341"/>
            <p14:sldId id="342"/>
            <p14:sldId id="343"/>
            <p14:sldId id="344"/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  <p14:sldId id="353"/>
            <p14:sldId id="354"/>
            <p14:sldId id="355"/>
            <p14:sldId id="356"/>
          </p14:sldIdLst>
        </p14:section>
        <p14:section name="10. 그래서 만들었어요 · 프로그램 공개" id="{877a2a9a-1d26-97e0-ec81-58089945c4c7}">
          <p14:sldIdLst>
            <p14:sldId id="357"/>
            <p14:sldId id="358"/>
            <p14:sldId id="359"/>
            <p14:sldId id="360"/>
            <p14:sldId id="361"/>
            <p14:sldId id="362"/>
            <p14:sldId id="363"/>
            <p14:sldId id="364"/>
            <p14:sldId id="365"/>
            <p14:sldId id="366"/>
            <p14:sldId id="367"/>
            <p14:sldId id="368"/>
          </p14:sldIdLst>
        </p14:section>
        <p14:section name="11. 이제 여러분 차례예요" id="{4a32b285-a522-0546-9d5c-df24fb020cd6}">
          <p14:sldIdLst>
            <p14:sldId id="369"/>
            <p14:sldId id="370"/>
            <p14:sldId id="371"/>
            <p14:sldId id="372"/>
            <p14:sldId id="373"/>
            <p14:sldId id="374"/>
            <p14:sldId id="375"/>
            <p14:sldId id="376"/>
          </p14:sldIdLst>
        </p14:section>
        <p14:section name="12. 만들었으면 팔아야죠" id="{c75a3695-d984-827f-0afa-ba6a0d2008ed}">
          <p14:sldIdLst>
            <p14:sldId id="377"/>
            <p14:sldId id="378"/>
            <p14:sldId id="379"/>
            <p14:sldId id="380"/>
            <p14:sldId id="381"/>
            <p14:sldId id="382"/>
            <p14:sldId id="383"/>
            <p14:sldId id="384"/>
            <p14:sldId id="385"/>
            <p14:sldId id="386"/>
            <p14:sldId id="387"/>
            <p14:sldId id="388"/>
            <p14:sldId id="389"/>
            <p14:sldId id="390"/>
          </p14:sldIdLst>
        </p14:section>
        <p14:section name="13. 저만 되는 거 아니에요" id="{4cafac5b-08f0-a7d5-1289-b792026c148c}">
          <p14:sldIdLst>
            <p14:sldId id="391"/>
            <p14:sldId id="392"/>
            <p14:sldId id="393"/>
            <p14:sldId id="394"/>
            <p14:sldId id="395"/>
            <p14:sldId id="396"/>
            <p14:sldId id="397"/>
            <p14:sldId id="398"/>
            <p14:sldId id="399"/>
            <p14:sldId id="400"/>
            <p14:sldId id="401"/>
            <p14:sldId id="402"/>
          </p14:sldIdLst>
        </p14:section>
        <p14:section name="14. 오늘 한 것 정리" id="{003e5775-7120-c543-c0b2-fe1250ee8b90}">
          <p14:sldIdLst>
            <p14:sldId id="403"/>
            <p14:sldId id="404"/>
            <p14:sldId id="405"/>
            <p14:sldId id="406"/>
          </p14:sldIdLst>
        </p14:section>
        <p14:section name="15. 오늘 쓴 프로그램, 계속 쓰려면" id="{f06aa543-1d55-e379-549d-9acc25cd19bc}">
          <p14:sldIdLst>
            <p14:sldId id="407"/>
            <p14:sldId id="408"/>
            <p14:sldId id="409"/>
            <p14:sldId id="410"/>
            <p14:sldId id="411"/>
            <p14:sldId id="412"/>
            <p14:sldId id="413"/>
          </p14:sldIdLst>
        </p14:section>
        <p14:section name="16. 커리큘럼 · 혜택 · 가격" id="{008d41ea-ecbe-42dc-afef-3a17c5932f86}">
          <p14:sldIdLst>
            <p14:sldId id="414"/>
            <p14:sldId id="415"/>
            <p14:sldId id="416"/>
            <p14:sldId id="417"/>
            <p14:sldId id="418"/>
            <p14:sldId id="419"/>
            <p14:sldId id="420"/>
            <p14:sldId id="421"/>
            <p14:sldId id="422"/>
            <p14:sldId id="423"/>
            <p14:sldId id="424"/>
            <p14:sldId id="425"/>
          </p14:sldIdLst>
        </p14:section>
        <p14:section name="17. 오늘의 100만원 발표" id="{9120a63f-3c99-2ad1-1378-8e11733b4e8f}">
          <p14:sldIdLst>
            <p14:sldId id="426"/>
            <p14:sldId id="427"/>
            <p14:sldId id="428"/>
            <p14:sldId id="429"/>
            <p14:sldId id="430"/>
            <p14:sldId id="431"/>
            <p14:sldId id="432"/>
            <p14:sldId id="433"/>
          </p14:sldIdLst>
        </p14:section>
        <p14:section name="18. 자주 묻는 질문" id="{084cc348-db00-0b8c-25c0-5c10cfccafc8}">
          <p14:sldIdLst>
            <p14:sldId id="434"/>
            <p14:sldId id="435"/>
            <p14:sldId id="436"/>
            <p14:sldId id="437"/>
            <p14:sldId id="438"/>
            <p14:sldId id="439"/>
            <p14:sldId id="440"/>
            <p14:sldId id="441"/>
            <p14:sldId id="442"/>
            <p14:sldId id="443"/>
            <p14:sldId id="444"/>
            <p14:sldId id="44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slide" Target="slides/slide160.xml"/><Relationship Id="rId162" Type="http://schemas.openxmlformats.org/officeDocument/2006/relationships/slide" Target="slides/slide161.xml"/><Relationship Id="rId163" Type="http://schemas.openxmlformats.org/officeDocument/2006/relationships/slide" Target="slides/slide162.xml"/><Relationship Id="rId164" Type="http://schemas.openxmlformats.org/officeDocument/2006/relationships/slide" Target="slides/slide163.xml"/><Relationship Id="rId165" Type="http://schemas.openxmlformats.org/officeDocument/2006/relationships/slide" Target="slides/slide164.xml"/><Relationship Id="rId166" Type="http://schemas.openxmlformats.org/officeDocument/2006/relationships/slide" Target="slides/slide165.xml"/><Relationship Id="rId167" Type="http://schemas.openxmlformats.org/officeDocument/2006/relationships/slide" Target="slides/slide166.xml"/><Relationship Id="rId168" Type="http://schemas.openxmlformats.org/officeDocument/2006/relationships/slide" Target="slides/slide167.xml"/><Relationship Id="rId169" Type="http://schemas.openxmlformats.org/officeDocument/2006/relationships/slide" Target="slides/slide168.xml"/><Relationship Id="rId170" Type="http://schemas.openxmlformats.org/officeDocument/2006/relationships/slide" Target="slides/slide169.xml"/><Relationship Id="rId171" Type="http://schemas.openxmlformats.org/officeDocument/2006/relationships/slide" Target="slides/slide170.xml"/><Relationship Id="rId172" Type="http://schemas.openxmlformats.org/officeDocument/2006/relationships/slide" Target="slides/slide171.xml"/><Relationship Id="rId173" Type="http://schemas.openxmlformats.org/officeDocument/2006/relationships/slide" Target="slides/slide172.xml"/><Relationship Id="rId174" Type="http://schemas.openxmlformats.org/officeDocument/2006/relationships/slide" Target="slides/slide173.xml"/><Relationship Id="rId175" Type="http://schemas.openxmlformats.org/officeDocument/2006/relationships/slide" Target="slides/slide174.xml"/><Relationship Id="rId176" Type="http://schemas.openxmlformats.org/officeDocument/2006/relationships/slide" Target="slides/slide175.xml"/><Relationship Id="rId177" Type="http://schemas.openxmlformats.org/officeDocument/2006/relationships/slide" Target="slides/slide176.xml"/><Relationship Id="rId178" Type="http://schemas.openxmlformats.org/officeDocument/2006/relationships/slide" Target="slides/slide177.xml"/><Relationship Id="rId179" Type="http://schemas.openxmlformats.org/officeDocument/2006/relationships/slide" Target="slides/slide178.xml"/><Relationship Id="rId180" Type="http://schemas.openxmlformats.org/officeDocument/2006/relationships/slide" Target="slides/slide179.xml"/><Relationship Id="rId181" Type="http://schemas.openxmlformats.org/officeDocument/2006/relationships/slide" Target="slides/slide180.xml"/><Relationship Id="rId182" Type="http://schemas.openxmlformats.org/officeDocument/2006/relationships/slide" Target="slides/slide181.xml"/><Relationship Id="rId183" Type="http://schemas.openxmlformats.org/officeDocument/2006/relationships/slide" Target="slides/slide182.xml"/><Relationship Id="rId184" Type="http://schemas.openxmlformats.org/officeDocument/2006/relationships/slide" Target="slides/slide183.xml"/><Relationship Id="rId185" Type="http://schemas.openxmlformats.org/officeDocument/2006/relationships/slide" Target="slides/slide184.xml"/><Relationship Id="rId186" Type="http://schemas.openxmlformats.org/officeDocument/2006/relationships/slide" Target="slides/slide185.xml"/><Relationship Id="rId187" Type="http://schemas.openxmlformats.org/officeDocument/2006/relationships/slide" Target="slides/slide186.xml"/><Relationship Id="rId188" Type="http://schemas.openxmlformats.org/officeDocument/2006/relationships/slide" Target="slides/slide187.xml"/><Relationship Id="rId189" Type="http://schemas.openxmlformats.org/officeDocument/2006/relationships/slide" Target="slides/slide188.xml"/><Relationship Id="rId190" Type="http://schemas.openxmlformats.org/officeDocument/2006/relationships/slide" Target="slides/slide189.xml"/><Relationship Id="rId191" Type="http://schemas.openxmlformats.org/officeDocument/2006/relationships/slide" Target="slides/slide190.xml"/><Relationship Id="rId192" Type="http://schemas.openxmlformats.org/officeDocument/2006/relationships/notesMaster" Target="notesMasters/notesMaster1.xml"/><Relationship Id="rId193" Type="http://schemas.openxmlformats.org/officeDocument/2006/relationships/presProps" Target="presProps.xml"/><Relationship Id="rId194" Type="http://schemas.openxmlformats.org/officeDocument/2006/relationships/viewProps" Target="viewProps.xml"/><Relationship Id="rId195" Type="http://schemas.openxmlformats.org/officeDocument/2006/relationships/theme" Target="theme/theme1.xml"/><Relationship Id="rId19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_rels/notesSlide1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9.xml"/>
		</Relationships>
</file>

<file path=ppt/notesSlides/_rels/notesSlide1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0.xml"/>
		</Relationships>
</file>

<file path=ppt/notesSlides/_rels/notesSlide1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1.xml"/>
		</Relationships>
</file>

<file path=ppt/notesSlides/_rels/notesSlide1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2.xml"/>
		</Relationships>
</file>

<file path=ppt/notesSlides/_rels/notesSlide1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3.xml"/>
		</Relationships>
</file>

<file path=ppt/notesSlides/_rels/notesSlide1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4.xml"/>
		</Relationships>
</file>

<file path=ppt/notesSlides/_rels/notesSlide1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5.xml"/>
		</Relationships>
</file>

<file path=ppt/notesSlides/_rels/notesSlide1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6.xml"/>
		</Relationships>
</file>

<file path=ppt/notesSlides/_rels/notesSlide1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7.xml"/>
		</Relationships>
</file>

<file path=ppt/notesSlides/_rels/notesSlide1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8.xml"/>
		</Relationships>
</file>

<file path=ppt/notesSlides/_rels/notesSlide1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9.xml"/>
		</Relationships>
</file>

<file path=ppt/notesSlides/_rels/notesSlide1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0.xml"/>
		</Relationships>
</file>

<file path=ppt/notesSlides/_rels/notesSlide1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1.xml"/>
		</Relationships>
</file>

<file path=ppt/notesSlides/_rels/notesSlide1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2.xml"/>
		</Relationships>
</file>

<file path=ppt/notesSlides/_rels/notesSlide1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3.xml"/>
		</Relationships>
</file>

<file path=ppt/notesSlides/_rels/notesSlide1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4.xml"/>
		</Relationships>
</file>

<file path=ppt/notesSlides/_rels/notesSlide1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5.xml"/>
		</Relationships>
</file>

<file path=ppt/notesSlides/_rels/notesSlide1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6.xml"/>
		</Relationships>
</file>

<file path=ppt/notesSlides/_rels/notesSlide1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7.xml"/>
		</Relationships>
</file>

<file path=ppt/notesSlides/_rels/notesSlide1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8.xml"/>
		</Relationships>
</file>

<file path=ppt/notesSlides/_rels/notesSlide1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9.xml"/>
		</Relationships>
</file>

<file path=ppt/notesSlides/_rels/notesSlide1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0.xml"/>
		</Relationships>
</file>

<file path=ppt/notesSlides/_rels/notesSlide1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1.xml"/>
		</Relationships>
</file>

<file path=ppt/notesSlides/_rels/notesSlide1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2.xml"/>
		</Relationships>
</file>

<file path=ppt/notesSlides/_rels/notesSlide1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3.xml"/>
		</Relationships>
</file>

<file path=ppt/notesSlides/_rels/notesSlide1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4.xml"/>
		</Relationships>
</file>

<file path=ppt/notesSlides/_rels/notesSlide1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5.xml"/>
		</Relationships>
</file>

<file path=ppt/notesSlides/_rels/notesSlide1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6.xml"/>
		</Relationships>
</file>

<file path=ppt/notesSlides/_rels/notesSlide1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7.xml"/>
		</Relationships>
</file>

<file path=ppt/notesSlides/_rels/notesSlide1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8.xml"/>
		</Relationships>
</file>

<file path=ppt/notesSlides/_rels/notesSlide1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9.xml"/>
		</Relationships>
</file>

<file path=ppt/notesSlides/_rels/notesSlide1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1. 오프닝 · 첫 100만원 발표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안녕하세요 여러분, [활동명]입니다. 들어오신 분들 채팅창에 인사 한 번씩 남겨주세요. (강의 제목·활동명은 회사와 확정)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채팅창 안 보이시는 분들은 유튜브 앱으로 들어오세요. 오늘 이벤트가 전부 채팅으로 진행돼요.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길어요. 4시간 정도 할 거예요. 중간에 쉬는 시간 드릴게요. 대신 끝까지 계신 분들한테만 드리는 게 있어요.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번호로만 남겨주세요. (채팅 읽기) 단톡방에서 오신 분들 많네요.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본업 있으신 분 1, 없으신 분 2, 부업 해보신 분 3. 오늘 강의는 본업 있는 분 기준이에요. 퇴근하고 한두 시간으로 돌아가는 구조만 알려드릴게요.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전자책 사보신 분? 생각보다 많죠. 산 사람이 있다는 건 판 사람이 있다는 거예요. 오늘은 파는 쪽이 되는 법을 알려드릴 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단톡방에 남겨주신 질문들 다 읽었어요. 제일 많았던 게 이 두 개였어요.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어떻게 만들어요, 어떻게 팔아요. 오늘 이 두 개에 다 답해드릴게요. 만드는 건 프로그램이 하고, 파는 건 [광고 지원 방식 확정 후 한 줄].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단톡방에서 진행했던 100만원 이벤트. [이벤트 내용 한 줄] 지금 발표할게요.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자, 두구두구.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축하드려요! 지급은 [방법]으로 안내드릴게요. 못 받으신 분들, 실망하지 마세요. 오늘 또 있어요.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단톡방 들어오실 때 주제 모음집 받으셨죠. 오늘 그 주제 중에 하나 골라서 실제로 만들어볼 거예요. 안 받으신 분은 [받는 방법].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2. 오늘의 100만원 이벤트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라이브 들어오신 분들만을 위한 이벤트예요. 오늘 배운 걸 제일 잘 적용해서 전자책을 만든 딱 한 분께 100만원. 추첨 아니고 결과물로 뽑아요.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여기서 여러분 전자책의 주제, 제목, 목차, 첫 페이지까지 직접 만들어 보실 거예요. 제가 짠 구조로 [회사명]에서 만든 프로그램으로요.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링크 열어드리면 따라 만들고, 제출하시면 돼요. 제출처랑 마감은 그때 다시 띄울게요.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글 잘 쓰는 사람이 아니라 오늘 배운 걸 제대로 적용한 사람이 받아요. 그러니까 끝까지 들으셔야 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끝까지 계신 분들께만 드리는 선물도 있어요. 맨 마지막에 공개할게요. (프롬프트는 중간에 주면 이탈하니 반드시 마지막에)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순서예요. 부업 고르는 기준부터 시작해서, 직접 만들고, 파는 것까지 가요. 마지막에 100만원 발표해요.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3. 부수입, 다들 원하잖아요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솔직하게 적어주세요. 30만원? 100만원? 월급만큼? (채팅 읽기)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다들 이런 생각 해보셨을 거예요. 회사 하나 더는 못 다니겠고, 딱 월급만큼만 더 들어오면 좋겠다.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근데 시작하는 데 돈이 많이 들면 무섭죠. 망하면 끝이니까.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그리고 시간이 없어요. 퇴근하면 녹초인데.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 돈 생기면 뭐 하실 거예요? (채팅 읽기) 대출, 부모님 용돈, 퇴사 준비. 이게 여러분이 오늘 끝까지 들어야 하는 이유예요.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솔직히 하루 한두 시간이죠. 그럼 부업은 그 시간 안에 돌아가야 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시간, 초기 비용, 반복 작업, 판매 구조. 이 기준으로 다른 부업들이랑 하나씩 비교해볼게요.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4. 다른 부업이랑 비교해볼게요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크게 오프라인이랑 온라인이 있죠. 오프라인부터 볼게요.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공간이 필요하죠. 시작부터 돈이 크게 들어가요.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문을 열어둬야 손님이 와요. 본업 하면서는 불가능하죠.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 동네 사람만 와요. 아무리 잘해도 천장이 있어요.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온라인 판매는 어떨까요. 많이들 하시죠.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물건을 파는 부업은 재고부터 사야 해요. 안 팔리면 그대로 짐이에요.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포장, 배송, 반품, 교환. 퇴근하고 박스 접고 계실 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정산이 몇 주씩 걸려요. 매출은 나는데 통장에 돈이 없는 상황이 생겨요.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그럼 내 기술을 팔면요? 외주, 대행. 이건 주문이 올 때마다 내 시간을 또 써야 해요. 몸이 하나라 한계가 있어요.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줄을 보세요. 시작 비용 거의 없고, 본업이랑 같이 되고, 한 번 만들면 계속 팔리는 것. 뭘까요?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재고도 배송도 없고, 한 번 만들어 두면 자는 동안에도 팔리는 상품. 있어요.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5. 그게 바로 전자책이에요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바로 전자책이에요. 종이책 말고 PDF 파일로 된 책이요.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이게 제가 지금 크래킷에서 실제로 팔고 있는 전자책이에요. (표지·내지 넘기며 보여주기)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사는 사람은 결제하면 바로 PDF를 받아요. 택배가 없어요.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구조는 이게 다예요. 100명이 사도 제가 할 일은 똑같아요.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종이책처럼 300쪽 쓰는 거 아니에요. 50~60쪽이면 돼요. 문제 하나를 확실하게 풀어주는 책이요.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가지 기준 전부 통과예요. 이래서 전자책을 하라는 거예요. (만원 문구는 프로그램 과금 확정 후)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6. 진짜 팔리냐고요? 보여드릴게요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강의 내내 이 책 한 권으로 설명할게요.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채팅으로 맞혀보세요. (채팅 읽기) 정답 공개할게요.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2만 9천원이에요. 3만원 넘기면 덜 팔리더라고요. 테스트 다 해봤어요. (실제 가격으로 확인)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그리고 결제할 때 워크북을 같이 붙여요. 사는 분 열 명 중 일곱 명이 같이 사요. 그래서 한 건에 평균 5만원 정도가 돼요.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본상품이랑 워크북 합쳐서 한 건에 5만원. 이게 기본 단위예요.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이게 크래킷 판매 내역이에요. 테스트로 시작했는데 1,600만원 나왔어요. [기간] 동안이요.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광고비는 하루 2만원에서 2만 5천원. 매출의 10%도 안 써요. 커피 몇 잔 값이에요.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욕심 내서 하루 4만원으로 확 올렸더니 오히려 판매가 떨어졌어요. 광고비는 천천히 올려야 해요. 이런 건 해봐야 알아요.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(라이브 직전 달성하면 공개) 이번 달 월 매출 1,000만원 찍었어요. 하루 33만원. 광고비는 하루 10만원 정도 썼어요.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이거 전업으로 한 거 아니에요. 코칭하고 강의하고 학원 운영하면서 [하루 시간]으로 한 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자, 그럼 이걸 알려드릴 저는 누구냐.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안녕하세요, [활동명]입니다. 17년째 자신감·말하기를 가르치고 있고, 5천 명 넘게 코칭했어요. 그리고 책을 정식 출판해 본 작가예요. 근데 그 책, 망했어요. 그 얘기는 이따 할게요.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7. 사람들은 왜 돈 내고 살까요?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요즘 유튜브에 다 있는데 누가 돈 내고 사냐. 그런데 사요. 왜 살까요?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사람은 유명한 사람이라서 사는 게 아니에요. 필요해졌을 때 사요. 예를 들어볼게요.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아이가 밤에 안 자요. 오은영 박사님 책도 좋죠. 근데 진짜 급할 때는 7살 아이 키우는 옆집 엄마한테 물어봐요. 그 사람이 먼저 겪었으니까요.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그래서 요즘 권위는 유명함이 아니에요. 나랑 비슷한 사람이 먼저 해봤다는 것. 그게 권위예요. 여러분도 될 수 있다는 뜻이에요.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실제로 잘 팔리는 주제가 '아기 재우는 법'이에요. 박사님이 쓴 책이 아니에요. 아이 재우느라 밤새워 본 사람이 쓴 책이에요.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유튜브 50개 보고, 블로그 뒤지고, 혼자 시행착오 겪을 시간. 그걸 산 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검색 시간, 정리된 순서, 먼저 겪은 사람의 시행착오. 여기에 돈을 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후기예요. (읽어주기) '내 얘기 같았다', '정리가 돼서 좋았다'. 이게 팔리는 이유예요.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내가 아는 걸 누가 사냐는 생각, 버리세요. 여러분한텐 당연한 게 1년 늦게 시작한 누군가한텐 돈 주고라도 알고 싶은 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8. 팔리는 주제 찾는 법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제일 많이 하는 실수. 내가 쓰고 싶은 걸로 시작해요. 그럼 아무도 안 사요.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고객부터, 그 고객의 문제, 그다음 주제. 제목이랑 목차는 맨 마지막이에요.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꼭 잘하는 걸 써야 하는 게 아니에요. 지금 못하는 걸 잡아서 잘하게 되는 과정을 쓰면 그게 스토리가 돼요. 예를 들어 MZ 며느리의 고부갈등, 민간요법 대신 최신 육아정보. 이런 게 다 주제예요.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넓은 주제는 검색하면 수천 개가 나와요. 안 팔려요.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다섯 칸이 다 차면 팔리는 주제예요.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육아. 이걸 쪼개면 이렇게 돼요. 누가 살지 얼굴이 그려지죠? 이게 팔리는 주제예요.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결핍은 이 여섯 개 중 하나에 붙어야 돈이 돼요. 사람들이 지갑을 여는 곳이에요.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주제 하나가 팔리면 그다음부터는 쉬워요. 같은 고객의 다음 문제로 계속 만들 수 있어요. 한 권이 아니라 시리즈가 돼요.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제목에 숫자를 넣고, 방법에 이름을 붙이세요. '3단계 원리', '○○의 법칙'. 기간을 너무 길게 잡으면 안 돼요. '1년 만에'는 안 사요.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 책으로 보여드릴게요. 고객은 이랬고, 문제는 이거였고, 그래서 제목이 이렇게 나왔고, 목차는 이렇게 짰어요.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목차는 이 흐름이에요. 장마다 세상의 뻔한 답을 뒤집어 주는 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채팅에 한 줄씩 적어보세요. 주제 모음집에서 골라도 돼요. 이게 오늘 실습의 출발점이에요.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9. 저도 책 한 권에 1,100만원 썼어요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주제는 정했어요. 근데 책 한 권을 어떻게 다 써요? 저도 그랬어요. 제 얘기 좀 할게요.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저는 원래 배우가 되고 싶었어요. 근데 진로가 막막했어요. [구체적 장면]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그러던 중에 집안 형편도 기울었어요. 뭐라도 해야 했어요.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그래서 책을 쓰기로 했어요. 책 한 권 내면 뭔가 달라질 줄 알았어요.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책쓰기 협회에 1,100만원을 냈어요.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제가 모은 돈 350만원 전부에, 아버지께 700만원을 빌렸어요. 집안이 기울었을 때요. [그때 아버지 반응·내 마음]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그렇게 정식 출판을 했어요. 서점에 제 책이 깔렸어요. [출간 정보]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그리고 망했어요.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아무도 저를 몰랐어요. 그리고 파는 법을 몰랐어요. 책은 좋은데 아무도 몰라요. 그게 제일 무서운 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그래서 유튜브를 시작했어요. 사람들이 저를 알게 만들어야 했으니까요.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그다음에 8천원짜리 전자책을 만들었어요. 그게 팔리기 시작했어요. [처음 팔린 날 장면]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 전자책 한 권이 코칭으로, 컨설팅으로, 학원으로 이어졌어요. 시작은 8천원이었어요.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근데 그때도 한 권 쓰는 데 [기간] 걸렸어요. [가장 힘들었던 작업]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그러다 AI로 처음 써봤어요. 솔직히 충격이었어요. [그 순간 장면]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근데 그냥 맡기면 AI 티가 나요. 회로가 어떻고, 다양한 방법이 어떻고. 사람이 쓴 것 같지 않아요. 그래서 제가 쓰는 방법이 따로 있어요.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그때는 1,100만원 쓰고 망했어요. 지금은 한 권에 만원도 안 들어요. 제가 망했던 두 가지, 권위랑 마케팅. 이걸 해결해 드리는 게 오늘 강의예요.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이게 저만 되는 건지 궁금했어요. 그래서 수강생 세 명한테 먼저 시켜봤어요. 결과는 이따 보여드릴게요.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10. 그래서 만들었어요 · 프로그램 공개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순서를 지켜야 해요. 이걸 매번 손으로 하기 힘들어서 프로그램으로 만들었어요.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 글쓰기·목차 구조를 그대로 넣어서 [회사명]이랑 같이 프로그램으로 만들었어요.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(시연) 주제를 직접 넣거나 추천받아요.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(시연) 국내외 자료를 찾고 원문까지 확인해요. 30~40분 걸려요. 그동안 다른 일 하시면 돼요.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(시연) 분량이랑 목차가 나와요.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(시연) 같은 문장을 문체별로 보고 내 스타일을 골라요. AI 티 안 나게 하는 핵심이에요.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(시연) 본문은 뒤에서 알아서 써요.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(시연) 표지 3개 중에 고르면 돼요.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(시연) 판매 페이지까지 만들어줘요. 3~4분이요.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(시연) 이게 프로그램으로 만든 완성본이에요. 64쪽짜리.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이걸 만드는 데 들어가는 비용이 한 권에 만원도 안 돼요. 제가 1,100만원 썼던 거 생각하면… (비용 문구는 과금안 확정 후)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11. 이제 여러분 차례예요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지금 링크 열어드릴게요. 오늘 라이브 중에만 열리는 체험이에요. PC가 편해요.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제목, 목차, 첫 페이지까지만. 다 만들려고 하지 마세요.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(회사 프로그램 실제 순서로 채우기) 제 화면 보면서 같이 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막히면 채팅에 남겨주세요. 스태프분들이 바로 답해드려요.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 만드신 분은 여기로 제출하세요. 마감은 [시각]이에요.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벌써 제출하신 분들 있어요. 방금 처음 만든 거예요. 이게 오늘 여러분이 해낸 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10분 쉬었다 갈게요. 제출 못 하신 분은 이때 하세요. 다음 시간이 진짜 중요해요. 어떻게 파느냐.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12. 만들었으면 팔아야죠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만드는 건 알겠어요. 근데 진짜 중요한 건 이거예요.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솔직히 말할게요. 제 수강생 중에도 결과 못 낸 분들 있어요. 다 여기서 멈췄어요.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네 가지예요. 실행 안 하고, 광고비 아끼고, 페이지 대충 만들고, 주제가 약했어요. 그래서 이번 강의는 이 네 개를 다 막아요.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인스타·페이스북에 광고가 뜨고, 누르면 판매 페이지, 결제하면 파일이 자동으로 가요.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판매는 크래킷이라는 플랫폼에서 해요. 페이지, 결제, 파일 전달이 한 번에 돼요. 수수료도 낮아요.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이게 제가 실제로 돌린 광고예요. (소재 보여주기)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광고는 [타깃]을 노렸어요. 그 사람이 스크롤을 멈추는 문장이 이거였어요.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성과는 이래요. [광고비] 써서 [매출]. 숫자 그대로 보여드릴게요.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하루 [○]건만 팔려도 한 달이면 이만큼이에요. 광고비는 하루 2만원대. (실제 수치로 계산해서 채우기)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광고를 누르면 이 페이지가 떠요. 이 페이지가 사는지 안 사는지를 정해요.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판매 페이지는 이 순서예요. 이것도 프로그램이 초안을 만들어줘요.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결제되면 파일이 자동으로 나가요. 제가 자고 있어도요.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만드는 건 프로그램이 하고, 광고는 [확정된 지원 방식]. 이 문장이 확정되면 여기 크게 넣어요: '만드는 건 프로그램이, 광고는 저희가 해드려요.'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13. 저만 되는 거 아니에요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이렇게 생각하실 수 있어요. 그래서 수강생 사례 보여드릴게요. 처음에 세 명한테 먼저 시켜봤다고 했죠.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분은 [본업]이었어요. 시작할 때 [상황].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주제는 [주제]였고, 이렇게 했어요.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3개월 만에 2천만원 넘게 팔았어요. 본인 후기 그대로 읽어드릴게요.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번째는 성준 님이에요. [상황]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[주제]로 만들었어요.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2개월 반 만에 900만원이에요.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번째는 서울대 다니는 학생이에요. 본업이 학생이에요.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3주 만에 100만원 넘게 벌었어요. 학생이 용돈 벌이로요.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(실제 수강생 본인 인터뷰만 사용)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특별한 재능이 아니에요. 이 세 개를 했어요.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14. 오늘 한 것 정리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배운 걸 한 화면으로 정리하면 이거예요.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여러분은 이 중에 앞부분을 오늘 이미 해봤어요.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남은 건 이거예요. 혼자 하면 여기서 다들 멈춰요. 아까 결과 못 낸 네 가지 이유, 기억나시죠.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15. 오늘 쓴 프로그램, 계속 쓰려면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권 팔리기 시작하면 두 번째 책이 쉬워져요. 아까 말한 변형 무한대요.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쓴 체험은 라이브 중에만 열려요. [종료 시점]에 닫혀요.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정식 프로그램은 수강생분들만 쓰실 수 있어요. [크레딧 조건]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이번 강의는 영상만 던져주고 끝나는 강의가 아니에요. 4주 안에 여러분 전자책 한 권을 실제로 등록하고, 광고까지 돌려보는 걸 같이 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아까 그 네 가지 이유, 이렇게 막아요. (지원 내용은 회사와 확정)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(확정 시) 2주차에 등록하자마자 팔리는 경험을 하게 해드려요. 첫 판매를 해봐야 계속해요.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16. 커리큘럼 · 혜택 · 가격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4주 커리큘럼이에요. 목표는 하나예요. 4주 안에 여러분 전자책 한 권이 판매 페이지에 올라가고 광고가 돌아가는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1주차는 마인드셋이랑 주제예요. 여기서 방향이 잘못 잡히면 끝까지 꼬여요.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2주차엔 실제로 한 권을 만들어요.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3주차엔 올리고 광고를 켜요.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4주차엔 성과를 보고, 다음 책으로 넘어가요. 한 권으로 끝나는 게 아니라 계속 돌아가는 구조를 만들어요.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[일정 안내]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(회사와 확정) 혜택은 이렇게 드려요.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자, 강의료 공개할게요.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온라인반 219만원, 오프라인반 249만원이에요. (크래킷은 할부가 안 돼요. 결제 조건은 회사와 확정 후 안내)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비싸다고 느끼실 수 있어요. 저는 책 한 권에 1,100만원 쓰고 망했어요. 이번엔 만드는 것부터 파는 것까지 한 번에 가요.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신청은 여기서 하시면 돼요. QR 띄워둘게요.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17. 오늘의 100만원 발표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처음에 약속드린 100만원. 지금 발표할게요.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분 작품이에요. (화면 보며 읽기)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뽑은 이유는 세 가지예요. (구체적으로 피드백)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축하드려요! 지급은 [방법]으로 안내드릴게요.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끝까지 계신 분들께 드리는 선물이에요. 제가 쓰는 전자책 글쓰기 프롬프트예요. AI 티 안 나게 쓰는 방법이 들어 있어요.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당첨 안 되신 분들도 손에 남은 게 있어요. 내 고객, 내 주제, 내 목차. 이걸 책으로 끝내는 건 이제 여러분 선택이에요.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(병조쌤 숙제: 라이브용 세 문장 정제된 한마디)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18. 자주 묻는 질문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네. 쓰는 건 프로그램이 해요. 여러분은 내 경험을 넣고 고르는 사람이에요. 문체도 골라서 써요.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제가 본업 하면서 했어요. 자료 조사랑 본문은 프로그램이 뒤에서 돌려요. 하루 한두 시간이면 돼요.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지금 못하는 걸 잡아서 잘하게 되는 과정을 쓰면 돼요. 단톡방 주제 모음집에서 골라도 돼요.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저는 하루 2~2.5만원으로 시작했어요. 매출의 10%가 안 돼요. 천천히 올리는 게 핵심이에요.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[수강생 실제 데이터 기준으로 답변]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[확인된 내용으로 답변 · 남의 책을 베끼지 않고 내 경험·확인한 자료로 쓰는 원칙]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[실제 수강생 연령대 사례로 답변]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[프로그램 사용 난이도 · 지원 방식으로 답변]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[환불 규정 확정 후]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마지막으로 질문 받을게요. 신청 링크는 계속 띄워둘게요.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4시간 동안 끝까지 함께해주셔서 감사합니다.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3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1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4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6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9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0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1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5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6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7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8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9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288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0040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오프닝 · 첫 100만원 발표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오프닝 · 첫 100만원 발표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AI로 </a:t>
            </a:r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전자책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만들어서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월급 하나 더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받는 법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클래스에 오신 걸 환영합니다! 채팅창에 인사 남겨주세요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오프닝 · 첫 100만원 발표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채팅창이 안 보인다면?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오른쪽 위 '앱 열기' → 유튜브 앱으로 접속해 주세요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오프닝 · 첫 100만원 발표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오늘은 </a:t>
            </a:r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4시간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짜리 라이브예요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중간에 쉬는 시간 있어요 · 물 한 잔 떠오세요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오프닝 · 첫 100만원 발표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질문표시"/>
          <p:cNvSpPr/>
          <p:nvPr/>
        </p:nvSpPr>
        <p:spPr>
          <a:xfrm>
            <a:off x="5775808" y="960120"/>
            <a:ext cx="640080" cy="64008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775808" y="960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 </a:t>
            </a:r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어디서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보고 오셨어요?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유튜브 · 2 인스타 · 3 단톡방 · 4 지인 추천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오프닝 · 첫 100만원 발표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질문표시"/>
          <p:cNvSpPr/>
          <p:nvPr/>
        </p:nvSpPr>
        <p:spPr>
          <a:xfrm>
            <a:off x="5775808" y="960120"/>
            <a:ext cx="640080" cy="64008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775808" y="960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</a:t>
            </a:r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본업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있으신 분?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있다 1 · 없다 2 · 부업 해본 적 있다 3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오프닝 · 첫 100만원 발표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질문표시"/>
          <p:cNvSpPr/>
          <p:nvPr/>
        </p:nvSpPr>
        <p:spPr>
          <a:xfrm>
            <a:off x="5775808" y="960120"/>
            <a:ext cx="640080" cy="64008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775808" y="960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전자책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사보신 적 있으세요?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있다 1 · 없다 2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오프닝 · 첫 100만원 발표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9456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여러분이 남겨주신 </a:t>
            </a:r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강의를 준비했어요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오프닝 · 첫 100만원 발표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많았던 질문 </a:t>
            </a:r>
            <a:pPr algn="ctr" indent="0" marL="0">
              <a:buNone/>
            </a:pPr>
            <a:r>
              <a:rPr lang="en-US" sz="3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개</a:t>
            </a:r>
            <a:endParaRPr lang="en-US" sz="3400" dirty="0"/>
          </a:p>
        </p:txBody>
      </p:sp>
      <p:sp>
        <p:nvSpPr>
          <p:cNvPr id="3" name="왼쪽"/>
          <p:cNvSpPr/>
          <p:nvPr/>
        </p:nvSpPr>
        <p:spPr>
          <a:xfrm>
            <a:off x="914400" y="1737360"/>
            <a:ext cx="4952848" cy="4206240"/>
          </a:xfrm>
          <a:prstGeom prst="roundRect">
            <a:avLst>
              <a:gd name="adj" fmla="val 3261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88720" y="201168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"어떻게 만들어요?"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2834640"/>
            <a:ext cx="422132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글을 못 쓰는데 책을 만들 수 있나</a:t>
            </a:r>
            <a:endParaRPr lang="en-US" sz="2000" dirty="0"/>
          </a:p>
        </p:txBody>
      </p:sp>
      <p:sp>
        <p:nvSpPr>
          <p:cNvPr id="6" name="오른쪽"/>
          <p:cNvSpPr/>
          <p:nvPr/>
        </p:nvSpPr>
        <p:spPr>
          <a:xfrm>
            <a:off x="6324448" y="1737360"/>
            <a:ext cx="4952848" cy="4206240"/>
          </a:xfrm>
          <a:prstGeom prst="roundRect">
            <a:avLst>
              <a:gd name="adj" fmla="val 3261"/>
            </a:avLst>
          </a:prstGeom>
          <a:solidFill>
            <a:srgbClr val="FDECEB"/>
          </a:solidFill>
          <a:ln w="12700">
            <a:solidFill>
              <a:srgbClr val="F4B9B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98768" y="201168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"어떻게 팔아요?"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6690208" y="2834640"/>
            <a:ext cx="422132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만들어도 아무도 안 사면 어떡하나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오프닝 · 첫 100만원 발표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단톡방에서 약속드렸던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100만원 이벤트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바로 발표합니다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오프닝 · 첫 100만원 발표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9456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번째 </a:t>
            </a:r>
            <a:pPr algn="ctr" indent="0" marL="0">
              <a:buNone/>
            </a:pPr>
            <a:r>
              <a:rPr lang="en-US" sz="60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100만원</a:t>
            </a:r>
            <a:endParaRPr lang="en-US" sz="6000" dirty="0"/>
          </a:p>
          <a:p>
            <a:pPr algn="ctr" indent="0" marL="0">
              <a:buNone/>
            </a:pPr>
            <a:r>
              <a:rPr lang="en-US" sz="6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당첨자는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오프닝 · 첫 100만원 발표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축하합니다!</a:t>
            </a:r>
            <a:endParaRPr lang="en-US" sz="3200" dirty="0"/>
          </a:p>
        </p:txBody>
      </p:sp>
      <p:sp>
        <p:nvSpPr>
          <p:cNvPr id="3" name="자료자리"/>
          <p:cNvSpPr/>
          <p:nvPr/>
        </p:nvSpPr>
        <p:spPr>
          <a:xfrm>
            <a:off x="1463040" y="1600200"/>
            <a:ext cx="9265615" cy="4480560"/>
          </a:xfrm>
          <a:prstGeom prst="rect">
            <a:avLst/>
          </a:prstGeom>
          <a:solidFill>
            <a:srgbClr val="F5F5F5"/>
          </a:solidFill>
          <a:ln w="15875">
            <a:solidFill>
              <a:srgbClr val="BBBBBB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1737360" y="1600200"/>
            <a:ext cx="8716975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넣을 자리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[당첨자 닉네임 · 당첨 사유 · 지급 방법]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오프닝 · 첫 100만원 발표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단톡방 입장 선물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전자책 주제 모음집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받으셨죠?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[카테고리별 주제 50개+ PDF]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오프닝 · 첫 100만원 발표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288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0040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100만원 이벤트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오늘의 100만원 이벤트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9456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끝까지 계신 분 중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1명에게 100만원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오늘의 100만원 이벤트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여러분이 </a:t>
            </a:r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</a:t>
            </a:r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만들 것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37160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주제 · 제목 · 목차 · 첫 페이지</a:t>
            </a:r>
            <a:endParaRPr lang="en-US" sz="1800" dirty="0"/>
          </a:p>
        </p:txBody>
      </p:sp>
      <p:sp>
        <p:nvSpPr>
          <p:cNvPr id="4" name="자료자리"/>
          <p:cNvSpPr/>
          <p:nvPr/>
        </p:nvSpPr>
        <p:spPr>
          <a:xfrm>
            <a:off x="1463040" y="1965960"/>
            <a:ext cx="9265615" cy="4114800"/>
          </a:xfrm>
          <a:prstGeom prst="rect">
            <a:avLst/>
          </a:prstGeom>
          <a:solidFill>
            <a:srgbClr val="F5F5F5"/>
          </a:solidFill>
          <a:ln w="15875">
            <a:solidFill>
              <a:srgbClr val="BBBBBB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1737360" y="1965960"/>
            <a:ext cx="871697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넣을 자리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[실습 결과물 예시 화면 · 회사 프로그램]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오늘의 100만원 이벤트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 방법</a:t>
            </a:r>
            <a:endParaRPr lang="en-US" sz="3200" dirty="0"/>
          </a:p>
        </p:txBody>
      </p:sp>
      <p:sp>
        <p:nvSpPr>
          <p:cNvPr id="3" name="항목1"/>
          <p:cNvSpPr/>
          <p:nvPr/>
        </p:nvSpPr>
        <p:spPr>
          <a:xfrm>
            <a:off x="1828800" y="1600200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57400" y="1783080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05740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2788920" y="1600200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 중간에 체험 링크를 열어드려요</a:t>
            </a:r>
            <a:endParaRPr lang="en-US" sz="2200" dirty="0"/>
          </a:p>
        </p:txBody>
      </p:sp>
      <p:sp>
        <p:nvSpPr>
          <p:cNvPr id="7" name="항목2"/>
          <p:cNvSpPr/>
          <p:nvPr/>
        </p:nvSpPr>
        <p:spPr>
          <a:xfrm>
            <a:off x="1828800" y="2633472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57400" y="2816352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57400" y="2816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2633472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배운 순서대로 내 전자책을 만들어요</a:t>
            </a:r>
            <a:endParaRPr lang="en-US" sz="2200" dirty="0"/>
          </a:p>
        </p:txBody>
      </p:sp>
      <p:sp>
        <p:nvSpPr>
          <p:cNvPr id="11" name="항목3"/>
          <p:cNvSpPr/>
          <p:nvPr/>
        </p:nvSpPr>
        <p:spPr>
          <a:xfrm>
            <a:off x="1828800" y="3666744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57400" y="3849624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057400" y="38496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788920" y="3666744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[제출처]에 [마감 시각]까지 제출하면 끝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오늘의 100만원 이벤트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이런 결과물을 </a:t>
            </a:r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뽑아요</a:t>
            </a:r>
            <a:endParaRPr lang="en-US" sz="3200" dirty="0"/>
          </a:p>
        </p:txBody>
      </p:sp>
      <p:sp>
        <p:nvSpPr>
          <p:cNvPr id="3" name="항목1"/>
          <p:cNvSpPr/>
          <p:nvPr/>
        </p:nvSpPr>
        <p:spPr>
          <a:xfrm>
            <a:off x="1828800" y="1600200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57400" y="1783080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05740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2788920" y="1600200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고객이 누구인지 선명한가</a:t>
            </a:r>
            <a:endParaRPr lang="en-US" sz="2200" dirty="0"/>
          </a:p>
        </p:txBody>
      </p:sp>
      <p:sp>
        <p:nvSpPr>
          <p:cNvPr id="7" name="항목2"/>
          <p:cNvSpPr/>
          <p:nvPr/>
        </p:nvSpPr>
        <p:spPr>
          <a:xfrm>
            <a:off x="1828800" y="2633472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57400" y="2816352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57400" y="2816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2633472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고객의 문제를 정확히 짚었나</a:t>
            </a:r>
            <a:endParaRPr lang="en-US" sz="2200" dirty="0"/>
          </a:p>
        </p:txBody>
      </p:sp>
      <p:sp>
        <p:nvSpPr>
          <p:cNvPr id="11" name="항목3"/>
          <p:cNvSpPr/>
          <p:nvPr/>
        </p:nvSpPr>
        <p:spPr>
          <a:xfrm>
            <a:off x="1828800" y="3666744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57400" y="3849624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057400" y="38496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788920" y="3666744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배운 순서대로 만들었나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오늘의 100만원 이벤트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</a:t>
            </a:r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끝까지</a:t>
            </a:r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계신 분께만</a:t>
            </a:r>
            <a:endParaRPr lang="en-US" sz="3200" dirty="0"/>
          </a:p>
        </p:txBody>
      </p:sp>
      <p:sp>
        <p:nvSpPr>
          <p:cNvPr id="3" name="항목1"/>
          <p:cNvSpPr/>
          <p:nvPr/>
        </p:nvSpPr>
        <p:spPr>
          <a:xfrm>
            <a:off x="1828800" y="1600200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57400" y="1783080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05740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2788920" y="1600200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100만원 이벤트 발표</a:t>
            </a:r>
            <a:endParaRPr lang="en-US" sz="2200" dirty="0"/>
          </a:p>
        </p:txBody>
      </p:sp>
      <p:sp>
        <p:nvSpPr>
          <p:cNvPr id="7" name="항목2"/>
          <p:cNvSpPr/>
          <p:nvPr/>
        </p:nvSpPr>
        <p:spPr>
          <a:xfrm>
            <a:off x="1828800" y="2633472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57400" y="2816352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57400" y="2816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2633472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[라이브 선물: 전자책 글 쓰는 프롬프트]</a:t>
            </a:r>
            <a:endParaRPr lang="en-US" sz="2200" dirty="0"/>
          </a:p>
        </p:txBody>
      </p:sp>
      <p:sp>
        <p:nvSpPr>
          <p:cNvPr id="11" name="항목3"/>
          <p:cNvSpPr/>
          <p:nvPr/>
        </p:nvSpPr>
        <p:spPr>
          <a:xfrm>
            <a:off x="1828800" y="3666744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57400" y="3849624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057400" y="38496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788920" y="3666744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[라이브 한정 수강 혜택]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오늘의 100만원 이벤트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</a:t>
            </a:r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</a:t>
            </a:r>
            <a:endParaRPr lang="en-US" sz="3200" dirty="0"/>
          </a:p>
        </p:txBody>
      </p:sp>
      <p:sp>
        <p:nvSpPr>
          <p:cNvPr id="3" name="항목1"/>
          <p:cNvSpPr/>
          <p:nvPr/>
        </p:nvSpPr>
        <p:spPr>
          <a:xfrm>
            <a:off x="1828800" y="1600200"/>
            <a:ext cx="8534095" cy="60960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57400" y="1653540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057400" y="16535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2788920" y="1600200"/>
            <a:ext cx="73453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부업을 골라야 하나</a:t>
            </a:r>
            <a:endParaRPr lang="en-US" sz="2200" dirty="0"/>
          </a:p>
        </p:txBody>
      </p:sp>
      <p:sp>
        <p:nvSpPr>
          <p:cNvPr id="7" name="항목2"/>
          <p:cNvSpPr/>
          <p:nvPr/>
        </p:nvSpPr>
        <p:spPr>
          <a:xfrm>
            <a:off x="1828800" y="2374392"/>
            <a:ext cx="8534095" cy="60960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57400" y="2427732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57400" y="24277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2374392"/>
            <a:ext cx="73453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전자책인가 · 실제 매출 공개</a:t>
            </a:r>
            <a:endParaRPr lang="en-US" sz="2200" dirty="0"/>
          </a:p>
        </p:txBody>
      </p:sp>
      <p:sp>
        <p:nvSpPr>
          <p:cNvPr id="11" name="항목3"/>
          <p:cNvSpPr/>
          <p:nvPr/>
        </p:nvSpPr>
        <p:spPr>
          <a:xfrm>
            <a:off x="1828800" y="3148584"/>
            <a:ext cx="8534095" cy="60960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57400" y="3201924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057400" y="32019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788920" y="3148584"/>
            <a:ext cx="73453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사람들이 돈 내고 사는 이유 · 팔리는 주제</a:t>
            </a:r>
            <a:endParaRPr lang="en-US" sz="2200" dirty="0"/>
          </a:p>
        </p:txBody>
      </p:sp>
      <p:sp>
        <p:nvSpPr>
          <p:cNvPr id="15" name="항목4"/>
          <p:cNvSpPr/>
          <p:nvPr/>
        </p:nvSpPr>
        <p:spPr>
          <a:xfrm>
            <a:off x="1828800" y="3922776"/>
            <a:ext cx="8534095" cy="60960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57400" y="3976116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057400" y="39761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2788920" y="3922776"/>
            <a:ext cx="73453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 이야기 · 프로그램 공개 · 직접 만들기</a:t>
            </a:r>
            <a:endParaRPr lang="en-US" sz="2200" dirty="0"/>
          </a:p>
        </p:txBody>
      </p:sp>
      <p:sp>
        <p:nvSpPr>
          <p:cNvPr id="19" name="항목5"/>
          <p:cNvSpPr/>
          <p:nvPr/>
        </p:nvSpPr>
        <p:spPr>
          <a:xfrm>
            <a:off x="1828800" y="4696968"/>
            <a:ext cx="8534095" cy="60960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57400" y="4750308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057400" y="47503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2788920" y="4696968"/>
            <a:ext cx="73453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만든 책 파는 법 · 수강생 사례</a:t>
            </a:r>
            <a:endParaRPr lang="en-US" sz="2200" dirty="0"/>
          </a:p>
        </p:txBody>
      </p:sp>
      <p:sp>
        <p:nvSpPr>
          <p:cNvPr id="23" name="항목6"/>
          <p:cNvSpPr/>
          <p:nvPr/>
        </p:nvSpPr>
        <p:spPr>
          <a:xfrm>
            <a:off x="1828800" y="5471160"/>
            <a:ext cx="8534095" cy="60960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57400" y="5524500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057400" y="55245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2788920" y="5471160"/>
            <a:ext cx="73453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커리큘럼 · 100만원 발표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오늘의 100만원 이벤트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288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0040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부수입, 다들 원하잖아요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부수입, 다들 원하잖아요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질문표시"/>
          <p:cNvSpPr/>
          <p:nvPr/>
        </p:nvSpPr>
        <p:spPr>
          <a:xfrm>
            <a:off x="5775808" y="960120"/>
            <a:ext cx="640080" cy="64008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775808" y="960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달에 </a:t>
            </a:r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얼마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더 들어오면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좋겠어요?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채팅에 금액만 적어주세요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부수입, 다들 원하잖아요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9456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"한 달에 딱 </a:t>
            </a:r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월급만큼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들어오는 거 없나?"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부수입, 다들 원하잖아요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9456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자본금 없이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시작할 수 있는 거 없나?"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부수입, 다들 원하잖아요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9456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퇴근하고 한두 시간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되는 거 없나?"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부수입, 다들 원하잖아요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질문표시"/>
          <p:cNvSpPr/>
          <p:nvPr/>
        </p:nvSpPr>
        <p:spPr>
          <a:xfrm>
            <a:off x="5775808" y="960120"/>
            <a:ext cx="640080" cy="64008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775808" y="960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돈이 생기면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제일 먼저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뭐 하실 거예요?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적금 · 대출 · 부모님 · 여행 · 퇴사 준비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부수입, 다들 원하잖아요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질문표시"/>
          <p:cNvSpPr/>
          <p:nvPr/>
        </p:nvSpPr>
        <p:spPr>
          <a:xfrm>
            <a:off x="5775808" y="960120"/>
            <a:ext cx="640080" cy="64008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775808" y="960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현실적으로 하루에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시간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쓸 수 있어요?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직장인은 퇴근 후 · 육아 중이면 아이 잘 때 · 학생은 공강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부수입, 다들 원하잖아요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부업은 </a:t>
            </a:r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네 가지</a:t>
            </a:r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고르세요</a:t>
            </a:r>
            <a:endParaRPr lang="en-US" sz="3200" dirty="0"/>
          </a:p>
        </p:txBody>
      </p:sp>
      <p:sp>
        <p:nvSpPr>
          <p:cNvPr id="3" name="항목1"/>
          <p:cNvSpPr/>
          <p:nvPr/>
        </p:nvSpPr>
        <p:spPr>
          <a:xfrm>
            <a:off x="1828800" y="1600200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57400" y="1783080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05740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2788920" y="1600200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본업이랑 같이 할 수 있나</a:t>
            </a:r>
            <a:endParaRPr lang="en-US" sz="2200" dirty="0"/>
          </a:p>
        </p:txBody>
      </p:sp>
      <p:sp>
        <p:nvSpPr>
          <p:cNvPr id="7" name="항목2"/>
          <p:cNvSpPr/>
          <p:nvPr/>
        </p:nvSpPr>
        <p:spPr>
          <a:xfrm>
            <a:off x="1828800" y="2633472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57400" y="2816352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57400" y="2816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2633472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시작하는 데 돈이 얼마나 드나</a:t>
            </a:r>
            <a:endParaRPr lang="en-US" sz="2200" dirty="0"/>
          </a:p>
        </p:txBody>
      </p:sp>
      <p:sp>
        <p:nvSpPr>
          <p:cNvPr id="11" name="항목3"/>
          <p:cNvSpPr/>
          <p:nvPr/>
        </p:nvSpPr>
        <p:spPr>
          <a:xfrm>
            <a:off x="1828800" y="3666744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57400" y="3849624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057400" y="38496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788920" y="3666744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일을 매번 다시 해야 하나</a:t>
            </a:r>
            <a:endParaRPr lang="en-US" sz="2200" dirty="0"/>
          </a:p>
        </p:txBody>
      </p:sp>
      <p:sp>
        <p:nvSpPr>
          <p:cNvPr id="15" name="항목4"/>
          <p:cNvSpPr/>
          <p:nvPr/>
        </p:nvSpPr>
        <p:spPr>
          <a:xfrm>
            <a:off x="1828800" y="4700016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57400" y="4882896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057400" y="4882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2788920" y="4700016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자는 동안에도 팔리나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부수입, 다들 원하잖아요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288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0040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부업이랑 비교해볼게요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다른 부업이랑 비교해볼게요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오프라인</a:t>
            </a:r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vs </a:t>
            </a:r>
            <a:pPr algn="ctr" indent="0" marL="0">
              <a:buNone/>
            </a:pPr>
            <a:r>
              <a:rPr lang="en-US" sz="3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온라인</a:t>
            </a:r>
            <a:endParaRPr lang="en-US" sz="3400" dirty="0"/>
          </a:p>
        </p:txBody>
      </p:sp>
      <p:sp>
        <p:nvSpPr>
          <p:cNvPr id="3" name="왼쪽"/>
          <p:cNvSpPr/>
          <p:nvPr/>
        </p:nvSpPr>
        <p:spPr>
          <a:xfrm>
            <a:off x="914400" y="1737360"/>
            <a:ext cx="4952848" cy="4206240"/>
          </a:xfrm>
          <a:prstGeom prst="roundRect">
            <a:avLst>
              <a:gd name="adj" fmla="val 3261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88720" y="201168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오프라인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2834640"/>
            <a:ext cx="422132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가게 · 매장</a:t>
            </a:r>
            <a:endParaRPr lang="en-US" sz="2000" dirty="0"/>
          </a:p>
        </p:txBody>
      </p:sp>
      <p:sp>
        <p:nvSpPr>
          <p:cNvPr id="6" name="오른쪽"/>
          <p:cNvSpPr/>
          <p:nvPr/>
        </p:nvSpPr>
        <p:spPr>
          <a:xfrm>
            <a:off x="6324448" y="1737360"/>
            <a:ext cx="4952848" cy="4206240"/>
          </a:xfrm>
          <a:prstGeom prst="roundRect">
            <a:avLst>
              <a:gd name="adj" fmla="val 3261"/>
            </a:avLst>
          </a:prstGeom>
          <a:solidFill>
            <a:srgbClr val="FDECEB"/>
          </a:solidFill>
          <a:ln w="12700">
            <a:solidFill>
              <a:srgbClr val="F4B9B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98768" y="201168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온라인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6690208" y="2834640"/>
            <a:ext cx="422132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쇼핑몰 · 외주 · 콘텐츠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다른 부업이랑 비교해볼게요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매장이 필요해요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보증금 · 인테리어 · 월세부터 </a:t>
            </a:r>
            <a:pPr algn="ctr" indent="0" marL="0">
              <a:buNone/>
            </a:pPr>
            <a:r>
              <a:rPr lang="en-US" sz="2200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수천만 원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다른 부업이랑 비교해볼게요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매장에 </a:t>
            </a:r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계속 있어야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해요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본업이랑 같이 못 해요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다른 부업이랑 비교해볼게요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손님이 </a:t>
            </a:r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동네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정해져요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벌 수 있는 돈에 천장이 있어요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다른 부업이랑 비교해볼게요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그럼 </a:t>
            </a:r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온라인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은요?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스마트스토어 · 쿠팡 · 구매대행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다른 부업이랑 비교해볼게요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물건을 </a:t>
            </a:r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사야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해요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재고가 집에 쌓여요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다른 부업이랑 비교해볼게요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포장하고 </a:t>
            </a:r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배송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해요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반품 · 교환 · CS까지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다른 부업이랑 비교해볼게요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정산이 늦어서 </a:t>
            </a:r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돈이 묶여요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매출은 나는데 통장에 돈이 없어요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다른 부업이랑 비교해볼게요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시간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파는 부업은요?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 외주 · 대행 · 과외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다른 부업이랑 비교해볼게요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 비교하면</a:t>
            </a:r>
            <a:endParaRPr lang="en-US" sz="32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00200"/>
          <a:ext cx="10728655" cy="914400"/>
        </p:xfrm>
        <a:graphic>
          <a:graphicData uri="http://schemas.openxmlformats.org/drawingml/2006/table">
            <a:tbl>
              <a:tblPr/>
              <a:tblGrid>
                <a:gridCol w="2145731"/>
                <a:gridCol w="2145731"/>
                <a:gridCol w="2145731"/>
                <a:gridCol w="2145731"/>
                <a:gridCol w="2145731"/>
              </a:tblGrid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시작 비용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본업 병행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반복 작업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자는 동안 판매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매장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수천만 원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어려움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매일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물건 판매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수백만 원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주문마다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외주·대행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적음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주문마다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E0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?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E0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거의 0원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E0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E0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번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E0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다른 부업이랑 비교해볼게요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질문표시"/>
          <p:cNvSpPr/>
          <p:nvPr/>
        </p:nvSpPr>
        <p:spPr>
          <a:xfrm>
            <a:off x="5775808" y="1325880"/>
            <a:ext cx="640080" cy="64008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775808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9456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재고도 없고 배송도 없고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 만들면 계속 팔리는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건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없을까요?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다른 부업이랑 비교해볼게요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288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0040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그게 바로 전자책이에요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그게 바로 전자책이에요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전자책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PDF로 만든 나만의 책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그게 바로 전자책이에요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팔리고 있는 </a:t>
            </a:r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 전자책</a:t>
            </a:r>
            <a:endParaRPr lang="en-US" sz="3200" dirty="0"/>
          </a:p>
        </p:txBody>
      </p:sp>
      <p:sp>
        <p:nvSpPr>
          <p:cNvPr id="3" name="자료자리"/>
          <p:cNvSpPr/>
          <p:nvPr/>
        </p:nvSpPr>
        <p:spPr>
          <a:xfrm>
            <a:off x="1463040" y="1600200"/>
            <a:ext cx="9265615" cy="4480560"/>
          </a:xfrm>
          <a:prstGeom prst="rect">
            <a:avLst/>
          </a:prstGeom>
          <a:solidFill>
            <a:srgbClr val="F5F5F5"/>
          </a:solidFill>
          <a:ln w="15875">
            <a:solidFill>
              <a:srgbClr val="BBBBBB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1737360" y="1600200"/>
            <a:ext cx="8716975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넣을 자리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[크래킷에서 판매 중인 전자책 표지 · 내지 화면]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그게 바로 전자책이에요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사는 사람은 </a:t>
            </a:r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받아요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→ PDF 바로 전달 → 휴대폰·PC로 읽기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그게 바로 전자책이에요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전자책이 </a:t>
            </a:r>
            <a:pPr algn="ctr" indent="0" marL="0">
              <a:buNone/>
            </a:pPr>
            <a:r>
              <a:rPr lang="en-US" sz="3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돈이 되는</a:t>
            </a:r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구조</a:t>
            </a:r>
            <a:endParaRPr lang="en-US" sz="3400" dirty="0"/>
          </a:p>
        </p:txBody>
      </p:sp>
      <p:sp>
        <p:nvSpPr>
          <p:cNvPr id="3" name="단계1"/>
          <p:cNvSpPr/>
          <p:nvPr/>
        </p:nvSpPr>
        <p:spPr>
          <a:xfrm>
            <a:off x="723748" y="2743200"/>
            <a:ext cx="2377440" cy="1463040"/>
          </a:xfrm>
          <a:prstGeom prst="roundRect">
            <a:avLst>
              <a:gd name="adj" fmla="val 9375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15188" y="27432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 만든다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3101188" y="2743200"/>
            <a:ext cx="411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6" name="단계2"/>
          <p:cNvSpPr/>
          <p:nvPr/>
        </p:nvSpPr>
        <p:spPr>
          <a:xfrm>
            <a:off x="3512668" y="2743200"/>
            <a:ext cx="2377440" cy="1463040"/>
          </a:xfrm>
          <a:prstGeom prst="roundRect">
            <a:avLst>
              <a:gd name="adj" fmla="val 9375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04108" y="27432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 페이지에 올린다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890108" y="2743200"/>
            <a:ext cx="411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단계3"/>
          <p:cNvSpPr/>
          <p:nvPr/>
        </p:nvSpPr>
        <p:spPr>
          <a:xfrm>
            <a:off x="6301588" y="2743200"/>
            <a:ext cx="2377440" cy="1463040"/>
          </a:xfrm>
          <a:prstGeom prst="roundRect">
            <a:avLst>
              <a:gd name="adj" fmla="val 9375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93028" y="27432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광고로 보여준다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679028" y="2743200"/>
            <a:ext cx="411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단계4"/>
          <p:cNvSpPr/>
          <p:nvPr/>
        </p:nvSpPr>
        <p:spPr>
          <a:xfrm>
            <a:off x="9090508" y="2743200"/>
            <a:ext cx="2377440" cy="1463040"/>
          </a:xfrm>
          <a:prstGeom prst="roundRect">
            <a:avLst>
              <a:gd name="adj" fmla="val 9375"/>
            </a:avLst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81948" y="27432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결제되면 자동 전달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그게 바로 전자책이에요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분량은 </a:t>
            </a:r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50~60쪽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이면 충분해요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두꺼운 책이 아니라 문제 하나를 푸는 책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그게 바로 전자책이에요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아까 그 기준에 넣어보면</a:t>
            </a:r>
            <a:endParaRPr lang="en-US" sz="32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00200"/>
          <a:ext cx="10728655" cy="914400"/>
        </p:xfrm>
        <a:graphic>
          <a:graphicData uri="http://schemas.openxmlformats.org/drawingml/2006/table">
            <a:tbl>
              <a:tblPr/>
              <a:tblGrid>
                <a:gridCol w="4291462"/>
                <a:gridCol w="6437193"/>
              </a:tblGrid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전자책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시작 비용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거의 0원 · 한 권 만드는 데 만원도 안 들어요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본업 병행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퇴근 후 1~2시간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반복 작업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번 만들면 끝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자는 동안 판매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그게 바로 전자책이에요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288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0040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팔리냐고요? 보여드릴게요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진짜 팔리냐고요? 보여드릴게요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계속 보여드릴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전자책 한 권</a:t>
            </a:r>
            <a:endParaRPr lang="en-US" sz="3200" dirty="0"/>
          </a:p>
        </p:txBody>
      </p:sp>
      <p:sp>
        <p:nvSpPr>
          <p:cNvPr id="3" name="자료자리"/>
          <p:cNvSpPr/>
          <p:nvPr/>
        </p:nvSpPr>
        <p:spPr>
          <a:xfrm>
            <a:off x="1463040" y="1600200"/>
            <a:ext cx="9265615" cy="4480560"/>
          </a:xfrm>
          <a:prstGeom prst="rect">
            <a:avLst/>
          </a:prstGeom>
          <a:solidFill>
            <a:srgbClr val="F5F5F5"/>
          </a:solidFill>
          <a:ln w="15875">
            <a:solidFill>
              <a:srgbClr val="BBBBBB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1737360" y="1600200"/>
            <a:ext cx="8716975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넣을 자리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[대표 전자책 1권 · 표지 · 목차 · 본문 일부]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49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진짜 팔리냐고요? 보여드릴게요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질문표시"/>
          <p:cNvSpPr/>
          <p:nvPr/>
        </p:nvSpPr>
        <p:spPr>
          <a:xfrm>
            <a:off x="5775808" y="960120"/>
            <a:ext cx="640080" cy="64008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775808" y="960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전자책,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얼마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일까요?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채팅에 가격 맞혀보세요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진짜 팔리냐고요? 보여드릴게요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2만 9천원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[실제 판매 페이지 화면]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진짜 팔리냐고요? 보여드릴게요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사는 분의 </a:t>
            </a:r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70%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이것도 같이 사요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워크북형 추가 상품 [가격]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진짜 팔리냐고요? 보여드릴게요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건에 </a:t>
            </a:r>
            <a:pPr algn="ctr" indent="0" marL="0">
              <a:buNone/>
            </a:pPr>
            <a:r>
              <a:rPr lang="en-US" sz="60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5만원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본상품 + 워크북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진짜 팔리냐고요? 보여드릴게요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크래킷에서만 </a:t>
            </a:r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1,600만원</a:t>
            </a:r>
            <a:endParaRPr lang="en-US" sz="3200" dirty="0"/>
          </a:p>
        </p:txBody>
      </p:sp>
      <p:sp>
        <p:nvSpPr>
          <p:cNvPr id="3" name="자료자리"/>
          <p:cNvSpPr/>
          <p:nvPr/>
        </p:nvSpPr>
        <p:spPr>
          <a:xfrm>
            <a:off x="1463040" y="1600200"/>
            <a:ext cx="9265615" cy="4480560"/>
          </a:xfrm>
          <a:prstGeom prst="rect">
            <a:avLst/>
          </a:prstGeom>
          <a:solidFill>
            <a:srgbClr val="F5F5F5"/>
          </a:solidFill>
          <a:ln w="15875">
            <a:solidFill>
              <a:srgbClr val="BBBBBB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1737360" y="1600200"/>
            <a:ext cx="8716975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넣을 자리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[크래킷 판매 내역 캡처 · 집계 기간 · 건수]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진짜 팔리냐고요? 보여드릴게요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광고비는 하루 </a:t>
            </a:r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2~2.5만원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매출의 10%도 안 돼요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진짜 팔리냐고요? 보여드릴게요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광고비 </a:t>
            </a:r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급하게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올렸더니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오히려 덜 팔렸어요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4만원으로 올렸다가 판매 하락 → 증액은 천천히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진짜 팔리냐고요? 보여드릴게요</a:t>
            </a:r>
            <a:endParaRPr lang="en-US" sz="1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[월 </a:t>
            </a:r>
            <a:pPr algn="ctr" indent="0" marL="0">
              <a:buNone/>
            </a:pPr>
            <a:r>
              <a:rPr lang="en-US" sz="60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1,000만원</a:t>
            </a:r>
            <a:pPr algn="ctr" indent="0" marL="0">
              <a:buNone/>
            </a:pPr>
            <a:r>
              <a:rPr lang="en-US" sz="6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달성]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[일 매출 33만원 · 광고비 하루 약 10만원] (라이브 전 달성 시 공개)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진짜 팔리냐고요? 보여드릴게요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 이거 </a:t>
            </a:r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본업 하면서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했어요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[당시 본업 · 하루 작업 시간 · 운영 방식]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진짜 팔리냐고요? 보여드릴게요</a:t>
            </a:r>
            <a:endParaRPr lang="en-US" sz="1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질문표시"/>
          <p:cNvSpPr/>
          <p:nvPr/>
        </p:nvSpPr>
        <p:spPr>
          <a:xfrm>
            <a:off x="5775808" y="1325880"/>
            <a:ext cx="640080" cy="64008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775808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9456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근데 이걸 알려드릴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저는 </a:t>
            </a:r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일까요?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59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진짜 팔리냐고요? 보여드릴게요</a:t>
            </a:r>
            <a:endParaRPr lang="en-US" sz="1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안녕하세요, </a:t>
            </a:r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[활동명]</a:t>
            </a:r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3200" dirty="0"/>
          </a:p>
        </p:txBody>
      </p:sp>
      <p:sp>
        <p:nvSpPr>
          <p:cNvPr id="3" name="자료자리"/>
          <p:cNvSpPr/>
          <p:nvPr/>
        </p:nvSpPr>
        <p:spPr>
          <a:xfrm>
            <a:off x="1463040" y="1600200"/>
            <a:ext cx="9265615" cy="4480560"/>
          </a:xfrm>
          <a:prstGeom prst="rect">
            <a:avLst/>
          </a:prstGeom>
          <a:solidFill>
            <a:srgbClr val="F5F5F5"/>
          </a:solidFill>
          <a:ln w="15875">
            <a:solidFill>
              <a:srgbClr val="BBBBBB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1737360" y="1600200"/>
            <a:ext cx="8716975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넣을 자리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[프로필 사진 · 교육 17년차 · 5,000명+ 코칭 · 출판 작가 · 유튜브]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진짜 팔리냐고요? 보여드릴게요</a:t>
            </a:r>
            <a:endParaRPr lang="en-US" sz="1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288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0040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사람들은 왜 돈 내고 살까요?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사람들은 왜 돈 내고 살까요?</a:t>
            </a:r>
            <a:endParaRPr lang="en-US" sz="1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질문표시"/>
          <p:cNvSpPr/>
          <p:nvPr/>
        </p:nvSpPr>
        <p:spPr>
          <a:xfrm>
            <a:off x="5775808" y="1325880"/>
            <a:ext cx="640080" cy="64008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775808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9456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인터넷에 다 있는데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</a:t>
            </a:r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돈 내고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살까요?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사람들은 왜 돈 내고 살까요?</a:t>
            </a:r>
            <a:endParaRPr lang="en-US" sz="1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9456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사람은 </a:t>
            </a:r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권위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때문에 사는 게 아니라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필요해졌을 때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사요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사람들은 왜 돈 내고 살까요?</a:t>
            </a:r>
            <a:endParaRPr lang="en-US" sz="10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육아 고민이 생기면 누구한테 물어볼까요?</a:t>
            </a:r>
            <a:endParaRPr lang="en-US" sz="3400" dirty="0"/>
          </a:p>
        </p:txBody>
      </p:sp>
      <p:sp>
        <p:nvSpPr>
          <p:cNvPr id="3" name="왼쪽"/>
          <p:cNvSpPr/>
          <p:nvPr/>
        </p:nvSpPr>
        <p:spPr>
          <a:xfrm>
            <a:off x="914400" y="1737360"/>
            <a:ext cx="4952848" cy="4206240"/>
          </a:xfrm>
          <a:prstGeom prst="roundRect">
            <a:avLst>
              <a:gd name="adj" fmla="val 3261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88720" y="201168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오은영 박사님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2834640"/>
            <a:ext cx="422132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유명하고 전문적이지만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상황이랑은 멀어요</a:t>
            </a:r>
            <a:endParaRPr lang="en-US" sz="2000" dirty="0"/>
          </a:p>
        </p:txBody>
      </p:sp>
      <p:sp>
        <p:nvSpPr>
          <p:cNvPr id="6" name="오른쪽"/>
          <p:cNvSpPr/>
          <p:nvPr/>
        </p:nvSpPr>
        <p:spPr>
          <a:xfrm>
            <a:off x="6324448" y="1737360"/>
            <a:ext cx="4952848" cy="4206240"/>
          </a:xfrm>
          <a:prstGeom prst="roundRect">
            <a:avLst>
              <a:gd name="adj" fmla="val 3261"/>
            </a:avLst>
          </a:prstGeom>
          <a:solidFill>
            <a:srgbClr val="FDECEB"/>
          </a:solidFill>
          <a:ln w="12700">
            <a:solidFill>
              <a:srgbClr val="F4B9B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98768" y="201168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7살 아이 키우는 옆집 엄마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6690208" y="2834640"/>
            <a:ext cx="422132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유명하진 않지만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내 문제를 먼저 겪었어요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사람들은 왜 돈 내고 살까요?</a:t>
            </a:r>
            <a:endParaRPr lang="en-US" sz="10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9456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요즘의 권위는 </a:t>
            </a:r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유명함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아니라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나와 비슷한 평범한 사람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이에요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사람들은 왜 돈 내고 살까요?</a:t>
            </a:r>
            <a:endParaRPr lang="en-US" sz="10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잘 팔리는 주제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"아기 재우는 법"</a:t>
            </a:r>
            <a:endParaRPr lang="en-US" sz="3200" dirty="0"/>
          </a:p>
        </p:txBody>
      </p:sp>
      <p:sp>
        <p:nvSpPr>
          <p:cNvPr id="3" name="자료자리"/>
          <p:cNvSpPr/>
          <p:nvPr/>
        </p:nvSpPr>
        <p:spPr>
          <a:xfrm>
            <a:off x="1463040" y="1600200"/>
            <a:ext cx="9265615" cy="4480560"/>
          </a:xfrm>
          <a:prstGeom prst="rect">
            <a:avLst/>
          </a:prstGeom>
          <a:solidFill>
            <a:srgbClr val="F5F5F5"/>
          </a:solidFill>
          <a:ln w="15875">
            <a:solidFill>
              <a:srgbClr val="BBBBBB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1737360" y="1600200"/>
            <a:ext cx="8716975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넣을 자리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[해당 전자책 표지 · 판매 반응]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사람들은 왜 돈 내고 살까요?</a:t>
            </a:r>
            <a:endParaRPr lang="en-US" sz="10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9456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그분들은 </a:t>
            </a:r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산 게 아니에요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산 거예요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사람들은 왜 돈 내고 살까요?</a:t>
            </a:r>
            <a:endParaRPr lang="en-US" sz="10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사람들이 돈 내는 </a:t>
            </a:r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</a:t>
            </a:r>
            <a:endParaRPr lang="en-US" sz="3200" dirty="0"/>
          </a:p>
        </p:txBody>
      </p:sp>
      <p:sp>
        <p:nvSpPr>
          <p:cNvPr id="3" name="항목1"/>
          <p:cNvSpPr/>
          <p:nvPr/>
        </p:nvSpPr>
        <p:spPr>
          <a:xfrm>
            <a:off x="1828800" y="1600200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57400" y="1783080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05740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2788920" y="1600200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찾아 헤매는 시간을 줄여줘서</a:t>
            </a:r>
            <a:endParaRPr lang="en-US" sz="2200" dirty="0"/>
          </a:p>
        </p:txBody>
      </p:sp>
      <p:sp>
        <p:nvSpPr>
          <p:cNvPr id="7" name="항목2"/>
          <p:cNvSpPr/>
          <p:nvPr/>
        </p:nvSpPr>
        <p:spPr>
          <a:xfrm>
            <a:off x="1828800" y="2633472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57400" y="2816352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57400" y="2816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2633472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정리된 순서대로 따라 하면 돼서</a:t>
            </a:r>
            <a:endParaRPr lang="en-US" sz="2200" dirty="0"/>
          </a:p>
        </p:txBody>
      </p:sp>
      <p:sp>
        <p:nvSpPr>
          <p:cNvPr id="11" name="항목3"/>
          <p:cNvSpPr/>
          <p:nvPr/>
        </p:nvSpPr>
        <p:spPr>
          <a:xfrm>
            <a:off x="1828800" y="3666744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57400" y="3849624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057400" y="38496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788920" y="3666744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할 실수를 먼저 겪은 사람이 알려줘서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68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사람들은 왜 돈 내고 살까요?</a:t>
            </a:r>
            <a:endParaRPr lang="en-US" sz="10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</a:t>
            </a:r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 후기</a:t>
            </a:r>
            <a:endParaRPr lang="en-US" sz="3200" dirty="0"/>
          </a:p>
        </p:txBody>
      </p:sp>
      <p:sp>
        <p:nvSpPr>
          <p:cNvPr id="3" name="자료자리"/>
          <p:cNvSpPr/>
          <p:nvPr/>
        </p:nvSpPr>
        <p:spPr>
          <a:xfrm>
            <a:off x="1463040" y="1600200"/>
            <a:ext cx="9265615" cy="4480560"/>
          </a:xfrm>
          <a:prstGeom prst="rect">
            <a:avLst/>
          </a:prstGeom>
          <a:solidFill>
            <a:srgbClr val="F5F5F5"/>
          </a:solidFill>
          <a:ln w="15875">
            <a:solidFill>
              <a:srgbClr val="BBBBBB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1737360" y="1600200"/>
            <a:ext cx="8716975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넣을 자리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[구매 후기 · 반응 캡처 2~3개]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69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사람들은 왜 돈 내고 살까요?</a:t>
            </a:r>
            <a:endParaRPr lang="en-US" sz="10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"내가 아는 걸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</a:t>
            </a:r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돈 주고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사?"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여러분한텐 당연한 게, 누군가한텐 </a:t>
            </a:r>
            <a:pPr algn="ctr" indent="0" marL="0">
              <a:buNone/>
            </a:pPr>
            <a:r>
              <a:rPr lang="en-US" sz="2200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절실한</a:t>
            </a:r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거예요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사람들은 왜 돈 내고 살까요?</a:t>
            </a:r>
            <a:endParaRPr lang="en-US" sz="10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288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0040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팔리는 주제 찾는 법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팔리는 주제 찾는 법</a:t>
            </a:r>
            <a:endParaRPr lang="en-US" sz="10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9456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주제를 </a:t>
            </a:r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쓰고 싶은 것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시작하면 망해요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팔리는 주제 찾는 법</a:t>
            </a:r>
            <a:endParaRPr lang="en-US" sz="10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팔리는 주제의 </a:t>
            </a:r>
            <a:pPr algn="ctr" indent="0" marL="0">
              <a:buNone/>
            </a:pPr>
            <a:r>
              <a:rPr lang="en-US" sz="3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</a:t>
            </a:r>
            <a:endParaRPr lang="en-US" sz="3400" dirty="0"/>
          </a:p>
        </p:txBody>
      </p:sp>
      <p:sp>
        <p:nvSpPr>
          <p:cNvPr id="3" name="단계1"/>
          <p:cNvSpPr/>
          <p:nvPr/>
        </p:nvSpPr>
        <p:spPr>
          <a:xfrm>
            <a:off x="640080" y="2743200"/>
            <a:ext cx="1853123" cy="1463040"/>
          </a:xfrm>
          <a:prstGeom prst="roundRect">
            <a:avLst>
              <a:gd name="adj" fmla="val 9375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2743200"/>
            <a:ext cx="167024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2493203" y="2743200"/>
            <a:ext cx="411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6" name="단계2"/>
          <p:cNvSpPr/>
          <p:nvPr/>
        </p:nvSpPr>
        <p:spPr>
          <a:xfrm>
            <a:off x="2904683" y="2743200"/>
            <a:ext cx="1853123" cy="1463040"/>
          </a:xfrm>
          <a:prstGeom prst="roundRect">
            <a:avLst>
              <a:gd name="adj" fmla="val 9375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996123" y="2743200"/>
            <a:ext cx="167024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고객의 문제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757806" y="2743200"/>
            <a:ext cx="411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단계3"/>
          <p:cNvSpPr/>
          <p:nvPr/>
        </p:nvSpPr>
        <p:spPr>
          <a:xfrm>
            <a:off x="5169286" y="2743200"/>
            <a:ext cx="1853123" cy="1463040"/>
          </a:xfrm>
          <a:prstGeom prst="roundRect">
            <a:avLst>
              <a:gd name="adj" fmla="val 9375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260726" y="2743200"/>
            <a:ext cx="167024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주제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022409" y="2743200"/>
            <a:ext cx="411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단계4"/>
          <p:cNvSpPr/>
          <p:nvPr/>
        </p:nvSpPr>
        <p:spPr>
          <a:xfrm>
            <a:off x="7433889" y="2743200"/>
            <a:ext cx="1853123" cy="1463040"/>
          </a:xfrm>
          <a:prstGeom prst="roundRect">
            <a:avLst>
              <a:gd name="adj" fmla="val 9375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25329" y="2743200"/>
            <a:ext cx="167024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9287012" y="2743200"/>
            <a:ext cx="411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단계5"/>
          <p:cNvSpPr/>
          <p:nvPr/>
        </p:nvSpPr>
        <p:spPr>
          <a:xfrm>
            <a:off x="9698492" y="2743200"/>
            <a:ext cx="1853123" cy="1463040"/>
          </a:xfrm>
          <a:prstGeom prst="roundRect">
            <a:avLst>
              <a:gd name="adj" fmla="val 9375"/>
            </a:avLst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789932" y="2743200"/>
            <a:ext cx="167024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73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팔리는 주제 찾는 법</a:t>
            </a:r>
            <a:endParaRPr lang="en-US" sz="10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9456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못하는 것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잡아서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잘하게 되는 과정을 쓰면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그게 </a:t>
            </a:r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스토리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돼요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팔리는 주제 찾는 법</a:t>
            </a:r>
            <a:endParaRPr lang="en-US" sz="10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넓은 주제는 </a:t>
            </a:r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팔려요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'말 잘하는 법' · '육아' · '자존감' → 너무 넓다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팔리는 주제 찾는 법</a:t>
            </a:r>
            <a:endParaRPr lang="en-US" sz="10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주제를 쪼개는 </a:t>
            </a:r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개의 칼</a:t>
            </a:r>
            <a:endParaRPr lang="en-US" sz="3200" dirty="0"/>
          </a:p>
        </p:txBody>
      </p:sp>
      <p:sp>
        <p:nvSpPr>
          <p:cNvPr id="3" name="항목1"/>
          <p:cNvSpPr/>
          <p:nvPr/>
        </p:nvSpPr>
        <p:spPr>
          <a:xfrm>
            <a:off x="1828800" y="1600200"/>
            <a:ext cx="8534095" cy="764438"/>
          </a:xfrm>
          <a:prstGeom prst="roundRect">
            <a:avLst>
              <a:gd name="adj" fmla="val 1435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57400" y="1730959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057400" y="173095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2788920" y="1600200"/>
            <a:ext cx="7345375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(대상)</a:t>
            </a:r>
            <a:endParaRPr lang="en-US" sz="2200" dirty="0"/>
          </a:p>
        </p:txBody>
      </p:sp>
      <p:sp>
        <p:nvSpPr>
          <p:cNvPr id="7" name="항목2"/>
          <p:cNvSpPr/>
          <p:nvPr/>
        </p:nvSpPr>
        <p:spPr>
          <a:xfrm>
            <a:off x="1828800" y="2529230"/>
            <a:ext cx="8534095" cy="764438"/>
          </a:xfrm>
          <a:prstGeom prst="roundRect">
            <a:avLst>
              <a:gd name="adj" fmla="val 1435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57400" y="2659990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57400" y="265999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2529230"/>
            <a:ext cx="7345375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상황에서 (상황)</a:t>
            </a:r>
            <a:endParaRPr lang="en-US" sz="2200" dirty="0"/>
          </a:p>
        </p:txBody>
      </p:sp>
      <p:sp>
        <p:nvSpPr>
          <p:cNvPr id="11" name="항목3"/>
          <p:cNvSpPr/>
          <p:nvPr/>
        </p:nvSpPr>
        <p:spPr>
          <a:xfrm>
            <a:off x="1828800" y="3458261"/>
            <a:ext cx="8534095" cy="764438"/>
          </a:xfrm>
          <a:prstGeom prst="roundRect">
            <a:avLst>
              <a:gd name="adj" fmla="val 1435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57400" y="3589020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057400" y="35890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788920" y="3458261"/>
            <a:ext cx="7345375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뭐가 안 돼서 (결핍)</a:t>
            </a:r>
            <a:endParaRPr lang="en-US" sz="2200" dirty="0"/>
          </a:p>
        </p:txBody>
      </p:sp>
      <p:sp>
        <p:nvSpPr>
          <p:cNvPr id="15" name="항목4"/>
          <p:cNvSpPr/>
          <p:nvPr/>
        </p:nvSpPr>
        <p:spPr>
          <a:xfrm>
            <a:off x="1828800" y="4387291"/>
            <a:ext cx="8534095" cy="764438"/>
          </a:xfrm>
          <a:prstGeom prst="roundRect">
            <a:avLst>
              <a:gd name="adj" fmla="val 1435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57400" y="4518050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057400" y="451805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2788920" y="4387291"/>
            <a:ext cx="7345375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결과를 얻는 (결과)</a:t>
            </a:r>
            <a:endParaRPr lang="en-US" sz="2200" dirty="0"/>
          </a:p>
        </p:txBody>
      </p:sp>
      <p:sp>
        <p:nvSpPr>
          <p:cNvPr id="19" name="항목5"/>
          <p:cNvSpPr/>
          <p:nvPr/>
        </p:nvSpPr>
        <p:spPr>
          <a:xfrm>
            <a:off x="1828800" y="5316322"/>
            <a:ext cx="8534095" cy="764438"/>
          </a:xfrm>
          <a:prstGeom prst="roundRect">
            <a:avLst>
              <a:gd name="adj" fmla="val 1435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57400" y="5447081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057400" y="5447081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2788920" y="5316322"/>
            <a:ext cx="7345375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무슨 방법으로 (내 무기)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76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팔리는 주제 찾는 법</a:t>
            </a:r>
            <a:endParaRPr lang="en-US" sz="10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쪼개기 </a:t>
            </a:r>
            <a:pPr algn="ctr" indent="0" marL="0">
              <a:buNone/>
            </a:pPr>
            <a:r>
              <a:rPr lang="en-US" sz="3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전후</a:t>
            </a:r>
            <a:endParaRPr lang="en-US" sz="3400" dirty="0"/>
          </a:p>
        </p:txBody>
      </p:sp>
      <p:sp>
        <p:nvSpPr>
          <p:cNvPr id="3" name="왼쪽"/>
          <p:cNvSpPr/>
          <p:nvPr/>
        </p:nvSpPr>
        <p:spPr>
          <a:xfrm>
            <a:off x="914400" y="1737360"/>
            <a:ext cx="4952848" cy="4206240"/>
          </a:xfrm>
          <a:prstGeom prst="roundRect">
            <a:avLst>
              <a:gd name="adj" fmla="val 3261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88720" y="201168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육아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2834640"/>
            <a:ext cx="422132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너무 넓다</a:t>
            </a:r>
            <a:endParaRPr lang="en-US" sz="2000" dirty="0"/>
          </a:p>
        </p:txBody>
      </p:sp>
      <p:sp>
        <p:nvSpPr>
          <p:cNvPr id="6" name="오른쪽"/>
          <p:cNvSpPr/>
          <p:nvPr/>
        </p:nvSpPr>
        <p:spPr>
          <a:xfrm>
            <a:off x="6324448" y="1737360"/>
            <a:ext cx="4952848" cy="4206240"/>
          </a:xfrm>
          <a:prstGeom prst="roundRect">
            <a:avLst>
              <a:gd name="adj" fmla="val 3261"/>
            </a:avLst>
          </a:prstGeom>
          <a:solidFill>
            <a:srgbClr val="FDECEB"/>
          </a:solidFill>
          <a:ln w="12700">
            <a:solidFill>
              <a:srgbClr val="F4B9B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98768" y="201168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밤마다 1시간씩 안아서 재우던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6690208" y="2834640"/>
            <a:ext cx="422132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돌 전 아기 엄마가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눕혀서 10분 만에 재우는 3단계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77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팔리는 주제 찾는 법</a:t>
            </a:r>
            <a:endParaRPr lang="en-US" sz="10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사람들이 </a:t>
            </a:r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돈을 쓰는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결핍 6가지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외모 · 내면 · 관계 · 돈 · 성적 욕망 · 행복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팔리는 주제 찾는 법</a:t>
            </a:r>
            <a:endParaRPr lang="en-US" sz="10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주제 하나가 팔리면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변형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무한대예요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아기 재우는 법 → 낮잠 · 분리수면 · 어린이집 적응 …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79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팔리는 주제 찾는 법</a:t>
            </a:r>
            <a:endParaRPr lang="en-US" sz="10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제목은 </a:t>
            </a:r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</a:t>
            </a:r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약속하세요</a:t>
            </a:r>
            <a:endParaRPr lang="en-US" sz="3200" dirty="0"/>
          </a:p>
        </p:txBody>
      </p:sp>
      <p:sp>
        <p:nvSpPr>
          <p:cNvPr id="3" name="항목1"/>
          <p:cNvSpPr/>
          <p:nvPr/>
        </p:nvSpPr>
        <p:spPr>
          <a:xfrm>
            <a:off x="1828800" y="1600200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57400" y="1783080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05740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2788920" y="1600200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단계: 3단계, 5가지</a:t>
            </a:r>
            <a:endParaRPr lang="en-US" sz="2200" dirty="0"/>
          </a:p>
        </p:txBody>
      </p:sp>
      <p:sp>
        <p:nvSpPr>
          <p:cNvPr id="7" name="항목2"/>
          <p:cNvSpPr/>
          <p:nvPr/>
        </p:nvSpPr>
        <p:spPr>
          <a:xfrm>
            <a:off x="1828800" y="2633472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57400" y="2816352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57400" y="2816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2633472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시간: 하루 10분, 10분 만에</a:t>
            </a:r>
            <a:endParaRPr lang="en-US" sz="2200" dirty="0"/>
          </a:p>
        </p:txBody>
      </p:sp>
      <p:sp>
        <p:nvSpPr>
          <p:cNvPr id="11" name="항목3"/>
          <p:cNvSpPr/>
          <p:nvPr/>
        </p:nvSpPr>
        <p:spPr>
          <a:xfrm>
            <a:off x="1828800" y="3666744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57400" y="3849624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057400" y="38496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788920" y="3666744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변화: 10kg, 월 100만 원</a:t>
            </a:r>
            <a:endParaRPr lang="en-US" sz="2200" dirty="0"/>
          </a:p>
        </p:txBody>
      </p:sp>
      <p:sp>
        <p:nvSpPr>
          <p:cNvPr id="15" name="항목4"/>
          <p:cNvSpPr/>
          <p:nvPr/>
        </p:nvSpPr>
        <p:spPr>
          <a:xfrm>
            <a:off x="1828800" y="4700016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57400" y="4882896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057400" y="4882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2788920" y="4700016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 붙이기: '○○의 법칙', '3단계 원리'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팔리는 주제 찾는 법</a:t>
            </a:r>
            <a:endParaRPr lang="en-US" sz="10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</a:t>
            </a:r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주제 → 제목 → 목차</a:t>
            </a:r>
            <a:endParaRPr lang="en-US" sz="3200" dirty="0"/>
          </a:p>
        </p:txBody>
      </p:sp>
      <p:sp>
        <p:nvSpPr>
          <p:cNvPr id="3" name="자료자리"/>
          <p:cNvSpPr/>
          <p:nvPr/>
        </p:nvSpPr>
        <p:spPr>
          <a:xfrm>
            <a:off x="1463040" y="1600200"/>
            <a:ext cx="9265615" cy="4480560"/>
          </a:xfrm>
          <a:prstGeom prst="rect">
            <a:avLst/>
          </a:prstGeom>
          <a:solidFill>
            <a:srgbClr val="F5F5F5"/>
          </a:solidFill>
          <a:ln w="15875">
            <a:solidFill>
              <a:srgbClr val="BBBBBB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1737360" y="1600200"/>
            <a:ext cx="8716975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넣을 자리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[대표 전자책의 고객 · 문제 · 주제 · 제목 · 목차 전개]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팔리는 주제 찾는 법</a:t>
            </a:r>
            <a:endParaRPr lang="en-US" sz="10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목차는 </a:t>
            </a:r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→ 원인 → 해결 → 실전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독자가 겪는 장면 → 세상의 뻔한 답 → 그걸 뒤집는 답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팔리는 주제 찾는 법</a:t>
            </a:r>
            <a:endParaRPr lang="en-US" sz="10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</a:t>
            </a:r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채팅에</a:t>
            </a:r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적어보세요</a:t>
            </a:r>
            <a:endParaRPr lang="en-US" sz="3200" dirty="0"/>
          </a:p>
        </p:txBody>
      </p:sp>
      <p:sp>
        <p:nvSpPr>
          <p:cNvPr id="3" name="항목1"/>
          <p:cNvSpPr/>
          <p:nvPr/>
        </p:nvSpPr>
        <p:spPr>
          <a:xfrm>
            <a:off x="1828800" y="1600200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57400" y="1783080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05740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2788920" y="1600200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고객은 누구?</a:t>
            </a:r>
            <a:endParaRPr lang="en-US" sz="2200" dirty="0"/>
          </a:p>
        </p:txBody>
      </p:sp>
      <p:sp>
        <p:nvSpPr>
          <p:cNvPr id="7" name="항목2"/>
          <p:cNvSpPr/>
          <p:nvPr/>
        </p:nvSpPr>
        <p:spPr>
          <a:xfrm>
            <a:off x="1828800" y="2633472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57400" y="2816352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57400" y="2816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2633472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고객이 제일 답답한 순간은?</a:t>
            </a:r>
            <a:endParaRPr lang="en-US" sz="2200" dirty="0"/>
          </a:p>
        </p:txBody>
      </p:sp>
      <p:sp>
        <p:nvSpPr>
          <p:cNvPr id="11" name="항목3"/>
          <p:cNvSpPr/>
          <p:nvPr/>
        </p:nvSpPr>
        <p:spPr>
          <a:xfrm>
            <a:off x="1828800" y="3666744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57400" y="3849624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057400" y="38496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788920" y="3666744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내 전자책 주제 한 줄은?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팔리는 주제 찾는 법</a:t>
            </a:r>
            <a:endParaRPr lang="en-US" sz="10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288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0040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저도 책 한 권에 1,100만원 썼어요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저도 책 한 권에 1,100만원 썼어요</a:t>
            </a:r>
            <a:endParaRPr lang="en-US" sz="10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질문표시"/>
          <p:cNvSpPr/>
          <p:nvPr/>
        </p:nvSpPr>
        <p:spPr>
          <a:xfrm>
            <a:off x="5775808" y="1325880"/>
            <a:ext cx="640080" cy="64008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775808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9456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주제는 정했는데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 한 권을 </a:t>
            </a:r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다 써요?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저도 책 한 권에 1,100만원 썼어요</a:t>
            </a:r>
            <a:endParaRPr lang="en-US" sz="10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배우가 되고 싶었어요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[연기 전공 · 오디션 · 막막했던 시기]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저도 책 한 권에 1,100만원 썼어요</a:t>
            </a:r>
            <a:endParaRPr lang="en-US" sz="10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그때 집안이 </a:t>
            </a:r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기울었어요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[그때 상황 한 줄]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저도 책 한 권에 1,100만원 썼어요</a:t>
            </a:r>
            <a:endParaRPr lang="en-US" sz="10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</a:t>
            </a:r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책을 쓰기로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했어요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 한 권이면 인생이 바뀔 줄 알았어요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저도 책 한 권에 1,100만원 썼어요</a:t>
            </a:r>
            <a:endParaRPr lang="en-US" sz="10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1,100만원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책쓰기 협회에 낸 돈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89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저도 책 한 권에 1,100만원 썼어요</a:t>
            </a:r>
            <a:endParaRPr lang="en-US" sz="10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1,100만원은</a:t>
            </a:r>
            <a:endParaRPr lang="en-US" sz="3400" dirty="0"/>
          </a:p>
        </p:txBody>
      </p:sp>
      <p:sp>
        <p:nvSpPr>
          <p:cNvPr id="3" name="왼쪽"/>
          <p:cNvSpPr/>
          <p:nvPr/>
        </p:nvSpPr>
        <p:spPr>
          <a:xfrm>
            <a:off x="914400" y="1737360"/>
            <a:ext cx="4952848" cy="4206240"/>
          </a:xfrm>
          <a:prstGeom prst="roundRect">
            <a:avLst>
              <a:gd name="adj" fmla="val 3261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88720" y="201168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*350만원*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2834640"/>
            <a:ext cx="422132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제가 모은 돈 전부</a:t>
            </a:r>
            <a:endParaRPr lang="en-US" sz="2000" dirty="0"/>
          </a:p>
        </p:txBody>
      </p:sp>
      <p:sp>
        <p:nvSpPr>
          <p:cNvPr id="6" name="오른쪽"/>
          <p:cNvSpPr/>
          <p:nvPr/>
        </p:nvSpPr>
        <p:spPr>
          <a:xfrm>
            <a:off x="6324448" y="1737360"/>
            <a:ext cx="4952848" cy="4206240"/>
          </a:xfrm>
          <a:prstGeom prst="roundRect">
            <a:avLst>
              <a:gd name="adj" fmla="val 3261"/>
            </a:avLst>
          </a:prstGeom>
          <a:solidFill>
            <a:srgbClr val="FDECEB"/>
          </a:solidFill>
          <a:ln w="12700">
            <a:solidFill>
              <a:srgbClr val="F4B9B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98768" y="201168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*700만원*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6690208" y="2834640"/>
            <a:ext cx="422132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아버지께 빌린 돈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저도 책 한 권에 1,100만원 썼어요</a:t>
            </a:r>
            <a:endParaRPr lang="en-US" sz="10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그렇게 </a:t>
            </a:r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정식 출판</a:t>
            </a:r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했어요</a:t>
            </a:r>
            <a:endParaRPr lang="en-US" sz="3200" dirty="0"/>
          </a:p>
        </p:txBody>
      </p:sp>
      <p:sp>
        <p:nvSpPr>
          <p:cNvPr id="3" name="자료자리"/>
          <p:cNvSpPr/>
          <p:nvPr/>
        </p:nvSpPr>
        <p:spPr>
          <a:xfrm>
            <a:off x="1463040" y="1600200"/>
            <a:ext cx="9265615" cy="4480560"/>
          </a:xfrm>
          <a:prstGeom prst="rect">
            <a:avLst/>
          </a:prstGeom>
          <a:solidFill>
            <a:srgbClr val="F5F5F5"/>
          </a:solidFill>
          <a:ln w="15875">
            <a:solidFill>
              <a:srgbClr val="BBBBBB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1737360" y="1600200"/>
            <a:ext cx="8716975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넣을 자리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[실물 책 사진 · 출판사 · 출간 연도]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저도 책 한 권에 1,100만원 썼어요</a:t>
            </a:r>
            <a:endParaRPr lang="en-US" sz="10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9456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</a:t>
            </a:r>
            <a:pPr algn="ctr" indent="0" marL="0">
              <a:buNone/>
            </a:pPr>
            <a:r>
              <a:rPr lang="en-US" sz="60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망했어요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저도 책 한 권에 1,100만원 썼어요</a:t>
            </a:r>
            <a:endParaRPr lang="en-US" sz="10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망했을까요?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권위</a:t>
            </a:r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없고 </a:t>
            </a:r>
            <a:pPr algn="ctr" indent="0" marL="0">
              <a:buNone/>
            </a:pPr>
            <a:r>
              <a:rPr lang="en-US" sz="2200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</a:t>
            </a:r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몰랐어요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저도 책 한 권에 1,100만원 썼어요</a:t>
            </a:r>
            <a:endParaRPr lang="en-US" sz="10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</a:t>
            </a:r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유튜브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시작했어요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[유튜브 시작 계기 · 구독자]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저도 책 한 권에 1,100만원 썼어요</a:t>
            </a:r>
            <a:endParaRPr lang="en-US" sz="10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</a:t>
            </a:r>
            <a:pPr algn="ctr" indent="0" marL="0">
              <a:buNone/>
            </a:pPr>
            <a:r>
              <a:rPr lang="en-US" sz="60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8천원</a:t>
            </a:r>
            <a:pPr algn="ctr" indent="0" marL="0">
              <a:buNone/>
            </a:pPr>
            <a:r>
              <a:rPr lang="en-US" sz="6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짜리 전자책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[그 전자책 이름 · 처음 팔린 날]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저도 책 한 권에 1,100만원 썼어요</a:t>
            </a:r>
            <a:endParaRPr lang="en-US" sz="10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전자책 </a:t>
            </a:r>
            <a:pPr algn="ctr" indent="0" marL="0">
              <a:buNone/>
            </a:pPr>
            <a:r>
              <a:rPr lang="en-US" sz="3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권</a:t>
            </a:r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바꾼 것</a:t>
            </a:r>
            <a:endParaRPr lang="en-US" sz="3400" dirty="0"/>
          </a:p>
        </p:txBody>
      </p:sp>
      <p:sp>
        <p:nvSpPr>
          <p:cNvPr id="3" name="단계1"/>
          <p:cNvSpPr/>
          <p:nvPr/>
        </p:nvSpPr>
        <p:spPr>
          <a:xfrm>
            <a:off x="723748" y="2743200"/>
            <a:ext cx="2377440" cy="1463040"/>
          </a:xfrm>
          <a:prstGeom prst="roundRect">
            <a:avLst>
              <a:gd name="adj" fmla="val 9375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15188" y="27432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8천원 전자책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3101188" y="2743200"/>
            <a:ext cx="411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6" name="단계2"/>
          <p:cNvSpPr/>
          <p:nvPr/>
        </p:nvSpPr>
        <p:spPr>
          <a:xfrm>
            <a:off x="3512668" y="2743200"/>
            <a:ext cx="2377440" cy="1463040"/>
          </a:xfrm>
          <a:prstGeom prst="roundRect">
            <a:avLst>
              <a:gd name="adj" fmla="val 9375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04108" y="27432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코칭 · 컨설팅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890108" y="2743200"/>
            <a:ext cx="411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단계3"/>
          <p:cNvSpPr/>
          <p:nvPr/>
        </p:nvSpPr>
        <p:spPr>
          <a:xfrm>
            <a:off x="6301588" y="2743200"/>
            <a:ext cx="2377440" cy="1463040"/>
          </a:xfrm>
          <a:prstGeom prst="roundRect">
            <a:avLst>
              <a:gd name="adj" fmla="val 9375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93028" y="27432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연기학원 성장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679028" y="2743200"/>
            <a:ext cx="411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단계4"/>
          <p:cNvSpPr/>
          <p:nvPr/>
        </p:nvSpPr>
        <p:spPr>
          <a:xfrm>
            <a:off x="9090508" y="2743200"/>
            <a:ext cx="2377440" cy="1463040"/>
          </a:xfrm>
          <a:prstGeom prst="roundRect">
            <a:avLst>
              <a:gd name="adj" fmla="val 9375"/>
            </a:avLst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81948" y="27432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96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저도 책 한 권에 1,100만원 썼어요</a:t>
            </a:r>
            <a:endParaRPr lang="en-US" sz="10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근데 그때도 책 쓰는 건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너무 오래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걸렸어요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[권당 걸린 시간 · 힘들었던 작업]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저도 책 한 권에 1,100만원 썼어요</a:t>
            </a:r>
            <a:endParaRPr lang="en-US" sz="10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그러다 </a:t>
            </a:r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써본 날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[AI 결과물을 처음 보고 느낀 것]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저도 책 한 권에 1,100만원 썼어요</a:t>
            </a:r>
            <a:endParaRPr lang="en-US" sz="10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근데 AI한테 그냥 맡기면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티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나요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사람 마음이 안 움직여요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99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저도 책 한 권에 1,100만원 썼어요</a:t>
            </a:r>
            <a:endParaRPr lang="en-US" sz="10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그때</a:t>
            </a:r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vs </a:t>
            </a:r>
            <a:pPr algn="ctr" indent="0" marL="0">
              <a:buNone/>
            </a:pPr>
            <a:r>
              <a:rPr lang="en-US" sz="3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</a:t>
            </a:r>
            <a:endParaRPr lang="en-US" sz="3400" dirty="0"/>
          </a:p>
        </p:txBody>
      </p:sp>
      <p:sp>
        <p:nvSpPr>
          <p:cNvPr id="3" name="왼쪽"/>
          <p:cNvSpPr/>
          <p:nvPr/>
        </p:nvSpPr>
        <p:spPr>
          <a:xfrm>
            <a:off x="914400" y="1737360"/>
            <a:ext cx="4952848" cy="4206240"/>
          </a:xfrm>
          <a:prstGeom prst="roundRect">
            <a:avLst>
              <a:gd name="adj" fmla="val 3261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88720" y="201168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그때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2834640"/>
            <a:ext cx="422132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1,100만원 · [기간]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권위도 마케팅도 없이</a:t>
            </a:r>
            <a:endParaRPr lang="en-US" sz="2000" dirty="0"/>
          </a:p>
        </p:txBody>
      </p:sp>
      <p:sp>
        <p:nvSpPr>
          <p:cNvPr id="6" name="오른쪽"/>
          <p:cNvSpPr/>
          <p:nvPr/>
        </p:nvSpPr>
        <p:spPr>
          <a:xfrm>
            <a:off x="6324448" y="1737360"/>
            <a:ext cx="4952848" cy="4206240"/>
          </a:xfrm>
          <a:prstGeom prst="roundRect">
            <a:avLst>
              <a:gd name="adj" fmla="val 3261"/>
            </a:avLst>
          </a:prstGeom>
          <a:solidFill>
            <a:srgbClr val="FDECEB"/>
          </a:solidFill>
          <a:ln w="12700">
            <a:solidFill>
              <a:srgbClr val="F4B9B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98768" y="201168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6690208" y="2834640"/>
            <a:ext cx="422132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권에 만원도 안 들고 · [기간]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만드는 건 프로그램, 파는 법은 수업에서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저도 책 한 권에 1,100만원 썼어요</a:t>
            </a:r>
            <a:endParaRPr lang="en-US" sz="10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</a:t>
            </a:r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수강생 세 명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한테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시켜봤어요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저만 되는 건지 궁금했거든요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저도 책 한 권에 1,100만원 썼어요</a:t>
            </a:r>
            <a:endParaRPr lang="en-US" sz="10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288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0040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만들었어요 · 프로그램 공개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 그래서 만들었어요 · 프로그램 공개</a:t>
            </a:r>
            <a:endParaRPr lang="en-US" sz="10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초안을 </a:t>
            </a:r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팔리는 책</a:t>
            </a:r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만드는 순서</a:t>
            </a:r>
            <a:endParaRPr lang="en-US" sz="3200" dirty="0"/>
          </a:p>
        </p:txBody>
      </p:sp>
      <p:sp>
        <p:nvSpPr>
          <p:cNvPr id="3" name="항목1"/>
          <p:cNvSpPr/>
          <p:nvPr/>
        </p:nvSpPr>
        <p:spPr>
          <a:xfrm>
            <a:off x="1828800" y="1600200"/>
            <a:ext cx="8534095" cy="764438"/>
          </a:xfrm>
          <a:prstGeom prst="roundRect">
            <a:avLst>
              <a:gd name="adj" fmla="val 1435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57400" y="1730959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057400" y="173095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2788920" y="1600200"/>
            <a:ext cx="7345375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팔리는 주제를 정한다</a:t>
            </a:r>
            <a:endParaRPr lang="en-US" sz="2200" dirty="0"/>
          </a:p>
        </p:txBody>
      </p:sp>
      <p:sp>
        <p:nvSpPr>
          <p:cNvPr id="7" name="항목2"/>
          <p:cNvSpPr/>
          <p:nvPr/>
        </p:nvSpPr>
        <p:spPr>
          <a:xfrm>
            <a:off x="1828800" y="2529230"/>
            <a:ext cx="8534095" cy="764438"/>
          </a:xfrm>
          <a:prstGeom prst="roundRect">
            <a:avLst>
              <a:gd name="adj" fmla="val 1435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57400" y="2659990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57400" y="265999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2529230"/>
            <a:ext cx="7345375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자료를 찾고 확인한다</a:t>
            </a:r>
            <a:endParaRPr lang="en-US" sz="2200" dirty="0"/>
          </a:p>
        </p:txBody>
      </p:sp>
      <p:sp>
        <p:nvSpPr>
          <p:cNvPr id="11" name="항목3"/>
          <p:cNvSpPr/>
          <p:nvPr/>
        </p:nvSpPr>
        <p:spPr>
          <a:xfrm>
            <a:off x="1828800" y="3458261"/>
            <a:ext cx="8534095" cy="764438"/>
          </a:xfrm>
          <a:prstGeom prst="roundRect">
            <a:avLst>
              <a:gd name="adj" fmla="val 1435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57400" y="3589020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057400" y="35890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788920" y="3458261"/>
            <a:ext cx="7345375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분량·목차를 짠다</a:t>
            </a:r>
            <a:endParaRPr lang="en-US" sz="2200" dirty="0"/>
          </a:p>
        </p:txBody>
      </p:sp>
      <p:sp>
        <p:nvSpPr>
          <p:cNvPr id="15" name="항목4"/>
          <p:cNvSpPr/>
          <p:nvPr/>
        </p:nvSpPr>
        <p:spPr>
          <a:xfrm>
            <a:off x="1828800" y="4387291"/>
            <a:ext cx="8534095" cy="764438"/>
          </a:xfrm>
          <a:prstGeom prst="roundRect">
            <a:avLst>
              <a:gd name="adj" fmla="val 1435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57400" y="4518050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057400" y="451805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2788920" y="4387291"/>
            <a:ext cx="7345375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문체로 본문을 쓴다</a:t>
            </a:r>
            <a:endParaRPr lang="en-US" sz="2200" dirty="0"/>
          </a:p>
        </p:txBody>
      </p:sp>
      <p:sp>
        <p:nvSpPr>
          <p:cNvPr id="19" name="항목5"/>
          <p:cNvSpPr/>
          <p:nvPr/>
        </p:nvSpPr>
        <p:spPr>
          <a:xfrm>
            <a:off x="1828800" y="5316322"/>
            <a:ext cx="8534095" cy="764438"/>
          </a:xfrm>
          <a:prstGeom prst="roundRect">
            <a:avLst>
              <a:gd name="adj" fmla="val 1435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57400" y="5447081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057400" y="5447081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2788920" y="5316322"/>
            <a:ext cx="7345375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표지 · 판매 페이지까지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103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 그래서 만들었어요 · 프로그램 공개</a:t>
            </a:r>
            <a:endParaRPr lang="en-US" sz="10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제가 짠 구조 그대로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만들었어요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[프로그램 이름] · [회사명]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 그래서 만들었어요 · 프로그램 공개</a:t>
            </a:r>
            <a:endParaRPr lang="en-US" sz="10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</a:t>
            </a:r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주제</a:t>
            </a:r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정하기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37160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입력하거나 추천받기</a:t>
            </a:r>
            <a:endParaRPr lang="en-US" sz="1800" dirty="0"/>
          </a:p>
        </p:txBody>
      </p:sp>
      <p:sp>
        <p:nvSpPr>
          <p:cNvPr id="4" name="자료자리"/>
          <p:cNvSpPr/>
          <p:nvPr/>
        </p:nvSpPr>
        <p:spPr>
          <a:xfrm>
            <a:off x="1463040" y="1965960"/>
            <a:ext cx="9265615" cy="4114800"/>
          </a:xfrm>
          <a:prstGeom prst="rect">
            <a:avLst/>
          </a:prstGeom>
          <a:solidFill>
            <a:srgbClr val="F5F5F5"/>
          </a:solidFill>
          <a:ln w="15875">
            <a:solidFill>
              <a:srgbClr val="BBBBBB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1737360" y="1965960"/>
            <a:ext cx="871697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넣을 자리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[주제 입력 · 추천 화면]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105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 그래서 만들었어요 · 프로그램 공개</a:t>
            </a:r>
            <a:endParaRPr lang="en-US" sz="10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</a:t>
            </a:r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조사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37160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국내외 자료 검색 · 원문 확인 · 크로스체크</a:t>
            </a:r>
            <a:endParaRPr lang="en-US" sz="1800" dirty="0"/>
          </a:p>
        </p:txBody>
      </p:sp>
      <p:sp>
        <p:nvSpPr>
          <p:cNvPr id="4" name="자료자리"/>
          <p:cNvSpPr/>
          <p:nvPr/>
        </p:nvSpPr>
        <p:spPr>
          <a:xfrm>
            <a:off x="1463040" y="1965960"/>
            <a:ext cx="9265615" cy="4114800"/>
          </a:xfrm>
          <a:prstGeom prst="rect">
            <a:avLst/>
          </a:prstGeom>
          <a:solidFill>
            <a:srgbClr val="F5F5F5"/>
          </a:solidFill>
          <a:ln w="15875">
            <a:solidFill>
              <a:srgbClr val="BBBBBB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1737360" y="1965960"/>
            <a:ext cx="871697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넣을 자리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[자료 조사 진행 화면]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106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 그래서 만들었어요 · 프로그램 공개</a:t>
            </a:r>
            <a:endParaRPr lang="en-US" sz="10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</a:t>
            </a:r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분량 · 목차</a:t>
            </a:r>
            <a:endParaRPr lang="en-US" sz="3200" dirty="0"/>
          </a:p>
        </p:txBody>
      </p:sp>
      <p:sp>
        <p:nvSpPr>
          <p:cNvPr id="3" name="자료자리"/>
          <p:cNvSpPr/>
          <p:nvPr/>
        </p:nvSpPr>
        <p:spPr>
          <a:xfrm>
            <a:off x="1463040" y="1600200"/>
            <a:ext cx="9265615" cy="4480560"/>
          </a:xfrm>
          <a:prstGeom prst="rect">
            <a:avLst/>
          </a:prstGeom>
          <a:solidFill>
            <a:srgbClr val="F5F5F5"/>
          </a:solidFill>
          <a:ln w="15875">
            <a:solidFill>
              <a:srgbClr val="BBBBBB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1737360" y="1600200"/>
            <a:ext cx="8716975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넣을 자리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[분량 선택 · 목차 화면]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107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 그래서 만들었어요 · 프로그램 공개</a:t>
            </a:r>
            <a:endParaRPr lang="en-US" sz="10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</a:t>
            </a:r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문체</a:t>
            </a:r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고르기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37160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문장을 작가 스타일별로 비교</a:t>
            </a:r>
            <a:endParaRPr lang="en-US" sz="1800" dirty="0"/>
          </a:p>
        </p:txBody>
      </p:sp>
      <p:sp>
        <p:nvSpPr>
          <p:cNvPr id="4" name="자료자리"/>
          <p:cNvSpPr/>
          <p:nvPr/>
        </p:nvSpPr>
        <p:spPr>
          <a:xfrm>
            <a:off x="1463040" y="1965960"/>
            <a:ext cx="9265615" cy="4114800"/>
          </a:xfrm>
          <a:prstGeom prst="rect">
            <a:avLst/>
          </a:prstGeom>
          <a:solidFill>
            <a:srgbClr val="F5F5F5"/>
          </a:solidFill>
          <a:ln w="15875">
            <a:solidFill>
              <a:srgbClr val="BBBBBB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1737360" y="1965960"/>
            <a:ext cx="871697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넣을 자리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[문체 샘플 화면]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108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 그래서 만들었어요 · 프로그램 공개</a:t>
            </a:r>
            <a:endParaRPr lang="en-US" sz="10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</a:t>
            </a:r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</a:t>
            </a:r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생성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37160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백그라운드로 알아서 써요</a:t>
            </a:r>
            <a:endParaRPr lang="en-US" sz="1800" dirty="0"/>
          </a:p>
        </p:txBody>
      </p:sp>
      <p:sp>
        <p:nvSpPr>
          <p:cNvPr id="4" name="자료자리"/>
          <p:cNvSpPr/>
          <p:nvPr/>
        </p:nvSpPr>
        <p:spPr>
          <a:xfrm>
            <a:off x="1463040" y="1965960"/>
            <a:ext cx="9265615" cy="4114800"/>
          </a:xfrm>
          <a:prstGeom prst="rect">
            <a:avLst/>
          </a:prstGeom>
          <a:solidFill>
            <a:srgbClr val="F5F5F5"/>
          </a:solidFill>
          <a:ln w="15875">
            <a:solidFill>
              <a:srgbClr val="BBBBBB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1737360" y="1965960"/>
            <a:ext cx="871697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넣을 자리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[본문 생성 화면]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109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 그래서 만들었어요 · 프로그램 공개</a:t>
            </a:r>
            <a:endParaRPr lang="en-US" sz="10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</a:t>
            </a:r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표지</a:t>
            </a:r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3안</a:t>
            </a:r>
            <a:endParaRPr lang="en-US" sz="3200" dirty="0"/>
          </a:p>
        </p:txBody>
      </p:sp>
      <p:sp>
        <p:nvSpPr>
          <p:cNvPr id="3" name="자료자리"/>
          <p:cNvSpPr/>
          <p:nvPr/>
        </p:nvSpPr>
        <p:spPr>
          <a:xfrm>
            <a:off x="1463040" y="1600200"/>
            <a:ext cx="9265615" cy="4480560"/>
          </a:xfrm>
          <a:prstGeom prst="rect">
            <a:avLst/>
          </a:prstGeom>
          <a:solidFill>
            <a:srgbClr val="F5F5F5"/>
          </a:solidFill>
          <a:ln w="15875">
            <a:solidFill>
              <a:srgbClr val="BBBBBB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1737360" y="1600200"/>
            <a:ext cx="8716975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넣을 자리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[표지 3안 화면]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 그래서 만들었어요 · 프로그램 공개</a:t>
            </a:r>
            <a:endParaRPr lang="en-US" sz="10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 </a:t>
            </a:r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 페이지</a:t>
            </a:r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까지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37160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이미지형 · 웹형 · 3~4분</a:t>
            </a:r>
            <a:endParaRPr lang="en-US" sz="1800" dirty="0"/>
          </a:p>
        </p:txBody>
      </p:sp>
      <p:sp>
        <p:nvSpPr>
          <p:cNvPr id="4" name="자료자리"/>
          <p:cNvSpPr/>
          <p:nvPr/>
        </p:nvSpPr>
        <p:spPr>
          <a:xfrm>
            <a:off x="1463040" y="1965960"/>
            <a:ext cx="9265615" cy="4114800"/>
          </a:xfrm>
          <a:prstGeom prst="rect">
            <a:avLst/>
          </a:prstGeom>
          <a:solidFill>
            <a:srgbClr val="F5F5F5"/>
          </a:solidFill>
          <a:ln w="15875">
            <a:solidFill>
              <a:srgbClr val="BBBBBB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1737360" y="1965960"/>
            <a:ext cx="871697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넣을 자리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[상세페이지 생성 화면]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 그래서 만들었어요 · 프로그램 공개</a:t>
            </a:r>
            <a:endParaRPr lang="en-US" sz="10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완성된 </a:t>
            </a:r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전자책</a:t>
            </a:r>
            <a:endParaRPr lang="en-US" sz="3200" dirty="0"/>
          </a:p>
        </p:txBody>
      </p:sp>
      <p:sp>
        <p:nvSpPr>
          <p:cNvPr id="3" name="자료자리"/>
          <p:cNvSpPr/>
          <p:nvPr/>
        </p:nvSpPr>
        <p:spPr>
          <a:xfrm>
            <a:off x="1463040" y="1600200"/>
            <a:ext cx="9265615" cy="4480560"/>
          </a:xfrm>
          <a:prstGeom prst="rect">
            <a:avLst/>
          </a:prstGeom>
          <a:solidFill>
            <a:srgbClr val="F5F5F5"/>
          </a:solidFill>
          <a:ln w="15875">
            <a:solidFill>
              <a:srgbClr val="BBBBBB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1737360" y="1600200"/>
            <a:ext cx="8716975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넣을 자리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[샘플 완성본 · 예: 아빠 육아 PDF 64쪽]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 그래서 만들었어요 · 프로그램 공개</a:t>
            </a:r>
            <a:endParaRPr lang="en-US" sz="10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권에 </a:t>
            </a:r>
            <a:pPr algn="ctr" indent="0" marL="0">
              <a:buNone/>
            </a:pPr>
            <a:r>
              <a:rPr lang="en-US" sz="60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만원도 안 들어요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[프로그램 비용 · 수강생 크레딧 조건 확정 후]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 그래서 만들었어요 · 프로그램 공개</a:t>
            </a:r>
            <a:endParaRPr lang="en-US" sz="10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288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0040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이제 여러분 차례예요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 이제 여러분 차례예요</a:t>
            </a:r>
            <a:endParaRPr lang="en-US" sz="10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</a:t>
            </a:r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 링크</a:t>
            </a:r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열어드릴게요</a:t>
            </a:r>
            <a:endParaRPr lang="en-US" sz="3200" dirty="0"/>
          </a:p>
        </p:txBody>
      </p:sp>
      <p:sp>
        <p:nvSpPr>
          <p:cNvPr id="3" name="자료자리"/>
          <p:cNvSpPr/>
          <p:nvPr/>
        </p:nvSpPr>
        <p:spPr>
          <a:xfrm>
            <a:off x="1463040" y="1600200"/>
            <a:ext cx="9265615" cy="4480560"/>
          </a:xfrm>
          <a:prstGeom prst="rect">
            <a:avLst/>
          </a:prstGeom>
          <a:solidFill>
            <a:srgbClr val="F5F5F5"/>
          </a:solidFill>
          <a:ln w="15875">
            <a:solidFill>
              <a:srgbClr val="BBBBBB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1737360" y="1600200"/>
            <a:ext cx="8716975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넣을 자리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[체험 링크 · QR · 라이브 중 한시 체험 안내]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 이제 여러분 차례예요</a:t>
            </a:r>
            <a:endParaRPr lang="en-US" sz="10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만들 </a:t>
            </a:r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</a:t>
            </a:r>
            <a:endParaRPr lang="en-US" sz="3200" dirty="0"/>
          </a:p>
        </p:txBody>
      </p:sp>
      <p:sp>
        <p:nvSpPr>
          <p:cNvPr id="3" name="항목1"/>
          <p:cNvSpPr/>
          <p:nvPr/>
        </p:nvSpPr>
        <p:spPr>
          <a:xfrm>
            <a:off x="1828800" y="1600200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57400" y="1783080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05740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2788920" y="1600200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아까 채팅에 적은 내 주제로</a:t>
            </a:r>
            <a:endParaRPr lang="en-US" sz="2200" dirty="0"/>
          </a:p>
        </p:txBody>
      </p:sp>
      <p:sp>
        <p:nvSpPr>
          <p:cNvPr id="7" name="항목2"/>
          <p:cNvSpPr/>
          <p:nvPr/>
        </p:nvSpPr>
        <p:spPr>
          <a:xfrm>
            <a:off x="1828800" y="2633472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57400" y="2816352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57400" y="2816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2633472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 1개</a:t>
            </a:r>
            <a:endParaRPr lang="en-US" sz="2200" dirty="0"/>
          </a:p>
        </p:txBody>
      </p:sp>
      <p:sp>
        <p:nvSpPr>
          <p:cNvPr id="11" name="항목3"/>
          <p:cNvSpPr/>
          <p:nvPr/>
        </p:nvSpPr>
        <p:spPr>
          <a:xfrm>
            <a:off x="1828800" y="3666744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57400" y="3849624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057400" y="38496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788920" y="3666744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 1개</a:t>
            </a:r>
            <a:endParaRPr lang="en-US" sz="2200" dirty="0"/>
          </a:p>
        </p:txBody>
      </p:sp>
      <p:sp>
        <p:nvSpPr>
          <p:cNvPr id="15" name="항목4"/>
          <p:cNvSpPr/>
          <p:nvPr/>
        </p:nvSpPr>
        <p:spPr>
          <a:xfrm>
            <a:off x="1828800" y="4700016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57400" y="4882896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057400" y="4882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2788920" y="4700016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페이지까지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116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 이제 여러분 차례예요</a:t>
            </a:r>
            <a:endParaRPr lang="en-US" sz="10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 하는 </a:t>
            </a:r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</a:t>
            </a:r>
            <a:endParaRPr lang="en-US" sz="3200" dirty="0"/>
          </a:p>
        </p:txBody>
      </p:sp>
      <p:sp>
        <p:nvSpPr>
          <p:cNvPr id="3" name="항목1"/>
          <p:cNvSpPr/>
          <p:nvPr/>
        </p:nvSpPr>
        <p:spPr>
          <a:xfrm>
            <a:off x="1828800" y="1600200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57400" y="1783080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05740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2788920" y="1600200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[1단계 · 실제 화면 순서]</a:t>
            </a:r>
            <a:endParaRPr lang="en-US" sz="2200" dirty="0"/>
          </a:p>
        </p:txBody>
      </p:sp>
      <p:sp>
        <p:nvSpPr>
          <p:cNvPr id="7" name="항목2"/>
          <p:cNvSpPr/>
          <p:nvPr/>
        </p:nvSpPr>
        <p:spPr>
          <a:xfrm>
            <a:off x="1828800" y="2633472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57400" y="2816352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57400" y="2816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2633472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[2단계]</a:t>
            </a:r>
            <a:endParaRPr lang="en-US" sz="2200" dirty="0"/>
          </a:p>
        </p:txBody>
      </p:sp>
      <p:sp>
        <p:nvSpPr>
          <p:cNvPr id="11" name="항목3"/>
          <p:cNvSpPr/>
          <p:nvPr/>
        </p:nvSpPr>
        <p:spPr>
          <a:xfrm>
            <a:off x="1828800" y="3666744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57400" y="3849624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057400" y="38496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788920" y="3666744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[3단계]</a:t>
            </a:r>
            <a:endParaRPr lang="en-US" sz="2200" dirty="0"/>
          </a:p>
        </p:txBody>
      </p:sp>
      <p:sp>
        <p:nvSpPr>
          <p:cNvPr id="15" name="항목4"/>
          <p:cNvSpPr/>
          <p:nvPr/>
        </p:nvSpPr>
        <p:spPr>
          <a:xfrm>
            <a:off x="1828800" y="4700016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57400" y="4882896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057400" y="4882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2788920" y="4700016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[4단계]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117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 이제 여러분 차례예요</a:t>
            </a:r>
            <a:endParaRPr lang="en-US" sz="10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막히면 </a:t>
            </a:r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남겨주세요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[스태프가 바로 답변]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 이제 여러분 차례예요</a:t>
            </a:r>
            <a:endParaRPr lang="en-US" sz="10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</a:t>
            </a:r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안내</a:t>
            </a:r>
            <a:endParaRPr lang="en-US" sz="3200" dirty="0"/>
          </a:p>
        </p:txBody>
      </p:sp>
      <p:sp>
        <p:nvSpPr>
          <p:cNvPr id="3" name="항목1"/>
          <p:cNvSpPr/>
          <p:nvPr/>
        </p:nvSpPr>
        <p:spPr>
          <a:xfrm>
            <a:off x="1828800" y="1600200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57400" y="1783080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05740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2788920" y="1600200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제출할 것: [항목]</a:t>
            </a:r>
            <a:endParaRPr lang="en-US" sz="2200" dirty="0"/>
          </a:p>
        </p:txBody>
      </p:sp>
      <p:sp>
        <p:nvSpPr>
          <p:cNvPr id="7" name="항목2"/>
          <p:cNvSpPr/>
          <p:nvPr/>
        </p:nvSpPr>
        <p:spPr>
          <a:xfrm>
            <a:off x="1828800" y="2633472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57400" y="2816352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57400" y="2816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2633472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제출처: [링크]</a:t>
            </a:r>
            <a:endParaRPr lang="en-US" sz="2200" dirty="0"/>
          </a:p>
        </p:txBody>
      </p:sp>
      <p:sp>
        <p:nvSpPr>
          <p:cNvPr id="11" name="항목3"/>
          <p:cNvSpPr/>
          <p:nvPr/>
        </p:nvSpPr>
        <p:spPr>
          <a:xfrm>
            <a:off x="1828800" y="3666744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57400" y="3849624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057400" y="38496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788920" y="3666744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마감: [시각]</a:t>
            </a:r>
            <a:endParaRPr lang="en-US" sz="2200" dirty="0"/>
          </a:p>
        </p:txBody>
      </p:sp>
      <p:sp>
        <p:nvSpPr>
          <p:cNvPr id="15" name="항목4"/>
          <p:cNvSpPr/>
          <p:nvPr/>
        </p:nvSpPr>
        <p:spPr>
          <a:xfrm>
            <a:off x="1828800" y="4700016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57400" y="4882896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057400" y="4882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2788920" y="4700016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기준: 고객 · 문제 · 오늘 배운 순서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119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 이제 여러분 차례예요</a:t>
            </a:r>
            <a:endParaRPr lang="en-US" sz="10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벌써 </a:t>
            </a:r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제출하신</a:t>
            </a:r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분들</a:t>
            </a:r>
            <a:endParaRPr lang="en-US" sz="3200" dirty="0"/>
          </a:p>
        </p:txBody>
      </p:sp>
      <p:sp>
        <p:nvSpPr>
          <p:cNvPr id="3" name="자료자리"/>
          <p:cNvSpPr/>
          <p:nvPr/>
        </p:nvSpPr>
        <p:spPr>
          <a:xfrm>
            <a:off x="1463040" y="1600200"/>
            <a:ext cx="9265615" cy="4480560"/>
          </a:xfrm>
          <a:prstGeom prst="rect">
            <a:avLst/>
          </a:prstGeom>
          <a:solidFill>
            <a:srgbClr val="F5F5F5"/>
          </a:solidFill>
          <a:ln w="15875">
            <a:solidFill>
              <a:srgbClr val="BBBBBB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1737360" y="1600200"/>
            <a:ext cx="8716975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넣을 자리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[실시간 제출작 2~3개 화면]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 이제 여러분 차례예요</a:t>
            </a:r>
            <a:endParaRPr lang="en-US" sz="10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쉬는 시간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10분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아직 안 하신 분은 이때 마무리하세요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 이제 여러분 차례예요</a:t>
            </a:r>
            <a:endParaRPr lang="en-US" sz="10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288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0040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만들었으면 팔아야죠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12. 만들었으면 팔아야죠</a:t>
            </a:r>
            <a:endParaRPr lang="en-US" sz="10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질문표시"/>
          <p:cNvSpPr/>
          <p:nvPr/>
        </p:nvSpPr>
        <p:spPr>
          <a:xfrm>
            <a:off x="5775808" y="1325880"/>
            <a:ext cx="640080" cy="64008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775808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9456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만드는 건 알겠는데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팔아요?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12. 만들었으면 팔아야죠</a:t>
            </a:r>
            <a:endParaRPr lang="en-US" sz="10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수강생들이 </a:t>
            </a:r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제일 많이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멈추는 곳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만들고 나서 · 파는 단계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12. 만들었으면 팔아야죠</a:t>
            </a:r>
            <a:endParaRPr lang="en-US" sz="10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못 낸 </a:t>
            </a:r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가지 이유</a:t>
            </a:r>
            <a:endParaRPr lang="en-US" sz="3200" dirty="0"/>
          </a:p>
        </p:txBody>
      </p:sp>
      <p:sp>
        <p:nvSpPr>
          <p:cNvPr id="3" name="항목1"/>
          <p:cNvSpPr/>
          <p:nvPr/>
        </p:nvSpPr>
        <p:spPr>
          <a:xfrm>
            <a:off x="1828800" y="1600200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57400" y="1783080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05740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2788920" y="1600200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실행을 안 했다</a:t>
            </a:r>
            <a:endParaRPr lang="en-US" sz="2200" dirty="0"/>
          </a:p>
        </p:txBody>
      </p:sp>
      <p:sp>
        <p:nvSpPr>
          <p:cNvPr id="7" name="항목2"/>
          <p:cNvSpPr/>
          <p:nvPr/>
        </p:nvSpPr>
        <p:spPr>
          <a:xfrm>
            <a:off x="1828800" y="2633472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57400" y="2816352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57400" y="2816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2633472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광고비를 안 썼다</a:t>
            </a:r>
            <a:endParaRPr lang="en-US" sz="2200" dirty="0"/>
          </a:p>
        </p:txBody>
      </p:sp>
      <p:sp>
        <p:nvSpPr>
          <p:cNvPr id="11" name="항목3"/>
          <p:cNvSpPr/>
          <p:nvPr/>
        </p:nvSpPr>
        <p:spPr>
          <a:xfrm>
            <a:off x="1828800" y="3666744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57400" y="3849624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057400" y="38496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788920" y="3666744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 페이지가 약했다</a:t>
            </a:r>
            <a:endParaRPr lang="en-US" sz="2200" dirty="0"/>
          </a:p>
        </p:txBody>
      </p:sp>
      <p:sp>
        <p:nvSpPr>
          <p:cNvPr id="15" name="항목4"/>
          <p:cNvSpPr/>
          <p:nvPr/>
        </p:nvSpPr>
        <p:spPr>
          <a:xfrm>
            <a:off x="1828800" y="4700016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57400" y="4882896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057400" y="4882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2788920" y="4700016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주제가 약했다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125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12. 만들었으면 팔아야죠</a:t>
            </a:r>
            <a:endParaRPr lang="en-US" sz="10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전자책 판매 </a:t>
            </a:r>
            <a:pPr algn="ctr" indent="0" marL="0">
              <a:buNone/>
            </a:pPr>
            <a:r>
              <a:rPr lang="en-US" sz="3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흐름</a:t>
            </a:r>
            <a:endParaRPr lang="en-US" sz="3400" dirty="0"/>
          </a:p>
        </p:txBody>
      </p:sp>
      <p:sp>
        <p:nvSpPr>
          <p:cNvPr id="3" name="단계1"/>
          <p:cNvSpPr/>
          <p:nvPr/>
        </p:nvSpPr>
        <p:spPr>
          <a:xfrm>
            <a:off x="723748" y="2743200"/>
            <a:ext cx="2377440" cy="1463040"/>
          </a:xfrm>
          <a:prstGeom prst="roundRect">
            <a:avLst>
              <a:gd name="adj" fmla="val 9375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15188" y="27432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메타 광고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3101188" y="2743200"/>
            <a:ext cx="411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6" name="단계2"/>
          <p:cNvSpPr/>
          <p:nvPr/>
        </p:nvSpPr>
        <p:spPr>
          <a:xfrm>
            <a:off x="3512668" y="2743200"/>
            <a:ext cx="2377440" cy="1463040"/>
          </a:xfrm>
          <a:prstGeom prst="roundRect">
            <a:avLst>
              <a:gd name="adj" fmla="val 9375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04108" y="27432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 페이지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890108" y="2743200"/>
            <a:ext cx="411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단계3"/>
          <p:cNvSpPr/>
          <p:nvPr/>
        </p:nvSpPr>
        <p:spPr>
          <a:xfrm>
            <a:off x="6301588" y="2743200"/>
            <a:ext cx="2377440" cy="1463040"/>
          </a:xfrm>
          <a:prstGeom prst="roundRect">
            <a:avLst>
              <a:gd name="adj" fmla="val 9375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93028" y="27432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679028" y="2743200"/>
            <a:ext cx="411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단계4"/>
          <p:cNvSpPr/>
          <p:nvPr/>
        </p:nvSpPr>
        <p:spPr>
          <a:xfrm>
            <a:off x="9090508" y="2743200"/>
            <a:ext cx="2377440" cy="1463040"/>
          </a:xfrm>
          <a:prstGeom prst="roundRect">
            <a:avLst>
              <a:gd name="adj" fmla="val 9375"/>
            </a:avLst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81948" y="27432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 자동 전달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126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12. 만들었으면 팔아야죠</a:t>
            </a:r>
            <a:endParaRPr lang="en-US" sz="10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판매는 </a:t>
            </a:r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크래킷</a:t>
            </a:r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37160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 페이지 · 결제 · 파일 전달을 한 번에</a:t>
            </a:r>
            <a:endParaRPr lang="en-US" sz="1800" dirty="0"/>
          </a:p>
        </p:txBody>
      </p:sp>
      <p:sp>
        <p:nvSpPr>
          <p:cNvPr id="4" name="자료자리"/>
          <p:cNvSpPr/>
          <p:nvPr/>
        </p:nvSpPr>
        <p:spPr>
          <a:xfrm>
            <a:off x="1463040" y="1965960"/>
            <a:ext cx="9265615" cy="4114800"/>
          </a:xfrm>
          <a:prstGeom prst="rect">
            <a:avLst/>
          </a:prstGeom>
          <a:solidFill>
            <a:srgbClr val="F5F5F5"/>
          </a:solidFill>
          <a:ln w="15875">
            <a:solidFill>
              <a:srgbClr val="BBBBBB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1737360" y="1965960"/>
            <a:ext cx="871697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넣을 자리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[크래킷 판매 페이지 화면]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127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12. 만들었으면 팔아야죠</a:t>
            </a:r>
            <a:endParaRPr lang="en-US" sz="10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제가 </a:t>
            </a:r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돌린</a:t>
            </a:r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광고</a:t>
            </a:r>
            <a:endParaRPr lang="en-US" sz="3200" dirty="0"/>
          </a:p>
        </p:txBody>
      </p:sp>
      <p:sp>
        <p:nvSpPr>
          <p:cNvPr id="3" name="자료자리"/>
          <p:cNvSpPr/>
          <p:nvPr/>
        </p:nvSpPr>
        <p:spPr>
          <a:xfrm>
            <a:off x="1463040" y="1600200"/>
            <a:ext cx="9265615" cy="4480560"/>
          </a:xfrm>
          <a:prstGeom prst="rect">
            <a:avLst/>
          </a:prstGeom>
          <a:solidFill>
            <a:srgbClr val="F5F5F5"/>
          </a:solidFill>
          <a:ln w="15875">
            <a:solidFill>
              <a:srgbClr val="BBBBBB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1737360" y="1600200"/>
            <a:ext cx="8716975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넣을 자리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[메타 광고 소재 이미지 · 영상 · 문구]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12. 만들었으면 팔아야죠</a:t>
            </a:r>
            <a:endParaRPr lang="en-US" sz="10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광고는 </a:t>
            </a:r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노렸을까요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[타깃 · 그 사람의 문제 · 스크롤을 멈춘 문장]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129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12. 만들었으면 팔아야죠</a:t>
            </a:r>
            <a:endParaRPr lang="en-US" sz="10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 </a:t>
            </a:r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</a:t>
            </a:r>
            <a:endParaRPr lang="en-US" sz="3200" dirty="0"/>
          </a:p>
        </p:txBody>
      </p:sp>
      <p:sp>
        <p:nvSpPr>
          <p:cNvPr id="3" name="자료자리"/>
          <p:cNvSpPr/>
          <p:nvPr/>
        </p:nvSpPr>
        <p:spPr>
          <a:xfrm>
            <a:off x="1463040" y="1600200"/>
            <a:ext cx="9265615" cy="4480560"/>
          </a:xfrm>
          <a:prstGeom prst="rect">
            <a:avLst/>
          </a:prstGeom>
          <a:solidFill>
            <a:srgbClr val="F5F5F5"/>
          </a:solidFill>
          <a:ln w="15875">
            <a:solidFill>
              <a:srgbClr val="BBBBBB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1737360" y="1600200"/>
            <a:ext cx="8716975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넣을 자리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[광고비 · 노출 · 클릭 · 구매 · 매출 캡처]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12. 만들었으면 팔아야죠</a:t>
            </a:r>
            <a:endParaRPr lang="en-US" sz="100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숫자로 계산해볼게요</a:t>
            </a:r>
            <a:endParaRPr lang="en-US" sz="3200" dirty="0"/>
          </a:p>
        </p:txBody>
      </p:sp>
      <p:graphicFrame>
        <p:nvGraphicFramePr>
          <p:cNvPr id="1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00200"/>
          <a:ext cx="10728655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6035040"/>
                <a:gridCol w="3413455"/>
              </a:tblGrid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하루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달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판매 [○]건 × 5만원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[○○만원]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[○○○만원]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광고비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2~2.5만원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60~75만원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남는 돈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[○○만원]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[○○○만원]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12. 만들었으면 팔아야죠</a:t>
            </a:r>
            <a:endParaRPr lang="en-US" sz="10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광고를 누르면 보는 </a:t>
            </a:r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 페이지</a:t>
            </a:r>
            <a:endParaRPr lang="en-US" sz="3200" dirty="0"/>
          </a:p>
        </p:txBody>
      </p:sp>
      <p:sp>
        <p:nvSpPr>
          <p:cNvPr id="3" name="자료자리"/>
          <p:cNvSpPr/>
          <p:nvPr/>
        </p:nvSpPr>
        <p:spPr>
          <a:xfrm>
            <a:off x="1463040" y="1600200"/>
            <a:ext cx="9265615" cy="4480560"/>
          </a:xfrm>
          <a:prstGeom prst="rect">
            <a:avLst/>
          </a:prstGeom>
          <a:solidFill>
            <a:srgbClr val="F5F5F5"/>
          </a:solidFill>
          <a:ln w="15875">
            <a:solidFill>
              <a:srgbClr val="BBBBBB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1737360" y="1600200"/>
            <a:ext cx="8716975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넣을 자리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[실제 상세페이지 화면]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12. 만들었으면 팔아야죠</a:t>
            </a:r>
            <a:endParaRPr lang="en-US" sz="100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팔리는 판매 페이지 </a:t>
            </a:r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</a:t>
            </a:r>
            <a:endParaRPr lang="en-US" sz="3200" dirty="0"/>
          </a:p>
        </p:txBody>
      </p:sp>
      <p:sp>
        <p:nvSpPr>
          <p:cNvPr id="3" name="항목1"/>
          <p:cNvSpPr/>
          <p:nvPr/>
        </p:nvSpPr>
        <p:spPr>
          <a:xfrm>
            <a:off x="1828800" y="1600200"/>
            <a:ext cx="8534095" cy="764438"/>
          </a:xfrm>
          <a:prstGeom prst="roundRect">
            <a:avLst>
              <a:gd name="adj" fmla="val 1435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57400" y="1730959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057400" y="173095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2788920" y="1600200"/>
            <a:ext cx="7345375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독자가 겪는 장면으로 시작</a:t>
            </a:r>
            <a:endParaRPr lang="en-US" sz="2200" dirty="0"/>
          </a:p>
        </p:txBody>
      </p:sp>
      <p:sp>
        <p:nvSpPr>
          <p:cNvPr id="7" name="항목2"/>
          <p:cNvSpPr/>
          <p:nvPr/>
        </p:nvSpPr>
        <p:spPr>
          <a:xfrm>
            <a:off x="1828800" y="2529230"/>
            <a:ext cx="8534095" cy="764438"/>
          </a:xfrm>
          <a:prstGeom prst="roundRect">
            <a:avLst>
              <a:gd name="adj" fmla="val 1435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57400" y="2659990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57400" y="265999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2529230"/>
            <a:ext cx="7345375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지금까지 안 됐는지</a:t>
            </a:r>
            <a:endParaRPr lang="en-US" sz="2200" dirty="0"/>
          </a:p>
        </p:txBody>
      </p:sp>
      <p:sp>
        <p:nvSpPr>
          <p:cNvPr id="11" name="항목3"/>
          <p:cNvSpPr/>
          <p:nvPr/>
        </p:nvSpPr>
        <p:spPr>
          <a:xfrm>
            <a:off x="1828800" y="3458261"/>
            <a:ext cx="8534095" cy="764438"/>
          </a:xfrm>
          <a:prstGeom prst="roundRect">
            <a:avLst>
              <a:gd name="adj" fmla="val 1435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57400" y="3589020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057400" y="35890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788920" y="3458261"/>
            <a:ext cx="7345375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책이 주는 답</a:t>
            </a:r>
            <a:endParaRPr lang="en-US" sz="2200" dirty="0"/>
          </a:p>
        </p:txBody>
      </p:sp>
      <p:sp>
        <p:nvSpPr>
          <p:cNvPr id="15" name="항목4"/>
          <p:cNvSpPr/>
          <p:nvPr/>
        </p:nvSpPr>
        <p:spPr>
          <a:xfrm>
            <a:off x="1828800" y="4387291"/>
            <a:ext cx="8534095" cy="764438"/>
          </a:xfrm>
          <a:prstGeom prst="roundRect">
            <a:avLst>
              <a:gd name="adj" fmla="val 1435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57400" y="4518050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057400" y="451805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2788920" y="4387291"/>
            <a:ext cx="7345375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 · 미리보기</a:t>
            </a:r>
            <a:endParaRPr lang="en-US" sz="2200" dirty="0"/>
          </a:p>
        </p:txBody>
      </p:sp>
      <p:sp>
        <p:nvSpPr>
          <p:cNvPr id="19" name="항목5"/>
          <p:cNvSpPr/>
          <p:nvPr/>
        </p:nvSpPr>
        <p:spPr>
          <a:xfrm>
            <a:off x="1828800" y="5316322"/>
            <a:ext cx="8534095" cy="764438"/>
          </a:xfrm>
          <a:prstGeom prst="roundRect">
            <a:avLst>
              <a:gd name="adj" fmla="val 1435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57400" y="5447081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057400" y="5447081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2788920" y="5316322"/>
            <a:ext cx="7345375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후기 · 가격 · 결제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133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12. 만들었으면 팔아야죠</a:t>
            </a:r>
            <a:endParaRPr lang="en-US" sz="100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이후는 </a:t>
            </a:r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완료 → PDF 링크 자동 발송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12. 만들었으면 팔아야죠</a:t>
            </a:r>
            <a:endParaRPr lang="en-US" sz="100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</a:t>
            </a:r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하는 일 · </a:t>
            </a:r>
            <a:pPr algn="ctr" indent="0" marL="0">
              <a:buNone/>
            </a:pPr>
            <a:r>
              <a:rPr lang="en-US" sz="3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</a:t>
            </a:r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하는 일</a:t>
            </a:r>
            <a:endParaRPr lang="en-US" sz="3400" dirty="0"/>
          </a:p>
        </p:txBody>
      </p:sp>
      <p:sp>
        <p:nvSpPr>
          <p:cNvPr id="3" name="왼쪽"/>
          <p:cNvSpPr/>
          <p:nvPr/>
        </p:nvSpPr>
        <p:spPr>
          <a:xfrm>
            <a:off x="914400" y="1737360"/>
            <a:ext cx="4952848" cy="4206240"/>
          </a:xfrm>
          <a:prstGeom prst="roundRect">
            <a:avLst>
              <a:gd name="adj" fmla="val 3261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88720" y="201168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2834640"/>
            <a:ext cx="422132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 · 표지 · 판매 페이지 초안</a:t>
            </a:r>
            <a:endParaRPr lang="en-US" sz="2000" dirty="0"/>
          </a:p>
        </p:txBody>
      </p:sp>
      <p:sp>
        <p:nvSpPr>
          <p:cNvPr id="6" name="오른쪽"/>
          <p:cNvSpPr/>
          <p:nvPr/>
        </p:nvSpPr>
        <p:spPr>
          <a:xfrm>
            <a:off x="6324448" y="1737360"/>
            <a:ext cx="4952848" cy="4206240"/>
          </a:xfrm>
          <a:prstGeom prst="roundRect">
            <a:avLst>
              <a:gd name="adj" fmla="val 3261"/>
            </a:avLst>
          </a:prstGeom>
          <a:solidFill>
            <a:srgbClr val="FDECEB"/>
          </a:solidFill>
          <a:ln w="12700">
            <a:solidFill>
              <a:srgbClr val="F4B9B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98768" y="201168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 + 수업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6690208" y="2834640"/>
            <a:ext cx="422132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타깃 · 예산 · 성과 보고 고치기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[광고 지원 방식]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135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12. 만들었으면 팔아야죠</a:t>
            </a:r>
            <a:endParaRPr lang="en-US" sz="100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288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0040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저만 되는 거 아니에요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13. 저만 되는 거 아니에요</a:t>
            </a:r>
            <a:endParaRPr lang="en-US" sz="100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질문표시"/>
          <p:cNvSpPr/>
          <p:nvPr/>
        </p:nvSpPr>
        <p:spPr>
          <a:xfrm>
            <a:off x="5775808" y="1325880"/>
            <a:ext cx="640080" cy="64008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775808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9456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"그건 </a:t>
            </a:r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[활동명]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이니까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되는 거 아니에요?"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137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13. 저만 되는 거 아니에요</a:t>
            </a:r>
            <a:endParaRPr lang="en-US" sz="100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수강생 A · </a:t>
            </a:r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[직업 · 나이]</a:t>
            </a:r>
            <a:endParaRPr lang="en-US" sz="3200" dirty="0"/>
          </a:p>
        </p:txBody>
      </p:sp>
      <p:sp>
        <p:nvSpPr>
          <p:cNvPr id="3" name="자료자리"/>
          <p:cNvSpPr/>
          <p:nvPr/>
        </p:nvSpPr>
        <p:spPr>
          <a:xfrm>
            <a:off x="1463040" y="1600200"/>
            <a:ext cx="9265615" cy="4480560"/>
          </a:xfrm>
          <a:prstGeom prst="rect">
            <a:avLst/>
          </a:prstGeom>
          <a:solidFill>
            <a:srgbClr val="F5F5F5"/>
          </a:solidFill>
          <a:ln w="15875">
            <a:solidFill>
              <a:srgbClr val="BBBBBB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1737360" y="1600200"/>
            <a:ext cx="8716975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넣을 자리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[시작 당시 상황 · 고민]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138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13. 저만 되는 거 아니에요</a:t>
            </a:r>
            <a:endParaRPr lang="en-US" sz="1000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</a:t>
            </a:r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</a:t>
            </a:r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팔았나</a:t>
            </a:r>
            <a:endParaRPr lang="en-US" sz="3200" dirty="0"/>
          </a:p>
        </p:txBody>
      </p:sp>
      <p:sp>
        <p:nvSpPr>
          <p:cNvPr id="3" name="자료자리"/>
          <p:cNvSpPr/>
          <p:nvPr/>
        </p:nvSpPr>
        <p:spPr>
          <a:xfrm>
            <a:off x="1463040" y="1600200"/>
            <a:ext cx="9265615" cy="4480560"/>
          </a:xfrm>
          <a:prstGeom prst="rect">
            <a:avLst/>
          </a:prstGeom>
          <a:solidFill>
            <a:srgbClr val="F5F5F5"/>
          </a:solidFill>
          <a:ln w="15875">
            <a:solidFill>
              <a:srgbClr val="BBBBBB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1737360" y="1600200"/>
            <a:ext cx="8716975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넣을 자리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[주제 · 실제 전자책 · 실행 과정]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139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13. 저만 되는 거 아니에요</a:t>
            </a:r>
            <a:endParaRPr lang="en-US" sz="1000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3개월</a:t>
            </a:r>
            <a:pPr algn="ctr" indent="0" marL="0">
              <a:buNone/>
            </a:pPr>
            <a:r>
              <a:rPr lang="en-US" sz="6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만에 </a:t>
            </a:r>
            <a:pPr algn="ctr" indent="0" marL="0">
              <a:buNone/>
            </a:pPr>
            <a:r>
              <a:rPr lang="en-US" sz="60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2,000만원+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[매출 자료 · 본인 후기]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13. 저만 되는 거 아니에요</a:t>
            </a:r>
            <a:endParaRPr lang="en-US" sz="1000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성준 님 · </a:t>
            </a:r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[직업 · 나이]</a:t>
            </a:r>
            <a:endParaRPr lang="en-US" sz="3200" dirty="0"/>
          </a:p>
        </p:txBody>
      </p:sp>
      <p:sp>
        <p:nvSpPr>
          <p:cNvPr id="3" name="자료자리"/>
          <p:cNvSpPr/>
          <p:nvPr/>
        </p:nvSpPr>
        <p:spPr>
          <a:xfrm>
            <a:off x="1463040" y="1600200"/>
            <a:ext cx="9265615" cy="4480560"/>
          </a:xfrm>
          <a:prstGeom prst="rect">
            <a:avLst/>
          </a:prstGeom>
          <a:solidFill>
            <a:srgbClr val="F5F5F5"/>
          </a:solidFill>
          <a:ln w="15875">
            <a:solidFill>
              <a:srgbClr val="BBBBBB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1737360" y="1600200"/>
            <a:ext cx="8716975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넣을 자리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[시작 당시 상황]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13. 저만 되는 거 아니에요</a:t>
            </a:r>
            <a:endParaRPr lang="en-US" sz="1000" dirty="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</a:t>
            </a:r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</a:t>
            </a:r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팔았나</a:t>
            </a:r>
            <a:endParaRPr lang="en-US" sz="3200" dirty="0"/>
          </a:p>
        </p:txBody>
      </p:sp>
      <p:sp>
        <p:nvSpPr>
          <p:cNvPr id="3" name="자료자리"/>
          <p:cNvSpPr/>
          <p:nvPr/>
        </p:nvSpPr>
        <p:spPr>
          <a:xfrm>
            <a:off x="1463040" y="1600200"/>
            <a:ext cx="9265615" cy="4480560"/>
          </a:xfrm>
          <a:prstGeom prst="rect">
            <a:avLst/>
          </a:prstGeom>
          <a:solidFill>
            <a:srgbClr val="F5F5F5"/>
          </a:solidFill>
          <a:ln w="15875">
            <a:solidFill>
              <a:srgbClr val="BBBBBB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1737360" y="1600200"/>
            <a:ext cx="8716975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넣을 자리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[주제 · 실제 전자책 · 실행 과정]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13. 저만 되는 거 아니에요</a:t>
            </a:r>
            <a:endParaRPr lang="en-US" sz="1000" dirty="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2.5개월</a:t>
            </a:r>
            <a:pPr algn="ctr" indent="0" marL="0">
              <a:buNone/>
            </a:pPr>
            <a:r>
              <a:rPr lang="en-US" sz="6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만에 </a:t>
            </a:r>
            <a:pPr algn="ctr" indent="0" marL="0">
              <a:buNone/>
            </a:pPr>
            <a:r>
              <a:rPr lang="en-US" sz="60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900만원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[매출 자료 · 본인 후기]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13. 저만 되는 거 아니에요</a:t>
            </a:r>
            <a:endParaRPr lang="en-US" sz="1000" dirty="0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서울대 재학생</a:t>
            </a:r>
            <a:endParaRPr lang="en-US" sz="3200" dirty="0"/>
          </a:p>
        </p:txBody>
      </p:sp>
      <p:sp>
        <p:nvSpPr>
          <p:cNvPr id="3" name="자료자리"/>
          <p:cNvSpPr/>
          <p:nvPr/>
        </p:nvSpPr>
        <p:spPr>
          <a:xfrm>
            <a:off x="1463040" y="1600200"/>
            <a:ext cx="9265615" cy="4480560"/>
          </a:xfrm>
          <a:prstGeom prst="rect">
            <a:avLst/>
          </a:prstGeom>
          <a:solidFill>
            <a:srgbClr val="F5F5F5"/>
          </a:solidFill>
          <a:ln w="15875">
            <a:solidFill>
              <a:srgbClr val="BBBBBB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1737360" y="1600200"/>
            <a:ext cx="8716975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넣을 자리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[시작 당시 상황 · 주제]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13. 저만 되는 거 아니에요</a:t>
            </a:r>
            <a:endParaRPr lang="en-US" sz="1000" dirty="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3주</a:t>
            </a:r>
            <a:pPr algn="ctr" indent="0" marL="0">
              <a:buNone/>
            </a:pPr>
            <a:r>
              <a:rPr lang="en-US" sz="6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만에 </a:t>
            </a:r>
            <a:pPr algn="ctr" indent="0" marL="0">
              <a:buNone/>
            </a:pPr>
            <a:r>
              <a:rPr lang="en-US" sz="60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100여만원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[매출 자료 · 본인 후기]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13. 저만 되는 거 아니에요</a:t>
            </a:r>
            <a:endParaRPr lang="en-US" sz="1000" dirty="0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수강생 </a:t>
            </a:r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인터뷰</a:t>
            </a:r>
            <a:endParaRPr lang="en-US" sz="3200" dirty="0"/>
          </a:p>
        </p:txBody>
      </p:sp>
      <p:sp>
        <p:nvSpPr>
          <p:cNvPr id="3" name="자료자리"/>
          <p:cNvSpPr/>
          <p:nvPr/>
        </p:nvSpPr>
        <p:spPr>
          <a:xfrm>
            <a:off x="1463040" y="1600200"/>
            <a:ext cx="9265615" cy="4480560"/>
          </a:xfrm>
          <a:prstGeom prst="rect">
            <a:avLst/>
          </a:prstGeom>
          <a:solidFill>
            <a:srgbClr val="F5F5F5"/>
          </a:solidFill>
          <a:ln w="15875">
            <a:solidFill>
              <a:srgbClr val="BBBBBB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1737360" y="1600200"/>
            <a:ext cx="8716975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넣을 자리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[실제 수강생 인터뷰 영상 · 통화 녹음 (본인 동의)]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13. 저만 되는 거 아니에요</a:t>
            </a:r>
            <a:endParaRPr lang="en-US" sz="1000" dirty="0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분의 </a:t>
            </a:r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공통점</a:t>
            </a:r>
            <a:endParaRPr lang="en-US" sz="3200" dirty="0"/>
          </a:p>
        </p:txBody>
      </p:sp>
      <p:sp>
        <p:nvSpPr>
          <p:cNvPr id="3" name="항목1"/>
          <p:cNvSpPr/>
          <p:nvPr/>
        </p:nvSpPr>
        <p:spPr>
          <a:xfrm>
            <a:off x="1828800" y="1600200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57400" y="1783080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05740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2788920" y="1600200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넓은 주제 대신 한 사람의 문제를 골랐다</a:t>
            </a:r>
            <a:endParaRPr lang="en-US" sz="2200" dirty="0"/>
          </a:p>
        </p:txBody>
      </p:sp>
      <p:sp>
        <p:nvSpPr>
          <p:cNvPr id="7" name="항목2"/>
          <p:cNvSpPr/>
          <p:nvPr/>
        </p:nvSpPr>
        <p:spPr>
          <a:xfrm>
            <a:off x="1828800" y="2633472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57400" y="2816352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57400" y="2816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2633472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초안에 자기 경험을 넣었다</a:t>
            </a:r>
            <a:endParaRPr lang="en-US" sz="2200" dirty="0"/>
          </a:p>
        </p:txBody>
      </p:sp>
      <p:sp>
        <p:nvSpPr>
          <p:cNvPr id="11" name="항목3"/>
          <p:cNvSpPr/>
          <p:nvPr/>
        </p:nvSpPr>
        <p:spPr>
          <a:xfrm>
            <a:off x="1828800" y="3666744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57400" y="3849624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057400" y="38496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788920" y="3666744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광고비를 아끼지 않고 먼저 팔았다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147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13. 저만 되는 거 아니에요</a:t>
            </a:r>
            <a:endParaRPr lang="en-US" sz="1000" dirty="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288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0040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한 것 정리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14. 오늘 한 것 정리</a:t>
            </a:r>
            <a:endParaRPr lang="en-US" sz="1000" dirty="0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오늘을 </a:t>
            </a:r>
            <a:pPr algn="ctr" indent="0" marL="0">
              <a:buNone/>
            </a:pPr>
            <a:r>
              <a:rPr lang="en-US" sz="3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화면</a:t>
            </a:r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</a:t>
            </a:r>
            <a:endParaRPr lang="en-US" sz="3400" dirty="0"/>
          </a:p>
        </p:txBody>
      </p:sp>
      <p:sp>
        <p:nvSpPr>
          <p:cNvPr id="3" name="단계1"/>
          <p:cNvSpPr/>
          <p:nvPr/>
        </p:nvSpPr>
        <p:spPr>
          <a:xfrm>
            <a:off x="723748" y="2743200"/>
            <a:ext cx="2377440" cy="1463040"/>
          </a:xfrm>
          <a:prstGeom prst="roundRect">
            <a:avLst>
              <a:gd name="adj" fmla="val 9375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15188" y="27432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팔리는 주제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3101188" y="2743200"/>
            <a:ext cx="411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6" name="단계2"/>
          <p:cNvSpPr/>
          <p:nvPr/>
        </p:nvSpPr>
        <p:spPr>
          <a:xfrm>
            <a:off x="3512668" y="2743200"/>
            <a:ext cx="2377440" cy="1463040"/>
          </a:xfrm>
          <a:prstGeom prst="roundRect">
            <a:avLst>
              <a:gd name="adj" fmla="val 9375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04108" y="27432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프로그램으로 제작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890108" y="2743200"/>
            <a:ext cx="411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단계3"/>
          <p:cNvSpPr/>
          <p:nvPr/>
        </p:nvSpPr>
        <p:spPr>
          <a:xfrm>
            <a:off x="6301588" y="2743200"/>
            <a:ext cx="2377440" cy="1463040"/>
          </a:xfrm>
          <a:prstGeom prst="roundRect">
            <a:avLst>
              <a:gd name="adj" fmla="val 9375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93028" y="27432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크래킷 판매 페이지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679028" y="2743200"/>
            <a:ext cx="411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단계4"/>
          <p:cNvSpPr/>
          <p:nvPr/>
        </p:nvSpPr>
        <p:spPr>
          <a:xfrm>
            <a:off x="9090508" y="2743200"/>
            <a:ext cx="2377440" cy="1463040"/>
          </a:xfrm>
          <a:prstGeom prst="roundRect">
            <a:avLst>
              <a:gd name="adj" fmla="val 9375"/>
            </a:avLst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81948" y="27432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메타 광고 · 자동 판매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149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14. 오늘 한 것 정리</a:t>
            </a:r>
            <a:endParaRPr lang="en-US" sz="1000" dirty="0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여러분은 오늘 </a:t>
            </a:r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했어요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고객 · 내 주제 · 내 목차 · 첫 페이지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14. 오늘 한 것 정리</a:t>
            </a:r>
            <a:endParaRPr lang="en-US" sz="1000" dirty="0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이제 </a:t>
            </a:r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것</a:t>
            </a:r>
            <a:endParaRPr lang="en-US" sz="3200" dirty="0"/>
          </a:p>
        </p:txBody>
      </p:sp>
      <p:sp>
        <p:nvSpPr>
          <p:cNvPr id="3" name="항목1"/>
          <p:cNvSpPr/>
          <p:nvPr/>
        </p:nvSpPr>
        <p:spPr>
          <a:xfrm>
            <a:off x="1828800" y="1600200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57400" y="1783080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05740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2788920" y="1600200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나머지 원고 완성하기</a:t>
            </a:r>
            <a:endParaRPr lang="en-US" sz="2200" dirty="0"/>
          </a:p>
        </p:txBody>
      </p:sp>
      <p:sp>
        <p:nvSpPr>
          <p:cNvPr id="7" name="항목2"/>
          <p:cNvSpPr/>
          <p:nvPr/>
        </p:nvSpPr>
        <p:spPr>
          <a:xfrm>
            <a:off x="1828800" y="2633472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57400" y="2816352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57400" y="2816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2633472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표지 · 판매 페이지 만들기</a:t>
            </a:r>
            <a:endParaRPr lang="en-US" sz="2200" dirty="0"/>
          </a:p>
        </p:txBody>
      </p:sp>
      <p:sp>
        <p:nvSpPr>
          <p:cNvPr id="11" name="항목3"/>
          <p:cNvSpPr/>
          <p:nvPr/>
        </p:nvSpPr>
        <p:spPr>
          <a:xfrm>
            <a:off x="1828800" y="3666744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57400" y="3849624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057400" y="38496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788920" y="3666744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크래킷에 올리기</a:t>
            </a:r>
            <a:endParaRPr lang="en-US" sz="2200" dirty="0"/>
          </a:p>
        </p:txBody>
      </p:sp>
      <p:sp>
        <p:nvSpPr>
          <p:cNvPr id="15" name="항목4"/>
          <p:cNvSpPr/>
          <p:nvPr/>
        </p:nvSpPr>
        <p:spPr>
          <a:xfrm>
            <a:off x="1828800" y="4700016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57400" y="4882896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057400" y="4882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2788920" y="4700016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 켜고 첫 판매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151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14. 오늘 한 것 정리</a:t>
            </a:r>
            <a:endParaRPr lang="en-US" sz="1000" dirty="0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288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0040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쓴 프로그램, 계속 쓰려면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15. 오늘 쓴 프로그램, 계속 쓰려면</a:t>
            </a:r>
            <a:endParaRPr lang="en-US" sz="1000" dirty="0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만든 책,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끝까지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만들고 싶으시죠?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번째 책 · 세 번째 책까지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15. 오늘 쓴 프로그램, 계속 쓰려면</a:t>
            </a:r>
            <a:endParaRPr lang="en-US" sz="1000" dirty="0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체험은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 중에만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열려요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[체험 종료 시점]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15. 오늘 쓴 프로그램, 계속 쓰려면</a:t>
            </a:r>
            <a:endParaRPr lang="en-US" sz="1000" dirty="0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정식 프로그램은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수강생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쓸 수 있어요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[수강료에 3개월 크레딧 포함 · 예: 10권] (확정 후)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15. 오늘 쓴 프로그램, 계속 쓰려면</a:t>
            </a:r>
            <a:endParaRPr lang="en-US" sz="1000" dirty="0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강의는 </a:t>
            </a:r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케어형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이에요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4주 안에 </a:t>
            </a:r>
            <a:pPr algn="ctr" indent="0" marL="0">
              <a:buNone/>
            </a:pPr>
            <a:r>
              <a:rPr lang="en-US" sz="2200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전자책 1권 등록 + 광고까지</a:t>
            </a:r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같이 가요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15. 오늘 쓴 프로그램, 계속 쓰려면</a:t>
            </a:r>
            <a:endParaRPr lang="en-US" sz="1000" dirty="0"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못 낸 </a:t>
            </a:r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가지 이유</a:t>
            </a:r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이렇게 막아요</a:t>
            </a:r>
            <a:endParaRPr lang="en-US" sz="3200" dirty="0"/>
          </a:p>
        </p:txBody>
      </p:sp>
      <p:sp>
        <p:nvSpPr>
          <p:cNvPr id="3" name="항목1"/>
          <p:cNvSpPr/>
          <p:nvPr/>
        </p:nvSpPr>
        <p:spPr>
          <a:xfrm>
            <a:off x="1828800" y="1600200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57400" y="1783080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05740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2788920" y="1600200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안 함 → 주차별 과제 · 체크</a:t>
            </a:r>
            <a:endParaRPr lang="en-US" sz="2200" dirty="0"/>
          </a:p>
        </p:txBody>
      </p:sp>
      <p:sp>
        <p:nvSpPr>
          <p:cNvPr id="7" name="항목2"/>
          <p:cNvSpPr/>
          <p:nvPr/>
        </p:nvSpPr>
        <p:spPr>
          <a:xfrm>
            <a:off x="1828800" y="2633472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57400" y="2816352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57400" y="2816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2633472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광고비 안 씀 → [첫 광고비 지원 방식]</a:t>
            </a:r>
            <a:endParaRPr lang="en-US" sz="2200" dirty="0"/>
          </a:p>
        </p:txBody>
      </p:sp>
      <p:sp>
        <p:nvSpPr>
          <p:cNvPr id="11" name="항목3"/>
          <p:cNvSpPr/>
          <p:nvPr/>
        </p:nvSpPr>
        <p:spPr>
          <a:xfrm>
            <a:off x="1828800" y="3666744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57400" y="3849624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057400" y="38496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788920" y="3666744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 페이지 약함 → 프로그램 초안 + 피드백</a:t>
            </a:r>
            <a:endParaRPr lang="en-US" sz="2200" dirty="0"/>
          </a:p>
        </p:txBody>
      </p:sp>
      <p:sp>
        <p:nvSpPr>
          <p:cNvPr id="15" name="항목4"/>
          <p:cNvSpPr/>
          <p:nvPr/>
        </p:nvSpPr>
        <p:spPr>
          <a:xfrm>
            <a:off x="1828800" y="4700016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57400" y="4882896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057400" y="4882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2788920" y="4700016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주제 약함 → 1:1 주제 점검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157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15. 오늘 쓴 프로그램, 계속 쓰려면</a:t>
            </a:r>
            <a:endParaRPr lang="en-US" sz="1000" dirty="0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2주차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첫 판매를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경험하게 해드려요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[첫 판매 경험 설계 확정 후]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15. 오늘 쓴 프로그램, 계속 쓰려면</a:t>
            </a:r>
            <a:endParaRPr lang="en-US" sz="1000" dirty="0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288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0040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커리큘럼 · 혜택 · 가격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159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16. 커리큘럼 · 혜택 · 가격</a:t>
            </a:r>
            <a:endParaRPr lang="en-US" sz="1000" dirty="0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4주 </a:t>
            </a:r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커리큘럼</a:t>
            </a:r>
            <a:endParaRPr lang="en-US" sz="3200" dirty="0"/>
          </a:p>
        </p:txBody>
      </p:sp>
      <p:graphicFrame>
        <p:nvGraphicFramePr>
          <p:cNvPr id="1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00200"/>
          <a:ext cx="10728655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6035040"/>
                <a:gridCol w="3413455"/>
              </a:tblGrid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주차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끝나면 남는 것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1주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마인드셋 · 팔리는 주제 찾기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주제 · 제목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2주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크래킷 가입 · 프로그램 사용법 → 과제: 전자책 1권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전자책 1권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3주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과제 체크 · 전자책 등록 · 광고 세팅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판매 페이지 · 첫 광고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4주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광고 성과 체크 · 무한 루프 (키워드 마이닝 · 다권 출간 · 광고비 비율)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 책 계획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160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16. 커리큘럼 · 혜택 · 가격</a:t>
            </a:r>
            <a:endParaRPr lang="en-US" sz="1000" dirty="0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 · </a:t>
            </a:r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마인드셋과 주제</a:t>
            </a:r>
            <a:endParaRPr lang="en-US" sz="3200" dirty="0"/>
          </a:p>
        </p:txBody>
      </p:sp>
      <p:sp>
        <p:nvSpPr>
          <p:cNvPr id="3" name="항목1"/>
          <p:cNvSpPr/>
          <p:nvPr/>
        </p:nvSpPr>
        <p:spPr>
          <a:xfrm>
            <a:off x="1828800" y="1600200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57400" y="1783080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05740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2788920" y="1600200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지금 전자책인가</a:t>
            </a:r>
            <a:endParaRPr lang="en-US" sz="2200" dirty="0"/>
          </a:p>
        </p:txBody>
      </p:sp>
      <p:sp>
        <p:nvSpPr>
          <p:cNvPr id="7" name="항목2"/>
          <p:cNvSpPr/>
          <p:nvPr/>
        </p:nvSpPr>
        <p:spPr>
          <a:xfrm>
            <a:off x="1828800" y="2633472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57400" y="2816352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57400" y="2816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2633472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경험에서 팔리는 주제 찾기</a:t>
            </a:r>
            <a:endParaRPr lang="en-US" sz="2200" dirty="0"/>
          </a:p>
        </p:txBody>
      </p:sp>
      <p:sp>
        <p:nvSpPr>
          <p:cNvPr id="11" name="항목3"/>
          <p:cNvSpPr/>
          <p:nvPr/>
        </p:nvSpPr>
        <p:spPr>
          <a:xfrm>
            <a:off x="1828800" y="3666744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57400" y="3849624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057400" y="38496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788920" y="3666744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한 명이 보이는 제목</a:t>
            </a:r>
            <a:endParaRPr lang="en-US" sz="2200" dirty="0"/>
          </a:p>
        </p:txBody>
      </p:sp>
      <p:sp>
        <p:nvSpPr>
          <p:cNvPr id="15" name="항목4"/>
          <p:cNvSpPr/>
          <p:nvPr/>
        </p:nvSpPr>
        <p:spPr>
          <a:xfrm>
            <a:off x="1828800" y="4700016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57400" y="4882896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057400" y="4882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2788920" y="4700016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포기하지 않는 사람들의 공통점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161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16. 커리큘럼 · 혜택 · 가격</a:t>
            </a:r>
            <a:endParaRPr lang="en-US" sz="1000" dirty="0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 · </a:t>
            </a:r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전자책 1권 만들기</a:t>
            </a:r>
            <a:endParaRPr lang="en-US" sz="3200" dirty="0"/>
          </a:p>
        </p:txBody>
      </p:sp>
      <p:sp>
        <p:nvSpPr>
          <p:cNvPr id="3" name="항목1"/>
          <p:cNvSpPr/>
          <p:nvPr/>
        </p:nvSpPr>
        <p:spPr>
          <a:xfrm>
            <a:off x="1828800" y="1600200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57400" y="1783080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05740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2788920" y="1600200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크래킷 가입</a:t>
            </a:r>
            <a:endParaRPr lang="en-US" sz="2200" dirty="0"/>
          </a:p>
        </p:txBody>
      </p:sp>
      <p:sp>
        <p:nvSpPr>
          <p:cNvPr id="7" name="항목2"/>
          <p:cNvSpPr/>
          <p:nvPr/>
        </p:nvSpPr>
        <p:spPr>
          <a:xfrm>
            <a:off x="1828800" y="2633472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57400" y="2816352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57400" y="2816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2633472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 사용법</a:t>
            </a:r>
            <a:endParaRPr lang="en-US" sz="2200" dirty="0"/>
          </a:p>
        </p:txBody>
      </p:sp>
      <p:sp>
        <p:nvSpPr>
          <p:cNvPr id="11" name="항목3"/>
          <p:cNvSpPr/>
          <p:nvPr/>
        </p:nvSpPr>
        <p:spPr>
          <a:xfrm>
            <a:off x="1828800" y="3666744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57400" y="3849624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057400" y="38496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788920" y="3666744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문체 고르기 · 내 경험 넣기</a:t>
            </a:r>
            <a:endParaRPr lang="en-US" sz="2200" dirty="0"/>
          </a:p>
        </p:txBody>
      </p:sp>
      <p:sp>
        <p:nvSpPr>
          <p:cNvPr id="15" name="항목4"/>
          <p:cNvSpPr/>
          <p:nvPr/>
        </p:nvSpPr>
        <p:spPr>
          <a:xfrm>
            <a:off x="1828800" y="4700016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57400" y="4882896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057400" y="4882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2788920" y="4700016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과제: 전자책 1권 완성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162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16. 커리큘럼 · 혜택 · 가격</a:t>
            </a:r>
            <a:endParaRPr lang="en-US" sz="1000" dirty="0"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3주 · </a:t>
            </a:r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등록하고 광고 켜기</a:t>
            </a:r>
            <a:endParaRPr lang="en-US" sz="3200" dirty="0"/>
          </a:p>
        </p:txBody>
      </p:sp>
      <p:sp>
        <p:nvSpPr>
          <p:cNvPr id="3" name="항목1"/>
          <p:cNvSpPr/>
          <p:nvPr/>
        </p:nvSpPr>
        <p:spPr>
          <a:xfrm>
            <a:off x="1828800" y="1600200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57400" y="1783080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05740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2788920" y="1600200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체크 · 피드백</a:t>
            </a:r>
            <a:endParaRPr lang="en-US" sz="2200" dirty="0"/>
          </a:p>
        </p:txBody>
      </p:sp>
      <p:sp>
        <p:nvSpPr>
          <p:cNvPr id="7" name="항목2"/>
          <p:cNvSpPr/>
          <p:nvPr/>
        </p:nvSpPr>
        <p:spPr>
          <a:xfrm>
            <a:off x="1828800" y="2633472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57400" y="2816352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57400" y="2816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2633472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크래킷에 전자책 등록</a:t>
            </a:r>
            <a:endParaRPr lang="en-US" sz="2200" dirty="0"/>
          </a:p>
        </p:txBody>
      </p:sp>
      <p:sp>
        <p:nvSpPr>
          <p:cNvPr id="11" name="항목3"/>
          <p:cNvSpPr/>
          <p:nvPr/>
        </p:nvSpPr>
        <p:spPr>
          <a:xfrm>
            <a:off x="1828800" y="3666744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57400" y="3849624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057400" y="38496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788920" y="3666744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 페이지 다듬기</a:t>
            </a:r>
            <a:endParaRPr lang="en-US" sz="2200" dirty="0"/>
          </a:p>
        </p:txBody>
      </p:sp>
      <p:sp>
        <p:nvSpPr>
          <p:cNvPr id="15" name="항목4"/>
          <p:cNvSpPr/>
          <p:nvPr/>
        </p:nvSpPr>
        <p:spPr>
          <a:xfrm>
            <a:off x="1828800" y="4700016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57400" y="4882896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057400" y="4882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2788920" y="4700016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메타 광고 세팅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163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16. 커리큘럼 · 혜택 · 가격</a:t>
            </a:r>
            <a:endParaRPr lang="en-US" sz="1000" dirty="0"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4주 · </a:t>
            </a:r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무한 루프</a:t>
            </a:r>
            <a:endParaRPr lang="en-US" sz="3200" dirty="0"/>
          </a:p>
        </p:txBody>
      </p:sp>
      <p:sp>
        <p:nvSpPr>
          <p:cNvPr id="3" name="항목1"/>
          <p:cNvSpPr/>
          <p:nvPr/>
        </p:nvSpPr>
        <p:spPr>
          <a:xfrm>
            <a:off x="1828800" y="1600200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57400" y="1783080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05740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2788920" y="1600200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 성과 읽는 법</a:t>
            </a:r>
            <a:endParaRPr lang="en-US" sz="2200" dirty="0"/>
          </a:p>
        </p:txBody>
      </p:sp>
      <p:sp>
        <p:nvSpPr>
          <p:cNvPr id="7" name="항목2"/>
          <p:cNvSpPr/>
          <p:nvPr/>
        </p:nvSpPr>
        <p:spPr>
          <a:xfrm>
            <a:off x="1828800" y="2633472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57400" y="2816352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57400" y="2816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2633472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광고비 올리는 타이밍</a:t>
            </a:r>
            <a:endParaRPr lang="en-US" sz="2200" dirty="0"/>
          </a:p>
        </p:txBody>
      </p:sp>
      <p:sp>
        <p:nvSpPr>
          <p:cNvPr id="11" name="항목3"/>
          <p:cNvSpPr/>
          <p:nvPr/>
        </p:nvSpPr>
        <p:spPr>
          <a:xfrm>
            <a:off x="1828800" y="3666744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57400" y="3849624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057400" y="38496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788920" y="3666744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키워드 마이닝으로 다음 주제</a:t>
            </a:r>
            <a:endParaRPr lang="en-US" sz="2200" dirty="0"/>
          </a:p>
        </p:txBody>
      </p:sp>
      <p:sp>
        <p:nvSpPr>
          <p:cNvPr id="15" name="항목4"/>
          <p:cNvSpPr/>
          <p:nvPr/>
        </p:nvSpPr>
        <p:spPr>
          <a:xfrm>
            <a:off x="1828800" y="4700016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57400" y="4882896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057400" y="4882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2788920" y="4700016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번째 · 세 번째 책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164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16. 커리큘럼 · 혜택 · 가격</a:t>
            </a:r>
            <a:endParaRPr lang="en-US" sz="1000" dirty="0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</a:t>
            </a:r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· 방식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[11/27~29 시작 · 오프라인 강의 · 촬영본 온라인 제공 · 상세 일정]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16. 커리큘럼 · 혜택 · 가격</a:t>
            </a:r>
            <a:endParaRPr lang="en-US" sz="1000" dirty="0"/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수강 </a:t>
            </a:r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혜택</a:t>
            </a:r>
            <a:endParaRPr lang="en-US" sz="3200" dirty="0"/>
          </a:p>
        </p:txBody>
      </p:sp>
      <p:sp>
        <p:nvSpPr>
          <p:cNvPr id="3" name="항목1"/>
          <p:cNvSpPr/>
          <p:nvPr/>
        </p:nvSpPr>
        <p:spPr>
          <a:xfrm>
            <a:off x="1828800" y="1600200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57400" y="1783080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05740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2788920" y="1600200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[프로그램 3개월 크레딧]</a:t>
            </a:r>
            <a:endParaRPr lang="en-US" sz="2200" dirty="0"/>
          </a:p>
        </p:txBody>
      </p:sp>
      <p:sp>
        <p:nvSpPr>
          <p:cNvPr id="7" name="항목2"/>
          <p:cNvSpPr/>
          <p:nvPr/>
        </p:nvSpPr>
        <p:spPr>
          <a:xfrm>
            <a:off x="1828800" y="2633472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57400" y="2816352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57400" y="2816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2633472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[첫 광고비 지원]</a:t>
            </a:r>
            <a:endParaRPr lang="en-US" sz="2200" dirty="0"/>
          </a:p>
        </p:txBody>
      </p:sp>
      <p:sp>
        <p:nvSpPr>
          <p:cNvPr id="11" name="항목3"/>
          <p:cNvSpPr/>
          <p:nvPr/>
        </p:nvSpPr>
        <p:spPr>
          <a:xfrm>
            <a:off x="1828800" y="3666744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57400" y="3849624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057400" y="38496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788920" y="3666744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[피드백 · 질문방]</a:t>
            </a:r>
            <a:endParaRPr lang="en-US" sz="2200" dirty="0"/>
          </a:p>
        </p:txBody>
      </p:sp>
      <p:sp>
        <p:nvSpPr>
          <p:cNvPr id="15" name="항목4"/>
          <p:cNvSpPr/>
          <p:nvPr/>
        </p:nvSpPr>
        <p:spPr>
          <a:xfrm>
            <a:off x="1828800" y="4700016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57400" y="4882896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057400" y="4882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2788920" y="4700016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[템플릿 · 자료]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166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16. 커리큘럼 · 혜택 · 가격</a:t>
            </a:r>
            <a:endParaRPr lang="en-US" sz="1000" dirty="0"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질문표시"/>
          <p:cNvSpPr/>
          <p:nvPr/>
        </p:nvSpPr>
        <p:spPr>
          <a:xfrm>
            <a:off x="5775808" y="1325880"/>
            <a:ext cx="640080" cy="64008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775808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9456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강의료는?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167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16. 커리큘럼 · 혜택 · 가격</a:t>
            </a:r>
            <a:endParaRPr lang="en-US" sz="1000" dirty="0"/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수강료</a:t>
            </a:r>
            <a:endParaRPr lang="en-US" sz="3200" dirty="0"/>
          </a:p>
        </p:txBody>
      </p:sp>
      <p:graphicFrame>
        <p:nvGraphicFramePr>
          <p:cNvPr id="16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00200"/>
          <a:ext cx="10728655" cy="914400"/>
        </p:xfrm>
        <a:graphic>
          <a:graphicData uri="http://schemas.openxmlformats.org/drawingml/2006/table">
            <a:tbl>
              <a:tblPr/>
              <a:tblGrid>
                <a:gridCol w="4291462"/>
                <a:gridCol w="6437193"/>
              </a:tblGrid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가격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온라인반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219만원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오프라인반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249만원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168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16. 커리큘럼 · 혜택 · 가격</a:t>
            </a:r>
            <a:endParaRPr lang="en-US" sz="1000" dirty="0"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제가 책 한 권에 쓴 돈은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1,100만원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이었어요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망했어요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169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16. 커리큘럼 · 혜택 · 가격</a:t>
            </a:r>
            <a:endParaRPr lang="en-US" sz="1000" dirty="0"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신청</a:t>
            </a:r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방법</a:t>
            </a:r>
            <a:endParaRPr lang="en-US" sz="3200" dirty="0"/>
          </a:p>
        </p:txBody>
      </p:sp>
      <p:sp>
        <p:nvSpPr>
          <p:cNvPr id="3" name="자료자리"/>
          <p:cNvSpPr/>
          <p:nvPr/>
        </p:nvSpPr>
        <p:spPr>
          <a:xfrm>
            <a:off x="1463040" y="1600200"/>
            <a:ext cx="9265615" cy="4480560"/>
          </a:xfrm>
          <a:prstGeom prst="rect">
            <a:avLst/>
          </a:prstGeom>
          <a:solidFill>
            <a:srgbClr val="F5F5F5"/>
          </a:solidFill>
          <a:ln w="15875">
            <a:solidFill>
              <a:srgbClr val="BBBBBB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1737360" y="1600200"/>
            <a:ext cx="8716975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넣을 자리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[신청 링크 · QR · 신청 후 안내]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16. 커리큘럼 · 혜택 · 가격</a:t>
            </a:r>
            <a:endParaRPr lang="en-US" sz="1000" dirty="0"/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1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288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0040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100만원 발표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17. 오늘의 100만원 발표</a:t>
            </a:r>
            <a:endParaRPr lang="en-US" sz="1000" dirty="0"/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9456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약속드린 </a:t>
            </a:r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100만원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발표합니다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17. 오늘의 100만원 발표</a:t>
            </a:r>
            <a:endParaRPr lang="en-US" sz="1000" dirty="0"/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우수작</a:t>
            </a:r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공개</a:t>
            </a:r>
            <a:endParaRPr lang="en-US" sz="3200" dirty="0"/>
          </a:p>
        </p:txBody>
      </p:sp>
      <p:sp>
        <p:nvSpPr>
          <p:cNvPr id="3" name="자료자리"/>
          <p:cNvSpPr/>
          <p:nvPr/>
        </p:nvSpPr>
        <p:spPr>
          <a:xfrm>
            <a:off x="1463040" y="1600200"/>
            <a:ext cx="9265615" cy="4480560"/>
          </a:xfrm>
          <a:prstGeom prst="rect">
            <a:avLst/>
          </a:prstGeom>
          <a:solidFill>
            <a:srgbClr val="F5F5F5"/>
          </a:solidFill>
          <a:ln w="15875">
            <a:solidFill>
              <a:srgbClr val="BBBBBB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1737360" y="1600200"/>
            <a:ext cx="8716975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넣을 자리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[제출작 · 고객 · 주제 · 목차 · 첫 페이지]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17. 오늘의 100만원 발표</a:t>
            </a:r>
            <a:endParaRPr lang="en-US" sz="1000" dirty="0"/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작품을 </a:t>
            </a:r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뽑은 이유</a:t>
            </a:r>
            <a:endParaRPr lang="en-US" sz="3200" dirty="0"/>
          </a:p>
        </p:txBody>
      </p:sp>
      <p:sp>
        <p:nvSpPr>
          <p:cNvPr id="3" name="항목1"/>
          <p:cNvSpPr/>
          <p:nvPr/>
        </p:nvSpPr>
        <p:spPr>
          <a:xfrm>
            <a:off x="1828800" y="1600200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57400" y="1783080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05740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2788920" y="1600200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[고객이 선명했던 부분]</a:t>
            </a:r>
            <a:endParaRPr lang="en-US" sz="2200" dirty="0"/>
          </a:p>
        </p:txBody>
      </p:sp>
      <p:sp>
        <p:nvSpPr>
          <p:cNvPr id="7" name="항목2"/>
          <p:cNvSpPr/>
          <p:nvPr/>
        </p:nvSpPr>
        <p:spPr>
          <a:xfrm>
            <a:off x="1828800" y="2633472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57400" y="2816352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57400" y="2816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2633472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[문제를 정확히 짚은 부분]</a:t>
            </a:r>
            <a:endParaRPr lang="en-US" sz="2200" dirty="0"/>
          </a:p>
        </p:txBody>
      </p:sp>
      <p:sp>
        <p:nvSpPr>
          <p:cNvPr id="11" name="항목3"/>
          <p:cNvSpPr/>
          <p:nvPr/>
        </p:nvSpPr>
        <p:spPr>
          <a:xfrm>
            <a:off x="1828800" y="3666744"/>
            <a:ext cx="8534095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57400" y="3849624"/>
            <a:ext cx="502920" cy="50292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057400" y="38496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788920" y="3666744"/>
            <a:ext cx="7345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[오늘 배운 순서를 지킨 부분]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174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17. 오늘의 100만원 발표</a:t>
            </a:r>
            <a:endParaRPr lang="en-US" sz="1000" dirty="0"/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축하합니다!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[당첨자 · 100만원 지급 안내]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17. 오늘의 100만원 발표</a:t>
            </a:r>
            <a:endParaRPr lang="en-US" sz="1000" dirty="0"/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끝까지 계신 분들께 드리는 선물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10312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전자책 글 쓰는 프롬프트</a:t>
            </a:r>
            <a:endParaRPr lang="en-US" sz="2200" dirty="0"/>
          </a:p>
        </p:txBody>
      </p:sp>
      <p:sp>
        <p:nvSpPr>
          <p:cNvPr id="4" name="자료자리"/>
          <p:cNvSpPr/>
          <p:nvPr/>
        </p:nvSpPr>
        <p:spPr>
          <a:xfrm>
            <a:off x="2194560" y="2926080"/>
            <a:ext cx="7802575" cy="3108960"/>
          </a:xfrm>
          <a:prstGeom prst="rect">
            <a:avLst/>
          </a:prstGeom>
          <a:solidFill>
            <a:srgbClr val="F5F5F5"/>
          </a:solidFill>
          <a:ln w="15875">
            <a:solidFill>
              <a:srgbClr val="BBBBBB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2468880" y="2926080"/>
            <a:ext cx="7253935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넣을 자리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[프롬프트 받는 방법 · 링크]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176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17. 오늘의 100만원 발표</a:t>
            </a:r>
            <a:endParaRPr lang="en-US" sz="1000" dirty="0"/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9456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여러분은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 한 권의 시작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만들었어요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17. 오늘의 100만원 발표</a:t>
            </a:r>
            <a:endParaRPr lang="en-US" sz="1000" dirty="0"/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[세 문장 캐치프레이즈]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요즘의 권위는 유명함이 아니라 나와 비슷한 평범한 사람이에요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17. 오늘의 100만원 발표</a:t>
            </a:r>
            <a:endParaRPr lang="en-US" sz="1000" dirty="0"/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9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288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0040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묻는 질문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179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18. 자주 묻는 질문</a:t>
            </a:r>
            <a:endParaRPr lang="en-US" sz="1000" dirty="0"/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질문표시"/>
          <p:cNvSpPr/>
          <p:nvPr/>
        </p:nvSpPr>
        <p:spPr>
          <a:xfrm>
            <a:off x="5775808" y="1325880"/>
            <a:ext cx="640080" cy="64008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775808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9456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글을 </a:t>
            </a:r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못 써도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할 수 있나요?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18. 자주 묻는 질문</a:t>
            </a:r>
            <a:endParaRPr lang="en-US" sz="1000" dirty="0"/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질문표시"/>
          <p:cNvSpPr/>
          <p:nvPr/>
        </p:nvSpPr>
        <p:spPr>
          <a:xfrm>
            <a:off x="5775808" y="1325880"/>
            <a:ext cx="640080" cy="64008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775808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9456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본업이 바빠도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되나요?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18. 자주 묻는 질문</a:t>
            </a:r>
            <a:endParaRPr lang="en-US" sz="1000" dirty="0"/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질문표시"/>
          <p:cNvSpPr/>
          <p:nvPr/>
        </p:nvSpPr>
        <p:spPr>
          <a:xfrm>
            <a:off x="5775808" y="1325880"/>
            <a:ext cx="640080" cy="64008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775808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9456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제가 아는 게 </a:t>
            </a:r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없는데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뭘 쓰죠?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18. 자주 묻는 질문</a:t>
            </a:r>
            <a:endParaRPr lang="en-US" sz="1000" dirty="0"/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질문표시"/>
          <p:cNvSpPr/>
          <p:nvPr/>
        </p:nvSpPr>
        <p:spPr>
          <a:xfrm>
            <a:off x="5775808" y="1325880"/>
            <a:ext cx="640080" cy="64008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775808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9456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광고비는 </a:t>
            </a:r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얼마나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들어요?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18. 자주 묻는 질문</a:t>
            </a:r>
            <a:endParaRPr lang="en-US" sz="1000" dirty="0"/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질문표시"/>
          <p:cNvSpPr/>
          <p:nvPr/>
        </p:nvSpPr>
        <p:spPr>
          <a:xfrm>
            <a:off x="5775808" y="1325880"/>
            <a:ext cx="640080" cy="64008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775808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9456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판매까지 </a:t>
            </a:r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얼마나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걸려요?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18. 자주 묻는 질문</a:t>
            </a:r>
            <a:endParaRPr lang="en-US" sz="1000" dirty="0"/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질문표시"/>
          <p:cNvSpPr/>
          <p:nvPr/>
        </p:nvSpPr>
        <p:spPr>
          <a:xfrm>
            <a:off x="5775808" y="1325880"/>
            <a:ext cx="640080" cy="64008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775808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9456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AI로 쓴 책, </a:t>
            </a:r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저작권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문제는 없나요?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18. 자주 묻는 질문</a:t>
            </a:r>
            <a:endParaRPr lang="en-US" sz="1000" dirty="0"/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질문표시"/>
          <p:cNvSpPr/>
          <p:nvPr/>
        </p:nvSpPr>
        <p:spPr>
          <a:xfrm>
            <a:off x="5775808" y="1325880"/>
            <a:ext cx="640080" cy="64008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775808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9456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나이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많아도 되나요?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18. 자주 묻는 질문</a:t>
            </a:r>
            <a:endParaRPr lang="en-US" sz="1000" dirty="0"/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질문표시"/>
          <p:cNvSpPr/>
          <p:nvPr/>
        </p:nvSpPr>
        <p:spPr>
          <a:xfrm>
            <a:off x="5775808" y="1325880"/>
            <a:ext cx="640080" cy="64008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775808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9456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잘 못 다뤄요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187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18. 자주 묻는 질문</a:t>
            </a:r>
            <a:endParaRPr lang="en-US" sz="1000" dirty="0"/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질문표시"/>
          <p:cNvSpPr/>
          <p:nvPr/>
        </p:nvSpPr>
        <p:spPr>
          <a:xfrm>
            <a:off x="5775808" y="1325880"/>
            <a:ext cx="640080" cy="640080"/>
          </a:xfrm>
          <a:prstGeom prst="ellipse">
            <a:avLst/>
          </a:prstGeom>
          <a:solidFill>
            <a:srgbClr val="E0302A"/>
          </a:solidFill>
          <a:ln w="12700">
            <a:solidFill>
              <a:srgbClr val="E030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775808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9456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환불</a:t>
            </a:r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되나요?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188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18. 자주 묻는 질문</a:t>
            </a:r>
            <a:endParaRPr lang="en-US" sz="1000" dirty="0"/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질문</a:t>
            </a:r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받을게요</a:t>
            </a:r>
            <a:endParaRPr lang="en-US" sz="3200" dirty="0"/>
          </a:p>
        </p:txBody>
      </p:sp>
      <p:sp>
        <p:nvSpPr>
          <p:cNvPr id="3" name="자료자리"/>
          <p:cNvSpPr/>
          <p:nvPr/>
        </p:nvSpPr>
        <p:spPr>
          <a:xfrm>
            <a:off x="1463040" y="1600200"/>
            <a:ext cx="9265615" cy="4480560"/>
          </a:xfrm>
          <a:prstGeom prst="rect">
            <a:avLst/>
          </a:prstGeom>
          <a:solidFill>
            <a:srgbClr val="F5F5F5"/>
          </a:solidFill>
          <a:ln w="15875">
            <a:solidFill>
              <a:srgbClr val="BBBBBB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1737360" y="1600200"/>
            <a:ext cx="8716975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넣을 자리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[신청 링크 · QR 상시 노출]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189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18. 자주 묻는 질문</a:t>
            </a:r>
            <a:endParaRPr lang="en-US" sz="1000" dirty="0"/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[활동명] · 비제이라이프스쿨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18. 자주 묻는 질문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190</Slides>
  <Notes>190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190</vt:i4>
      </vt:variant>
    </vt:vector>
  </HeadingPairs>
  <TitlesOfParts>
    <vt:vector size="19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전자책 무료 라이브 PPT 초안</dc:title>
  <dc:subject>PptxGenJS Presentation</dc:subject>
  <dc:creator>병조쌤</dc:creator>
  <cp:lastModifiedBy>병조쌤</cp:lastModifiedBy>
  <cp:revision>1</cp:revision>
  <dcterms:created xsi:type="dcterms:W3CDTF">2026-10-11T14:53:01Z</dcterms:created>
  <dcterms:modified xsi:type="dcterms:W3CDTF">2026-10-11T14:53:01Z</dcterms:modified>
</cp:coreProperties>
</file>