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charts/chart1.xml" ContentType="application/vnd.openxmlformats-officedocument.drawingml.chart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charts/chart2.xml" ContentType="application/vnd.openxmlformats-officedocument.drawingml.chart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charts/chart3.xml" ContentType="application/vnd.openxmlformats-officedocument.drawingml.chart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</p:sldIdLst>
  <p:notesMasterIdLst>
    <p:notesMasterId r:id="rId1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오프닝 · 첫 100만원 발표" id="{0c7bb349-84db-af61-cf72-4ca71b2e3b62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2. 추가 100만원 이벤트" id="{1ea56e60-13ab-5c4a-04f2-797b248e4052}">
          <p14:sldIdLst>
            <p14:sldId id="262"/>
            <p14:sldId id="263"/>
            <p14:sldId id="264"/>
            <p14:sldId id="265"/>
          </p14:sldIdLst>
        </p14:section>
        <p14:section name="3. 부수입에 대한 공감" id="{d88af545-e02f-ccc6-116a-12b22f011904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4. 다른 부업 비교" id="{b5e420f3-a475-1219-61c4-23a922098e7d}">
          <p14:sldIdLst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5. 전자책 부업 소개" id="{f181b10f-d09d-452a-3456-379fe1c02272}">
          <p14:sldIdLst>
            <p14:sldId id="283"/>
            <p14:sldId id="284"/>
            <p14:sldId id="285"/>
            <p14:sldId id="286"/>
            <p14:sldId id="287"/>
            <p14:sldId id="288"/>
            <p14:sldId id="289"/>
          </p14:sldIdLst>
        </p14:section>
        <p14:section name="6. 실제 상품 · 매출 공개" id="{420612d0-34d3-e97b-2db1-30297521b5ed}">
          <p14:sldIdLst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</p14:sldIdLst>
        </p14:section>
        <p14:section name="7. 고객이 구매하는 이유" id="{070f9e71-a0e6-aaef-8ae5-f10668a64d3b}">
          <p14:sldIdLst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</p14:sldIdLst>
        </p14:section>
        <p14:section name="8. 팔리는 주제 찾기" id="{4afbcd4c-ba98-c48a-0573-72ec091a1e21}">
          <p14:sldIdLst>
            <p14:sldId id="309"/>
            <p14:sldId id="310"/>
            <p14:sldId id="311"/>
            <p14:sldId id="312"/>
            <p14:sldId id="313"/>
          </p14:sldIdLst>
        </p14:section>
        <p14:section name="9. 작가의 과거 경험 · AI 전환" id="{35d0aac7-8906-b993-682d-f5b26062cd25}">
          <p14:sldIdLst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</p14:sldIdLst>
        </p14:section>
        <p14:section name="10. 자체 프로그램 공개" id="{ff682e37-9f5f-db6e-2e05-b0b814cd790e}">
          <p14:sldIdLst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</p14:sldIdLst>
        </p14:section>
        <p14:section name="11. 시청자 직접 실습" id="{6bceb0dd-73b1-7e64-a82e-512ff516a576}">
          <p14:sldIdLst>
            <p14:sldId id="358"/>
            <p14:sldId id="359"/>
            <p14:sldId id="360"/>
            <p14:sldId id="361"/>
            <p14:sldId id="362"/>
            <p14:sldId id="363"/>
          </p14:sldIdLst>
        </p14:section>
        <p14:section name="12. 메타 광고 · 판매 구조" id="{30e42322-1039-a0f8-343a-5e0ffc462cd2}">
          <p14:sldIdLst>
            <p14:sldId id="364"/>
            <p14:sldId id="365"/>
            <p14:sldId id="366"/>
            <p14:sldId id="367"/>
            <p14:sldId id="368"/>
            <p14:sldId id="369"/>
            <p14:sldId id="370"/>
            <p14:sldId id="371"/>
          </p14:sldIdLst>
        </p14:section>
        <p14:section name="13. 평범한 사람들의 성과" id="{5155063c-d77d-2ef0-6aa7-4c13dac556c3}">
          <p14:sldIdLst>
            <p14:sldId id="372"/>
            <p14:sldId id="373"/>
            <p14:sldId id="374"/>
            <p14:sldId id="375"/>
            <p14:sldId id="376"/>
          </p14:sldIdLst>
        </p14:section>
        <p14:section name="14. 오늘 해결한 과정 정리" id="{d4211db6-89f4-8a6a-fd93-b05029ea67e4}">
          <p14:sldIdLst>
            <p14:sldId id="377"/>
            <p14:sldId id="378"/>
            <p14:sldId id="379"/>
            <p14:sldId id="380"/>
          </p14:sldIdLst>
        </p14:section>
        <p14:section name="15. 프로그램 이용 · 수강 연결" id="{58b40441-a175-b14f-fda6-3efb77b659d7}">
          <p14:sldIdLst>
            <p14:sldId id="381"/>
            <p14:sldId id="382"/>
            <p14:sldId id="383"/>
            <p14:sldId id="384"/>
          </p14:sldIdLst>
        </p14:section>
        <p14:section name="16. 커리큘럼 · 혜택 · 가격" id="{a321cddd-7609-a606-b71e-c44bd858e720}">
          <p14:sldIdLst>
            <p14:sldId id="385"/>
            <p14:sldId id="386"/>
            <p14:sldId id="387"/>
            <p14:sldId id="388"/>
            <p14:sldId id="389"/>
          </p14:sldIdLst>
        </p14:section>
        <p14:section name="17. 우수작 · 100만원 발표 · 마무리" id="{94f97574-d9e8-2d4d-448e-b731a353d5fd}">
          <p14:sldIdLst>
            <p14:sldId id="390"/>
            <p14:sldId id="391"/>
            <p14:sldId id="392"/>
            <p14:sldId id="393"/>
            <p14:sldId id="39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notesMaster" Target="notesMasters/notesMaster1.xml"/><Relationship Id="rId142" Type="http://schemas.openxmlformats.org/officeDocument/2006/relationships/presProps" Target="presProps.xml"/><Relationship Id="rId143" Type="http://schemas.openxmlformats.org/officeDocument/2006/relationships/viewProps" Target="viewProps.xml"/><Relationship Id="rId144" Type="http://schemas.openxmlformats.org/officeDocument/2006/relationships/theme" Target="theme/theme1.xml"/><Relationship Id="rId14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종이책 *인세*, 얼마인지 아세요?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2E8F0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작가 몫</c:v>
                </c:pt>
                <c:pt idx="1">
                  <c:v>나머지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</c:v>
                </c:pt>
                <c:pt idx="1">
                  <c:v>90</c:v>
                </c:pt>
              </c:numCache>
            </c:numRef>
          </c:val>
        </c:ser>
        <c:firstSliceAng val="0"/>
        <c:holeSize val="66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&quot;만원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F172A"/>
                    </a:solidFill>
                    <a:latin typeface="Pretendar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4월</c:v>
                  </c:pt>
                  <c:pt idx="1">
                    <c:v>5월</c:v>
                  </c:pt>
                  <c:pt idx="2">
                    <c:v>6월</c:v>
                  </c:pt>
                  <c:pt idx="3">
                    <c:v>7월</c:v>
                  </c:pt>
                  <c:pt idx="4">
                    <c:v>8월</c:v>
                  </c:pt>
                  <c:pt idx="5">
                    <c:v>9월</c:v>
                  </c:pt>
                  <c:pt idx="6">
                    <c:v>10월(12일까지)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202</c:v>
                </c:pt>
                <c:pt idx="1">
                  <c:v>164</c:v>
                </c:pt>
                <c:pt idx="2">
                  <c:v>164</c:v>
                </c:pt>
                <c:pt idx="3">
                  <c:v>116</c:v>
                </c:pt>
                <c:pt idx="4">
                  <c:v>152</c:v>
                </c:pt>
                <c:pt idx="5">
                  <c:v>178</c:v>
                </c:pt>
                <c:pt idx="6">
                  <c:v>98</c:v>
                </c:pt>
              </c:numCache>
            </c:numRef>
          </c:val>
        </c:ser>
        <c:dLbls>
          <c:numFmt formatCode="#,##0&quot;만원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0F172A"/>
                  </a:solidFill>
                  <a:latin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34155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인생 그래프</c:v>
                </c:pt>
              </c:strCache>
            </c:strRef>
          </c:tx>
          <c:spPr>
            <a:solidFill>
              <a:srgbClr val="DC2626"/>
            </a:solidFill>
            <a:ln w="50800" cap="flat">
              <a:solidFill>
                <a:srgbClr val="DC26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2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배우의 꿈</c:v>
                  </c:pt>
                  <c:pt idx="1">
                    <c:v>29살 졸업</c:v>
                  </c:pt>
                  <c:pt idx="2">
                    <c:v>집이 기울다</c:v>
                  </c:pt>
                  <c:pt idx="3">
                    <c:v>책쓰기 특강</c:v>
                  </c:pt>
                  <c:pt idx="4">
                    <c:v>첫 책 출간</c:v>
                  </c:pt>
                  <c:pt idx="5">
                    <c:v>망함</c:v>
                  </c:pt>
                  <c:pt idx="6">
                    <c:v>유튜브</c:v>
                  </c:pt>
                  <c:pt idx="7">
                    <c:v>전자책 50쪽</c:v>
                  </c:pt>
                  <c:pt idx="8">
                    <c:v>학원 강남 이전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</c:v>
                </c:pt>
                <c:pt idx="1">
                  <c:v>5</c:v>
                </c:pt>
                <c:pt idx="2">
                  <c:v>2</c:v>
                </c:pt>
                <c:pt idx="3">
                  <c:v>6</c:v>
                </c:pt>
                <c:pt idx="4">
                  <c:v>8</c:v>
                </c:pt>
                <c:pt idx="5">
                  <c:v>1</c:v>
                </c:pt>
                <c:pt idx="6">
                  <c:v>3</c:v>
                </c:pt>
                <c:pt idx="7">
                  <c:v>8</c:v>
                </c:pt>
                <c:pt idx="8">
                  <c:v>10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34155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1. 오프닝 · 첫 100만원 발표
시청자 마음: “단톡방 이벤트 당첨자를 확인하고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강의 제목만 크게.
🎤 말로: 인사. 채팅창에 '어디서 오셨는지' 남겨 달라고 하기.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활동명 + 한 줄 프로필. [프로필 사진 있으면 추가]
🎤 말로: 짧게 자기소개. 자세한 이야기는 뒤(망한 작가 스토리)에서 한다고 예고만.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 한 줄.
🎤 말로: 채팅 읽어주면서 분위기 풀기. 2~3분.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큰 글씨 + 두근두근.
🎤 말로: 단톡방 이벤트 기준 다시 한 번 말하고 바로 발표.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당첨자 화면.
🎤 말로: 왜 뽑혔는지 짧게. '여러분도 오늘 기회 있어요'로 다음 장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2. 추가 100만원 이벤트
시청자 마음: “나도 이번에는 참여하고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숫자만 크게.
🎤 말로: 오늘 배운 걸 가장 잘 적용한 1명. 마지막에 발표한다고 박아두기.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3단계 흐름도.
🎤 말로: [제출처·마감 시간은 회사 확정 후]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심사 기준 3개.
🎤 말로: 잘 쓴 글이 아니라 '오늘 배운 걸 적용했나'를 본다고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3. 부수입에 대한 공감
시청자 마음: “본업을 하면서 돈을 더 벌고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 하나만. 여백 크게.
🎤 말로: 여러분 돈 좋아하세요? 저는 돈을 사랑합니다.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1번 / 2번 선택지.
🎤 말로: 돈미새 들어보셨죠? 저 돈미새 맞습니다. 돈미새이신 분 1111, 돈이 싫다 2222. (채팅 읽기) ㅎㅎㅎ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오늘 여러분들 돈 많이 벌고 싶어서 오신 거잖아요. 제가 오늘 다 알려드릴게요.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수식 한 줄. '시간'만 빨간색.
🎤 말로: 저희가 보통 돈을 어떻게 벌죠? 일! 노동을 한 시간만큼 버는 거잖아요.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하루 시간표. 일한 구간만 빨간색.
🎤 말로: 하루에 8시간 일했으면 8시간에 대한 대가를 받는 걸 월급이라고 하죠.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육체 노동하고 감정 노동하면서 고생한 만큼 합당한 보상 받고 있다고 생각하세요? (채팅 반응 보기)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6+3+3+4 막대가 16년으로 쌓이는 그림.
🎤 말로: 초중고, 우리나라면 대학교까지 졸업하니까 6, 3, 3, 4. 16년이나 미치도록 공부해서 직장 들어가는데, 그렇게 고생해서 버는 게 다 비슷하다는 게 아이러니하지 않나요?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만약 시간에 구애받지 않는 아이템이 있다면요?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3칸 카드. '잘 때'만 빨간색.
🎤 말로: 내가 일할 때, 쉴 때, 자고 있을 때도 돈을 벌어다줘요.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단어. 잠깐 멈추고 넘기기.
🎤 말로: 그게 뭐냐. 바로 전자책입니다.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4. 다른 부업 비교
시청자 마음: “내 상황에서 시작하기 좋은 부업은 뭘까?”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부업, 부수입에 관심 있으신 분들이라면 아시잖아요.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4개 카드. 아래 설명이 전부 '매일·계속'.
🎤 말로: 유튜브, 인스타, 블로그, 커머스 너무 좋은 아이템들이지만 그만큼 시간과 에너지를 투자해야 성과가 나와요.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저희가 부업을 왜 하죠? 돈을 벌려고 하는 거잖아요.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본업 뒤에 부업이 붙은 시간표.
🎤 말로: 퇴근하고 시간 반납하고, 주말에도 풀타임으로 계속 에너지를 쏟아야 한다면? 그건 부업이 아니라 연장근무나 다를 게 없잖아요?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왼쪽 '매일' vs 오른쪽 '한 번'.
🎤 말로: 그런데 이 전자책은요, 한 번 세팅만 해두면 블로그나 쇼츠처럼 매일 새로 만들 필요가 없어요. (광고도 한 번 세팅해두면 매일 손댈 일이 거의 없다는 뜻 — 과장 없이)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5. 전자책 부업 소개
시청자 마음: “재고와 배송 부담 없이 반복 판매할 상품이 필요하다.”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왜냐, 책이 알아서 돈을 벌어다주기 때문이에요. 내가 쓴 책이 알아서 일을 하는 거죠.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흐름도. 마지막 칸이 빨간색.
🎤 말로: 서점에 여러분이 쓴 책이 있다고 해볼게요. 누가 그 책을 샀어요. 그때 여러분이 일을 하나요? 아니죠. 책이 알아서 돈을 벌어다줘요.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위아래 두 줄 비교. 아래 줄이 훨씬 짧음.
🎤 말로: 직접 서점에 진열되는 책을 출판까지 하는 과정은 복잡하고 돈과 시간이 들기도 하구요. 그런데 전자책은 달라요.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큰 글씨.
🎤 말로: 전자책은 딱 한 권만 만들면 파일 형태이기 때문에, 판매할 수 있는 곳에 올려두고 누가 사면 파일만 다운로드할 수 있게 하는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도넛 그래프. 작가 몫 10%만 빨간색.
🎤 말로: 복잡한 출판 과정도 없죠. 초보 작가 인세는 5~10% 남짓이라 돈도 안 돼요. 종이로 찍어내는 귀찮은 과정도 없어요. [전자책 실제 수수료·마진은 크레킷 기준으로 확인 후 숫자 넣기]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여러분 시간은 소중하잖아요. 전자책 만들어서 올려놓으면 시간도 벌고 돈도 벌고. 진짜 개쩔지 않나요?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6. 실제 상품 · 매출 공개
시청자 마음: “실제로 어떤 전자책이 얼마나 팔리는지 보고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지금부터 실제 판매 내역을 오픈할게요.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실제 판매 알림 4건(메일 기록 그대로, 구매자 정보 제외).
🎤 말로: 여러분 저도 본업이 있는 사람이거든요. 일하다가 잠깐 쉬면 구매 알림이 떠 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메일함 목록.
🎤 말로: 이게 지난 며칠 제 메일함이에요.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숫자 카드 3개.
🎤 말로: 전자책만 따로 셌어요. 강의 수강권은 뺐어요.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월별 막대 그래프.
🎤 말로: 한 번 터지고 끝이 아니라 매달 100~200만원씩 들어와요.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책별 표 (실제 메일 집계).
🎤 말로: 리치코드가 주력, 대화법은 10월에 새로 낸 책. 감정대화법은 할인 이벤트 포함. 출처: Gmail 판매 알림 집계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크레킷 실제 결제 페이지 3개 (lifeschool.crekit.io).
🎤 말로: 정가 대비 할인가, 12개월 할부 표시까지 크레킷이 알아서 만들어줘요. 49,000원 · 39,000원 · 29,000원.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함께 사는 비율 카드.
🎤 말로: 본책 옆에 싼 상품 하나 붙여두면 10명 중 4명이 같이 사요. 객단가가 올라가요.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큰 숫자 + 증빙 캡처 다음 장.
🎤 말로: ※ Gmail 크레킷 기록 기준 최고 월은 전자책 약 200만원 + 강의 수강권. 월 1,000만원은 다른 매출 포함 증빙이 있을 때만 쓰기.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실제 새벽 주문 비율.
🎤 말로: 돈 벌고 있는 시간에, 자는 시간에도 책이 돈을 벌어다줘요. 정말 미치지 않았나요?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7. 고객이 구매하는 이유
시청자 마음: “사람들이 돈을 내고 사는 내용은 무엇일까?”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그럼 사람들은 왜 전자책을 살까요?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빈칸 퀴즈. 단어는 검게 가려 둠.
🎤 말로: 사람들은 땡땡 땡땡에 미쳐 있어요. 이 땡땡땡땡이 뭘까요? (채팅 맞히기)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정답 공개.
🎤 말로: 바로 '욕구 해소'입니다.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욕구 말풍선이 화면 가득.
🎤 말로: 삶이 더 나아지고 싶고, 돈도 많이 벌고 싶고, 자존감도, 연애도, 대화도… 이 욕구를 해소하고 싶은 게 인간의 본능이고, 문제를 해결해주는 게 확실하다면 그게 얼마건 돈을 써요.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실제 공개 구매 후기 (크레킷 상품 페이지).
🎤 말로: 정보를 산 게 아니라 마음이 풀린 거예요. 문제를 해결해 주면 이런 후기가 나와요.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실제 공개 구매 후기.
🎤 말로: 인터넷에 다 있는데 왜 살까? 정리돼 있고, 바로 따라 할 수 있어서예요. [후기 원문 전체는 상품 페이지에서 확인]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흐름도.
🎤 말로: 한마디로 이 전자책은 사람들의 욕구나 문제를 해결해줌과 동시에 돈까지 벌 수 있으니, 파는 사람도 사는 사람도 좋은 거죠.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8. 팔리는 주제 찾기
시청자 마음: “그럼 나는 어떤 내용으로 만들 수 있을까?”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왼쪽 고민 → 오른쪽 전자책 짝 맞추기.
🎤 말로: 자존감이 낮아서 고민인 사람에게는 자존감 높이는 나만의 방법을, 요요 때문에 고민인 사람에게는 요요 없는 다이어트를. 평소에 '넌 반찬을 어떻게 이렇게 맛있게 하냐'는 칭찬을 듣는다면 반찬 레시피를 팔 수도 있죠.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5단계 흐름.
🎤 말로: [회사 기획: 실제 사례로 풀기] 예) 반찬 → '바쁜 워킹맘' → '저녁 메뉴 고민' → '15분 반찬' → 목차.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욕구나 문제가 있는 사람들을 도와주고 그에 합당한 대가를 받을 수 있다는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참여 질문.
🎤 말로: 채팅 몇 개 읽어주며 즉석에서 주제로 바꿔주기. (강의 몰입 포인트)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9. 작가의 과거 경험 · AI 전환
시청자 마음: “주제는 정했는데, 책 한 권을 어떻게 쓰지?”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그럼 많은 분들이 이렇게 생각할 거예요. 책은 전문가나 그런 사람들이 쓰는 거 아닌가?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두 개의 생각 카드.
🎤 말로: 한 분야에 통달한 사람이 쓰는 거 아니냐 하는데, 잘 보세요. 이 말에는 두 가지가 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의사 vs 친구 비교.
🎤 말로: 병원 가면 의사쌤이 적게 먹어라, 운동해라, 따뜻한 물 마셔라 하잖아요. 이거 우리 지킵니까? 안 지키잖아요. 오히려 옆집 아줌마, 동네 삼촌, 나와 비슷한 어려움을 겪은 친구 말을 더 듣는다는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수식.
🎤 말로: 팔로워가 많거나 권위 있는 전문가라고 반드시 따르진 않아요. 나와 비슷한 어려움을 겪은 사람이 그걸 극복했다면, 그 스토리와 방법이 바로 권위가 되는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여러분의 인생이 누군가에게 도움을 주는 용기를 낸다. 그게 바로 권위가 된다는 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두 번째로 책을 쓸 자신이 없어서라면, 그건 제가 도와드릴 테니까 걱정하지 말고 해보자 이거예요.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'망한'을 검게 가림. 다음 장에서 공개.
🎤 말로: 여러분 사실 저는 실제로 책을 낸 작가예요.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가림 해제.
🎤 말로: (웃으면서) 네, 망한 작가입니다. 무슨 얘기인지 들려드릴게요.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인생 롤러코스터 그래프. 이 장을 띄워 두고 스토리 전체를 말해도 됨.
🎤 말로: 이 그래프 하나 띄워놓고 스토리를 쭉 따라가면 시청자가 길을 안 잃어요.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[ 배우 시절 사진 있으면 ]
🎤 말로: 전 연기과, 연극영화과를 졸업했고 배우가 되는 게 꿈이었는데, 사수생 출신이라 29살에 늦게 졸업했어요.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막상 배우가 되려고 하니 내가 배우가 될 재목인가, 그 정도로 연기를 사랑할까, 무명 10년을 버틸 수 있을까. 자신이 없는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 톤 낮게.
🎤 말로: 자취방을 빼고 집으로 돌아갔는데, 풍요롭진 못해도 평범했던 우리 집이 이제 평범하지도 못하구나. 가난하구나 하는 생각이 들었어요. 입시생 몇 명 레슨하면서 근근이 풀칠하고 있었고요.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메일 알림 목업.
🎤 말로: 어느 날 한 통의 이메일을 보게 돼요. 일일 책쓰기 특강. 내가 작가가 된다고? 혹시 나도? 하는 마음으로 갔어요.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책을 써서 강연하고 코칭하고 성공할 수 있다는 거예요. 이렇게 가난하게 살면 안 되겠다는 생각이 컸어서 그 특강이 한 줄기 빛 같았어요.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숫자만 크게. 잠깐 멈춤.
🎤 말로: 이건 무조건 신청해야겠다 하고 가격을 물어보는데…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막대 하나. 대부분이 '아버지께 빌린 돈'.
🎤 말로: 그때 통장에 3~400만원 있었고, 아버지가 마트에서 배달일 하시면서 상황도 여의치 않으셨는데 그랬어요. '아부지 저 700만원만 빌려주십쇼. 책 쓰고 강의해서 성공하겠습니다.'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흐름도.
🎤 말로: 3달 정도 매일매일 글을 쓰고 지우면서 원고를 완성했고, 출판사 연락을 받아서 첫 책이 나왔어요.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실제 책 표지.
🎤 말로: 근데 제 책이 어떻게 됐을까요?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큰 글씨. 웃으며.
🎤 말로: 하하하. 망했습니다. 작가가 되면 성공할 줄 알았는데, 그게 아니었더라고요.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 채팅 받기.
🎤 말로: 왜 망했을까요?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책장 가득한 회색 책 중 빨간 책 한 권.
🎤 말로: 서점에 진짜 수만 권의 책이 진열돼 있는데, 누가 알고 제 책을 사겠어요.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핵심 한 줄. 뒤 판매 파트로 가는 복선.
🎤 말로: 이게 오늘 강의 전체를 꿰는 얘기예요. 쓰는 법만 배우면 안 되고, 파는 법을 같이 알아야 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[ 초기 유튜브 채널 캡처 ]
🎤 말로: 어떻게든 한 권이라도 더 팔아보려고 유튜브를 했어요. 콘텐츠 올리면 사람들이 책을 사주겠지? 했는데… ㅎㅎㅎ 안 사더라고요.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고민 댓글 캡처.
🎤 말로: 유튜브를 하면서 알게 된 게 있어요. 소심한 성격 때문에 고민인 사람이 많구나.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 + [전자책 표지].
🎤 말로: 망했더라도 책을 쓴 경험이 있잖아요? 이 사람들만을 위한 전자책을 만들어서 팔아야겠다 하고 50페이지 분량의 전자책을 썼어요.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큰 숫자. 바로 다음에 증빙.
🎤 말로: 근데 그게 진짜 대박이었어요. 자그마치 2,600만원을 팔았어요. ※ 크몽 시절 판매 메일은 Gmail에 없어서 크몽 판매 내역 캡처가 필요해요.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막대 비교.
🎤 말로: 연기학원 차렸을 때 3~4명밖에 안 돼서 월세도 겨우 냈어요. 그 책을 읽은 분들이 제 교육을 듣고 싶다고 한두 명씩 모이기 시작했고, 수강생이 줄을 설 정도가 돼서 수원에서 강남까지 학원을 옮겼어요.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두 책 비교.
🎤 말로: 제가 출판한 책은 분명 망했는데, 거기서 배운 경험으로 사람들에게 도움이 되게 쓴 50쪽짜리 전자책 한 권이 많은 수익을 내줬고, 많은 사람과 연결되게 해줬어요. 전자책이 없었다면 전 월세 밀려서 망했을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시청자 속마음 질문.
🎤 말로: 그럼 여러분 이렇게 생각하실 거예요. 난 글을 써본 적도 없고 재능도 없다. 너처럼 작가가 아니다. 글쓰기가 익숙하지 않은 분들한테 글 쓰는 거 자체가 엄청난 부담인 거 제가 너무 잘 알아요.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큰 글씨.
🎤 말로: 그런데 여러분 전혀 걱정하실 필요가 없는 게, AI가 있잖아요.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그때 vs 지금. [AI 초창기 결과물 캡처 있으면 왼쪽에]
🎤 말로: AI 처음 나왔을 때 저도 생각했어요. AI한테 전자책 완성해달라 하고 팔면 그만 아닌가? 그런데 그때는 AI가 그렇게 똑똑하지 않았어요. 지금은 맥락을 읽고, 프롬프트와 스킬을 어떻게 쓰냐에 따라 결과가 완전히 달라져요.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참여 질문.
🎤 말로: AI 써본 분들도 계시겠지만, 익숙하지 않은 분이 더 많으실 거 같아요. (채팅 1/2 받기)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 → 다음 구간(프로그램 공개)으로.
🎤 말로: 글을 못 쓰는 분도, AI를 못 쓰는 분도 계시다는 거 너무 잘 알기 때문에, 제가 전자책을 자동으로 만들어주는 프로그램을 만들었습니다.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10. 자체 프로그램 공개
시청자 마음: “AI를 활용해서 실제 전자책으로 완성하고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막대 3개. 프로그램 막대만 짧고 빨강.
🎤 말로: 책을 출판한다는 건 원고 쓰는 데만 몇 개월에서 몇 년, 퇴고도 그만큼, 출판사 컨택에 홍보까지. 제가 만든 프로그램을 쓰면 AI가 제작해주고 탈고·디자인·상세페이지까지 알아서 만들어줘요.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3단계.
🎤 말로: AI 전자책은 딱 세 단계예요. 만들고, 팔고, 잘 팔기. 한번 만들어볼까요?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프로그램 첫 화면.
🎤 말로: 이게 오늘 쓸 프로그램이에요. 내 책 / 새 책 만들기 / 상세페이지, 메뉴가 딱 3개예요.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프로그램 실제 4단계 + 상세페이지.
🎤 말로: 만드는 중에는 주제 정리 → 자료 조사 → 목차 → 프롤로그와 1장 → 나머지 집필 → 마무리를 알아서 해요. 창을 닫아도 계속 만들어요.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프로그램 실제 화면.
🎤 말로: 주제를 못 정했으면 관심 분야만 고르면 돼요. 외모·내면·관계·돈 같은 고민으로 좁혀서 추천해 줘요.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실제 입력 화면. ※ 시연용으로 입력한 예시 문장이에요.
🎤 말로: 문제라고 생각하는 것 · 내가 잘 아는 것 · 힘들었던 일 · 극복한 방법 · 꼭 해야 하는 것. 비워 둔 칸은 자료 조사로 채워요.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표지 선택 화면 + 실제 결과물.
🎤 말로: 디자인 몰라도 3안 중에 고르기만 하면 돼요.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실시간 시연 화면.
🎤 말로: 팔 준비까지 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실제 완성본 3장.
🎤 말로: 방금 만든 걸 한 화면에 모아서 보여주기.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11. 시청자 직접 실습
시청자 마음: “나도 직접 만들어보고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링크 · QR.
🎤 말로: [체험 방식은 회사 확정 후]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범위 리스트.
🎤 말로: 욕심내지 말고 여기까지만. 이걸로 100만원 심사.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제출 안내.
🎤 말로: 라이브 체험으로 만든 전자책 제출. 배운 내용 적용 여부로 심사.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실습 중엔 채팅 질문 읽어주면서 텐션 유지.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 → 판매로.
🎤 말로: 팔 준비를 다 마쳤어요. 이제 이걸 사람들에게 보여줘야겠죠.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12. 메타 광고 · 판매 구조
시청자 마음: “만든 전자책을 구매할 사람들에게 보여주고 싶다.”
※ 원고상 '어려워서 일단 패스' — 미팅에서 범위 확정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판매 흐름.
🎤 말로: 광고를 돌려서 판매 페이지로 데려오고, 결제되면 파일이 자동으로 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판매 채널 3개.
🎤 말로: 메타 광고, 인스타 스폰서 광고, 재능마켓 크몽에 올리기.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실제 크레킷 판매 페이지 첫 화면.
🎤 말로: 첫 화면 한 줄이 클릭한 사람을 붙잡아요. ‘여자 만나고 싶지 않은 분들 페이지를 나가주세요’처럼.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모바일 판매 페이지를 6컷으로.
🎤 말로: 문제 → 원인 → 저자 → 책 → 목차 → 후기 → 구매. 이 순서를 프로그램이 상세페이지로 만들어줘요.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두 번째 예시.
🎤 말로: 주제는 달라도 흐름은 같아요.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소재 / 성과 나란히.
🎤 말로: 광고비 하루 2~2.5만원 수준. [실제 성과 캡처 기준]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[광고 지원을 어디까지 하는지 미팅에서 확정]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13. 평범한 사람들의 성과
시청자 마음: “나와 비슷한 사람은 어떻게 실행했을까?”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사례 소개 틀.
🎤 말로: 사례마다 같은 순서로 말하면 비교가 쉬워요.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3칸.
🎤 말로: [본인 동의 받은 실제 사례만]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3칸.
🎤 말로: [본인 동의 받은 실제 사례만]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영상.
🎤 말로: ※ 배우 대역 인터뷰는 쓰지 않기 (실제 수강생만).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14. 오늘 해결한 과정 정리
시청자 마음: “이제 내가 무엇을 하면 되는지 정리하고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전자책 제작, 판매, 광고까지 세팅해보니까 너무 간단하지 않아요?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전체 흐름 다시.
🎤 말로: 프로그램 하나에서 잘 팔리는 주제 선정, 품질 높이는 리서치, 끌리는 목차, 원고까지. 문체·디자인도 고를 수 있고, 판매용 상세페이지까지 자동으로.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방금 만든 결과물과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15. 프로그램 이용 · 수강 연결
시청자 마음: “오늘 해본 방식으로 계속 만들고 판매하고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시청자 반문.
🎤 말로: 이런 생각 드실 수 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비교표. 오른쪽 열이 빨간 헤더.
🎤 말로: 혼자 하면 AI를 길들여야 해요. 주제, 자료조사, 필터링, 목차, 사람 냄새 나는 원고, 표지, 내지, 3D, 판매 페이지까지 다 직접 세팅. 프로그램은 이미 길들여져 있고 계속 업데이트돼요.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물론 이 프로그램은 오늘 강의를 신청하신 분들에게만 드릴 수 있어요. 나도 전자책 팔아보고 수익 내고 싶다 하시면 고민하실 필요가 없어요.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16. 커리큘럼 · 혜택 · 가격
시청자 마음: “수강하면 무엇을 이용하고, 어떤 순서로 실행할 수 있을까?”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4주 표.
🎤 말로: [미팅에서 최종 확정]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혜택 카드 4개.
🎤 말로: [ ] 미팅 후 채우기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가격표.
🎤 말로: [할부 · 결제 방식 확인]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링크.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17. 우수작 · 100만원 발표 · 마무리
시청자 마음: “오늘 배운 내용을 잘 적용한 결과물을 보고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우수작.
🎤 말로: 선정 이유 설명: 고객 · 문제 · 배운 순서.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발표.
🎤 말로: 초반 약속 지키기.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마무리 한 줄.
🎤 말로: 스토리 회수: 파는 법을 몰라 망했던 사람 → 지금. 수강 신청 안내로 마무리.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33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Slide-40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image" Target="../media/image-42-2.jpg"/><Relationship Id="rId3" Type="http://schemas.openxmlformats.org/officeDocument/2006/relationships/image" Target="../media/image-42-3.jpg"/><Relationship Id="rId4" Type="http://schemas.openxmlformats.org/officeDocument/2006/relationships/image" Target="../media/image-42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Slide-68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6-image-1.png"/><Relationship Id="rId2" Type="http://schemas.openxmlformats.org/officeDocument/2006/relationships/image" Target="../media/image-9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8-image-1.png"/><Relationship Id="rId2" Type="http://schemas.openxmlformats.org/officeDocument/2006/relationships/image" Target="../media/image-98-2.jpg"/><Relationship Id="rId3" Type="http://schemas.openxmlformats.org/officeDocument/2006/relationships/image" Target="../media/image-98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9-image-1.png"/><Relationship Id="rId2" Type="http://schemas.openxmlformats.org/officeDocument/2006/relationships/image" Target="../media/image-99-2.jpg"/><Relationship Id="rId3" Type="http://schemas.openxmlformats.org/officeDocument/2006/relationships/image" Target="../media/image-99-3.jpg"/><Relationship Id="rId4" Type="http://schemas.openxmlformats.org/officeDocument/2006/relationships/image" Target="../media/image-99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0-image-1.png"/><Relationship Id="rId2" Type="http://schemas.openxmlformats.org/officeDocument/2006/relationships/image" Target="../media/image-100-2.jpg"/><Relationship Id="rId3" Type="http://schemas.openxmlformats.org/officeDocument/2006/relationships/image" Target="../media/image-100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2-image-1.png"/><Relationship Id="rId2" Type="http://schemas.openxmlformats.org/officeDocument/2006/relationships/image" Target="../media/image-102-2.jpg"/><Relationship Id="rId3" Type="http://schemas.openxmlformats.org/officeDocument/2006/relationships/image" Target="../media/image-102-3.jpg"/><Relationship Id="rId4" Type="http://schemas.openxmlformats.org/officeDocument/2006/relationships/image" Target="../media/image-102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2-image-1.png"/><Relationship Id="rId2" Type="http://schemas.openxmlformats.org/officeDocument/2006/relationships/image" Target="../media/image-112-2.jpg"/><Relationship Id="rId3" Type="http://schemas.openxmlformats.org/officeDocument/2006/relationships/image" Target="../media/image-112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3-image-1.png"/><Relationship Id="rId2" Type="http://schemas.openxmlformats.org/officeDocument/2006/relationships/image" Target="../media/image-1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4-image-1.png"/><Relationship Id="rId2" Type="http://schemas.openxmlformats.org/officeDocument/2006/relationships/image" Target="../media/image-11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오프닝 · 첫 100만원 발표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“단톡방 이벤트 당첨자를 확인하고 싶다.”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58488" y="3840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오프닝 · 첫 100만원 발표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8555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20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AI로 </a:t>
            </a:r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만들어서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월급 하나 더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받는 법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강의 제목 — 회사 확정본으로 교체 ]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58488" y="3840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오프닝 · 첫 100만원 발표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8555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20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안녕하세요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강작가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입니다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한 줄 프로필: 출간 작가 · 전자책 누적 매출 · 수강생 성과 ]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58488" y="3840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오프닝 · 첫 100만원 발표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8555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20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채팅창에 </a:t>
            </a:r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지역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이랑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하고 계신 일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남겨주세요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예) 수원 · 직장인 / 부산 · 육아 중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58488" y="3840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오프닝 · 첫 100만원 발표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8555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20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첫 번째 </a:t>
            </a:r>
            <a:pPr algn="ctr" indent="0" marL="0">
              <a:buNone/>
            </a:pPr>
            <a:r>
              <a:rPr lang="en-US" sz="6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100만원</a:t>
            </a:r>
            <a:endParaRPr lang="en-US" sz="6600" dirty="0"/>
          </a:p>
          <a:p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당첨자 발표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단톡방에서 약속드렸던 이벤트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58488" y="3840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오프닝 · 첫 100만원 발표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8555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20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축하드립니다!</a:t>
            </a:r>
            <a:endParaRPr lang="en-US" sz="3000" dirty="0"/>
          </a:p>
        </p:txBody>
      </p:sp>
      <p:sp>
        <p:nvSpPr>
          <p:cNvPr id="6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당첨자 닉네임 · 당첨 사유 캡처 ]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추가 100만원 이벤트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“나도 이번에는 참여하고 싶다.”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651096" y="384048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추가 100만원 이벤트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4817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5947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끝까지 계신 분 중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1명에게 또 100만원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651096" y="384048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추가 100만원 이벤트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4817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5947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참여 방법은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딱 3단계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21422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351380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30566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듣기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45940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929988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67148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021428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프로그램으로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전자책 만들기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261708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764575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3719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제출하면 끝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651096" y="384048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추가 100만원 이벤트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4817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5947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기준으로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뽑아요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011680" y="1920240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1920240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86000" y="19202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1920240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고객이 누구인지 선명한가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2011680" y="2889504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2889504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86000" y="2889504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2889504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고객의 문제를 정확히 짚었나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2011680" y="3858768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0" y="3858768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286000" y="3858768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017520" y="3858768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배운 순서대로 만들었나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부수입에 대한 공감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“본업을 하면서 돈을 더 벌고 싶다.”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여러분, </a:t>
            </a:r>
            <a:pPr algn="ctr" indent="0" marL="0">
              <a:buNone/>
            </a:pPr>
            <a:r>
              <a:rPr lang="en-US" sz="5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돈</a:t>
            </a:r>
            <a:pPr algn="ctr" indent="0" marL="0">
              <a:buNone/>
            </a:pPr>
            <a:r>
              <a:rPr lang="en-US" sz="5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좋아하세요?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채팅으로 골라주세요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965960"/>
            <a:ext cx="4952848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88720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116504" y="3108960"/>
            <a:ext cx="54864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80160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 좋아요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(돈미새입니다)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324448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98768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526551" y="3108960"/>
            <a:ext cx="5486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90208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 싫어요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</a:t>
            </a:r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다 알려드릴게요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 많이 벌고 싶어서 오신 거잖아요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9144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우리가 돈을 버는 방법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569568" y="27432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61008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돈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038448" y="2743200"/>
            <a:ext cx="822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4861408" y="27432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52848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노동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7330288" y="2743200"/>
            <a:ext cx="822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×</a:t>
            </a:r>
            <a:endParaRPr lang="en-US" sz="4000" dirty="0"/>
          </a:p>
        </p:txBody>
      </p:sp>
      <p:sp>
        <p:nvSpPr>
          <p:cNvPr id="12" name="Shape 10"/>
          <p:cNvSpPr/>
          <p:nvPr/>
        </p:nvSpPr>
        <p:spPr>
          <a:xfrm>
            <a:off x="8153248" y="27432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44688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시간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86868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8시간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일하면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8시간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만큼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2834640"/>
            <a:ext cx="10362895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41549" y="2834640"/>
            <a:ext cx="5181448" cy="1097280"/>
          </a:xfrm>
          <a:prstGeom prst="rect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41549" y="2834640"/>
            <a:ext cx="51814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일한 8시간 → 월급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6시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275789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9시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002938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12시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730088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15시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457237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18시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184386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21시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911535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0시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70916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일을 멈추면, 돈도 멈춰요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고생한 만큼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합당한 보상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을 받고 계세요?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9144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우리가 공부한 시간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188720" y="2834640"/>
            <a:ext cx="3680346" cy="1280160"/>
          </a:xfrm>
          <a:prstGeom prst="rect">
            <a:avLst/>
          </a:prstGeom>
          <a:solidFill>
            <a:srgbClr val="E2E8F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2834640"/>
            <a:ext cx="368034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 6년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869066" y="2834640"/>
            <a:ext cx="1840173" cy="1280160"/>
          </a:xfrm>
          <a:prstGeom prst="rect">
            <a:avLst/>
          </a:prstGeom>
          <a:solidFill>
            <a:srgbClr val="CBD5E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69066" y="2834640"/>
            <a:ext cx="184017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 3년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709239" y="2834640"/>
            <a:ext cx="1840173" cy="1280160"/>
          </a:xfrm>
          <a:prstGeom prst="rect">
            <a:avLst/>
          </a:prstGeom>
          <a:solidFill>
            <a:srgbClr val="E2E8F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09239" y="2834640"/>
            <a:ext cx="184017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 3년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549411" y="2834640"/>
            <a:ext cx="2453564" cy="1280160"/>
          </a:xfrm>
          <a:prstGeom prst="rect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49411" y="2834640"/>
            <a:ext cx="24535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대학 4년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1965960"/>
            <a:ext cx="98142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= 16년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502920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그렇게 들어간 직장, 버는 건 다 비슷하죠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만약 </a:t>
            </a:r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시간에 묶이지 않는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아이템이 있다면요?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이럴 때도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돈을 벌어다줘요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333237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423160"/>
            <a:ext cx="2966618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일할 때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326587"/>
            <a:ext cx="296661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본업 하는 동안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29658" y="2011680"/>
            <a:ext cx="333237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58258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612538" y="2423160"/>
            <a:ext cx="2966618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쉴 때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612538" y="3326587"/>
            <a:ext cx="296661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커피 한잔하는 동안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36357" y="2011680"/>
            <a:ext cx="3332378" cy="2377440"/>
          </a:xfrm>
          <a:prstGeom prst="roundRect">
            <a:avLst>
              <a:gd name="adj" fmla="val 307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64957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219237" y="2423160"/>
            <a:ext cx="2966618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잘 때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219237" y="3326587"/>
            <a:ext cx="296661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새벽 2시에도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바로 </a:t>
            </a:r>
            <a:pPr algn="ctr" indent="0" marL="0">
              <a:buNone/>
            </a:pPr>
            <a:r>
              <a:rPr lang="en-US" sz="6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</a:t>
            </a:r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입니다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04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다른 부업 비교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“내 상황에서 시작하기 좋은 부업은 뭘까?”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43704" y="384048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다른 부업 비교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44078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6686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왜 하필 </a:t>
            </a:r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일까요?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43704" y="384048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다른 부업 비교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44078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6686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다 좋은 부업이에요. 그런데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유튜브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매주 새 영상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촬영·편집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527984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56584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710864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인스타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3710864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새 게시물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소통·댓글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33008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61608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15888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블로그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415888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새 글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키워드 공부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938031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66631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9120911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커머스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9120911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재고·포장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배송·CS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43704" y="384048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다른 부업 비교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44078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6686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우리가 부업을 </a:t>
            </a:r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왜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하죠?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 벌려고 하는 거잖아요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43704" y="384048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다른 부업 비교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44078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6686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86868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퇴근하고 또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풀타임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이라면?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2834640"/>
            <a:ext cx="10362895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68834" y="2834640"/>
            <a:ext cx="4663303" cy="1097280"/>
          </a:xfrm>
          <a:prstGeom prst="rect">
            <a:avLst/>
          </a:prstGeom>
          <a:solidFill>
            <a:srgbClr val="CBD5E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68834" y="2834640"/>
            <a:ext cx="466330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본업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650282" y="2834640"/>
            <a:ext cx="3108869" cy="1097280"/>
          </a:xfrm>
          <a:prstGeom prst="rect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50282" y="2834640"/>
            <a:ext cx="310886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부업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6시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103074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9시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657509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12시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211943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15시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766377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18시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320811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21시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875246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0시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70916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그건 부업이 아니라 </a:t>
            </a:r>
            <a:pPr algn="ctr" indent="0" marL="0">
              <a:buNone/>
            </a:pPr>
            <a:r>
              <a:rPr lang="en-US" sz="2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연장근무</a:t>
            </a:r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예요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43704" y="384048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다른 부업 비교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44078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6686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에너지가 드는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방식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달라요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블로그 · 쇼츠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116504" y="3108960"/>
            <a:ext cx="5486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80160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새로 만들어야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멈추면 끝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324448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24448" y="1965960"/>
            <a:ext cx="4952848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98768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526551" y="3108960"/>
            <a:ext cx="54864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90208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 만들고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 세팅해두면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손댈 일이 거의 없음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730088" y="361188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91B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30088" y="3611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VS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05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 부업 소개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“재고와 배송 부담 없이 반복 판매할 상품이 필요하다.”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전자책 부업 소개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사람이 아니라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책이 돈을 벌어다줘요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전자책 부업 소개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서점에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내 책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있다면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5633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3496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4777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누가 내 책을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집어 들고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188056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572104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09264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663544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계산대에서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90382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6287872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2503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379312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그때 나는?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619592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900364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9508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아무것도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 하고 있음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전자책 부업 소개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그런데 종이책은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과정이 길어요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56336" y="2148840"/>
            <a:ext cx="10479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종이책 출판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56336" y="26060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93496" y="2697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47776" y="26060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원고 몇 달~몇 년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188056" y="260604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3572104" y="26060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09264" y="2697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663544" y="26060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출판사 컨택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903824" y="260604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6287872" y="26060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25032" y="2697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379312" y="26060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인쇄 · 유통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619592" y="260604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9003640" y="26060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0800" y="2697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9095080" y="26060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서점 진열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56336" y="3730752"/>
            <a:ext cx="10479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 · 시간 · 사람이 다 필요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2214220" y="3977640"/>
            <a:ext cx="7763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전자책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2214220" y="44348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351380" y="4526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2305660" y="44348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원고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4545940" y="443484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28" name="Shape 26"/>
          <p:cNvSpPr/>
          <p:nvPr/>
        </p:nvSpPr>
        <p:spPr>
          <a:xfrm>
            <a:off x="4929988" y="44348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067148" y="4526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021428" y="44348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판매처에 업로드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7261708" y="443484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32" name="Shape 30"/>
          <p:cNvSpPr/>
          <p:nvPr/>
        </p:nvSpPr>
        <p:spPr>
          <a:xfrm>
            <a:off x="7645756" y="44348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37196" y="44348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결제되면 파일 전달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2214220" y="5559552"/>
            <a:ext cx="7763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하나로 끝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전자책 부업 소개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전자책은</a:t>
            </a:r>
            <a:endParaRPr lang="en-US" sz="6600" dirty="0"/>
          </a:p>
          <a:p>
            <a:pPr algn="ctr" indent="0" marL="0">
              <a:buNone/>
            </a:pPr>
            <a:r>
              <a:rPr lang="en-US" sz="6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딱 한 권</a:t>
            </a:r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이면 끝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전자책 부업 소개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종이책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인세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, 얼마인지 아세요?</a:t>
            </a:r>
            <a:endParaRPr lang="en-US" sz="3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1097280" y="1874520"/>
          <a:ext cx="45720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1097280" y="1874520"/>
            <a:ext cx="4572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5~10%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6583680" y="23774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83680" y="256032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책 한 권 팔리면</a:t>
            </a:r>
            <a:endParaRPr lang="en-US" sz="2600" dirty="0"/>
          </a:p>
          <a:p>
            <a:pPr algn="l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작가 몫은 </a:t>
            </a:r>
            <a:pPr algn="l" indent="0" marL="0">
              <a:buNone/>
            </a:pPr>
            <a:r>
              <a:rPr lang="en-US" sz="2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5~10%</a:t>
            </a:r>
            <a:endParaRPr lang="en-US" sz="2600" dirty="0"/>
          </a:p>
          <a:p>
            <a:pPr algn="l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</a:t>
            </a:r>
            <a:endParaRPr lang="en-US" sz="2600" dirty="0"/>
          </a:p>
          <a:p>
            <a:pPr algn="l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전자책은</a:t>
            </a:r>
            <a:endParaRPr lang="en-US" sz="2600" dirty="0"/>
          </a:p>
          <a:p>
            <a:pPr algn="l" indent="0" marL="0">
              <a:buNone/>
            </a:pPr>
            <a:r>
              <a:rPr lang="en-US" sz="2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파는 사람이 정해요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전자책 부업 소개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시간도 벌고, 돈도 벌고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진짜 개쩔지 않나요?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06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실제 상품 · 매출 공개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“실제로 어떤 전자책이 얼마나 팔리는지 보고 싶다.”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말로만 하면 안 믿으시죠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실제 판매 내역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보여드릴게요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0920" y="640080"/>
            <a:ext cx="3200400" cy="5577840"/>
          </a:xfrm>
          <a:prstGeom prst="roundRect">
            <a:avLst>
              <a:gd name="adj" fmla="val 12000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685800"/>
            <a:ext cx="3108960" cy="5486400"/>
          </a:xfrm>
          <a:prstGeom prst="roundRect">
            <a:avLst>
              <a:gd name="adj" fmla="val 11765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49640" y="822960"/>
            <a:ext cx="822960" cy="164592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06640" y="1188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15:13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7635240" y="2148840"/>
            <a:ext cx="2651760" cy="868680"/>
          </a:xfrm>
          <a:prstGeom prst="roundRect">
            <a:avLst>
              <a:gd name="adj" fmla="val 1473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0" y="230428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19872" y="225856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 · 10/12 오후 11:15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0" y="26060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대화법 전자책 ₩49,000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635240" y="3136392"/>
            <a:ext cx="2651760" cy="868680"/>
          </a:xfrm>
          <a:prstGeom prst="roundRect">
            <a:avLst>
              <a:gd name="adj" fmla="val 1473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0" y="329184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19872" y="32461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 · 10/12 오후 9:19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35935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대화법 전자책 ₩49,000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635240" y="4123944"/>
            <a:ext cx="2651760" cy="868680"/>
          </a:xfrm>
          <a:prstGeom prst="roundRect">
            <a:avLst>
              <a:gd name="adj" fmla="val 1473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0" y="4279392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19872" y="42336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 · 10/11 오후 3:13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458114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리치코드 + 워크북 ₩50,000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35240" y="5111496"/>
            <a:ext cx="2651760" cy="868680"/>
          </a:xfrm>
          <a:prstGeom prst="roundRect">
            <a:avLst>
              <a:gd name="adj" fmla="val 1473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0" y="526694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19872" y="522122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 · 10/9 오후 5:56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556869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대화법 + 멘트집 ₩50,000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4400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4400" y="224028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일하다 잠깐 쉬면</a:t>
            </a:r>
            <a:endParaRPr lang="en-US" sz="3800" dirty="0"/>
          </a:p>
          <a:p>
            <a:pPr algn="l" indent="0" marL="0">
              <a:buNone/>
            </a:pPr>
            <a:r>
              <a:rPr lang="en-US" sz="38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구매 알림</a:t>
            </a:r>
            <a:pPr algn="l" indent="0" marL="0">
              <a:buNone/>
            </a:pPr>
            <a:r>
              <a:rPr lang="en-US" sz="3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떠 있어요</a:t>
            </a:r>
            <a:endParaRPr lang="en-US" sz="3800" dirty="0"/>
          </a:p>
        </p:txBody>
      </p:sp>
      <p:sp>
        <p:nvSpPr>
          <p:cNvPr id="27" name="Text 25"/>
          <p:cNvSpPr txBox="1"/>
          <p:nvPr/>
        </p:nvSpPr>
        <p:spPr>
          <a:xfrm>
            <a:off x="914400" y="406908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저도 본업이 있는 사람이에요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 메일함에 매일 오는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판매 알림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280160" y="1965960"/>
            <a:ext cx="9631375" cy="3886200"/>
          </a:xfrm>
          <a:prstGeom prst="roundRect">
            <a:avLst>
              <a:gd name="adj" fmla="val 141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554480" y="1965960"/>
            <a:ext cx="36576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받은편지함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280160" y="2397760"/>
            <a:ext cx="9631375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54480" y="2397760"/>
            <a:ext cx="1828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397760"/>
            <a:ext cx="597377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판매 - ₩49,000 / 여자가 빠져들수밖에 없는 매력적인 남자의 대화법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539935" y="2397760"/>
            <a:ext cx="10972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10/12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280160" y="2829560"/>
            <a:ext cx="9631375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54480" y="2829560"/>
            <a:ext cx="1828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829560"/>
            <a:ext cx="597377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판매 - ₩49,000 / 여자가 빠져들수밖에 없는 매력적인 남자의 대화법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539935" y="2829560"/>
            <a:ext cx="10972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10/12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280160" y="3261360"/>
            <a:ext cx="9631375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554480" y="3261360"/>
            <a:ext cx="1828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474720" y="3261360"/>
            <a:ext cx="597377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판매 - ₩50,000 / 리치코드 [현실창조와 끌어당김의 법칙] 전자책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539935" y="3261360"/>
            <a:ext cx="10972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10/11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280160" y="3693160"/>
            <a:ext cx="9631375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54480" y="3693160"/>
            <a:ext cx="1828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474720" y="3693160"/>
            <a:ext cx="597377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판매 - ₩49,000 / 여자가 빠져들수밖에 없는 매력적인 남자의 대화법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539935" y="3693160"/>
            <a:ext cx="10972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10/11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280160" y="4124960"/>
            <a:ext cx="9631375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54480" y="4124960"/>
            <a:ext cx="1828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474720" y="4124960"/>
            <a:ext cx="597377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판매 - ₩49,000 / 여자가 빠져들수밖에 없는 매력적인 남자의 대화법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539935" y="4124960"/>
            <a:ext cx="10972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10/11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280160" y="4556760"/>
            <a:ext cx="9631375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554480" y="4556760"/>
            <a:ext cx="1828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3474720" y="4556760"/>
            <a:ext cx="597377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판매 - ₩50,000 / 여자가 빠져들수밖에 없는 매력적인 남자의 대화법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539935" y="4556760"/>
            <a:ext cx="10972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10/09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280160" y="4988560"/>
            <a:ext cx="9631375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554480" y="4988560"/>
            <a:ext cx="1828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3474720" y="4988560"/>
            <a:ext cx="597377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판매 - ₩50,000 / 여자가 빠져들수밖에 없는 매력적인 남자의 대화법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539935" y="4988560"/>
            <a:ext cx="10972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10/09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280160" y="5420360"/>
            <a:ext cx="9631375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554480" y="5420360"/>
            <a:ext cx="1828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3474720" y="5420360"/>
            <a:ext cx="597377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판매 - ₩50,000 / 리치코드 [현실창조와 끌어당김의 법칙] 전자책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9539935" y="5420360"/>
            <a:ext cx="10972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10/09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914400" y="58064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Gmail 판매 알림 제목 그대로 (최근 8건). 라이브 때는 메일함 화면을 직접 띄워도 좋아요.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크레킷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판매, 6개월 동안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전자책 매출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₩10,741,000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38404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2026.4.10 ~ 10.12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44898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19218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수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719218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292건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4719218" y="38404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하루 평균 약 1.6건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66837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41157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1건당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41157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약 ₩36,800</a:t>
            </a:r>
            <a:endParaRPr lang="en-US" sz="3500" dirty="0"/>
          </a:p>
        </p:txBody>
      </p:sp>
      <p:sp>
        <p:nvSpPr>
          <p:cNvPr id="17" name="Text 15"/>
          <p:cNvSpPr txBox="1"/>
          <p:nvPr/>
        </p:nvSpPr>
        <p:spPr>
          <a:xfrm>
            <a:off x="8341157" y="38404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본책 + 함께 사는 상품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8463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Gmail 크레킷 판매 알림 메일 집계 (2026.4.10 ~ 10.12) · 온라인 강의 수강권 매출(₩5,050,000)은 빼고 전자책만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매달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꾸준히 들어와요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64592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월별 전자책 매출 (단위: 만원)</a:t>
            </a:r>
            <a:endParaRPr lang="en-US" sz="16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914400" y="2240280"/>
          <a:ext cx="10362895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914400" y="57150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Gmail 크레킷 판매 알림 메일 집계 (2026.4.10 ~ 10.12)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책별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로 보면</a:t>
            </a:r>
            <a:endParaRPr lang="en-US" sz="3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74520"/>
          <a:ext cx="10545775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2103120"/>
                <a:gridCol w="1828800"/>
                <a:gridCol w="2041855"/>
              </a:tblGrid>
              <a:tr h="678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전자책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가격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주문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리치코드 [현실창조와 끌어당김의 법칙]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39,000원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263건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9,723,000원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└ 함께 사는 워크북 [썩은 시체 걷어내기]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11,000원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18건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198,000원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여자가 빠져들수밖에 없는 매력적인 남자의 대화법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32,000→49,000원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17건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612,000원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└ 함께 사는 실전 멘트집 100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18,000원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6건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108,000원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존중받는 부모의 감정대화법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29,000원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12건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100,000원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지금 실제로 팔고 있는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전자책들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327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여자가 빠져들수밖에 없는 매력적인 남자의 대화법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86384" y="2979573"/>
            <a:ext cx="3344570" cy="227045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img/deal_talk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016149"/>
            <a:ext cx="3271418" cy="219730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460138" y="1874520"/>
            <a:ext cx="327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리치코드 [현실창조와 끌어당김의 법칙]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423562" y="2979573"/>
            <a:ext cx="3344570" cy="227045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img/deal_rich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0138" y="3016149"/>
            <a:ext cx="3271418" cy="219730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097317" y="1874520"/>
            <a:ext cx="327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존중받는 부모의 감정대화법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8060741" y="2979573"/>
            <a:ext cx="3344570" cy="227045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img/deal_parent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7317" y="3016149"/>
            <a:ext cx="3271418" cy="219730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같이 사는 상품,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10명 중 4명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같이 사요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5112868" cy="2377440"/>
          </a:xfrm>
          <a:prstGeom prst="roundRect">
            <a:avLst>
              <a:gd name="adj" fmla="val 307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423160"/>
            <a:ext cx="4564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리치코드 → 워크북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880360"/>
            <a:ext cx="45642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41.9%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3840480"/>
            <a:ext cx="45642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워크북을 붙인 9/3 이후 43건 중 18건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55868" y="2148840"/>
            <a:ext cx="511286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0188" y="2423160"/>
            <a:ext cx="4564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대화법 → 실전 멘트집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30188" y="2880360"/>
            <a:ext cx="45642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40.0%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6530188" y="3840480"/>
            <a:ext cx="45642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멘트집을 붙인 10/2 이후 15건 중 6건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8463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Gmail 크레킷 판매 알림 메일 집계 (2026.4.10 ~ 10.12)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본업 하면서</a:t>
            </a:r>
            <a:endParaRPr lang="en-US" sz="6600" dirty="0"/>
          </a:p>
          <a:p>
            <a:pPr algn="ctr" indent="0" marL="0">
              <a:buNone/>
            </a:pPr>
            <a:r>
              <a:rPr lang="en-US" sz="6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월 [1,000]만원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기간 · 금액 증빙 필요 — 메일 집계로는 확인 안 됨 ]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주문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5건 중 1건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은 제가 자는 동안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5112868" cy="2377440"/>
          </a:xfrm>
          <a:prstGeom prst="roundRect">
            <a:avLst>
              <a:gd name="adj" fmla="val 307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423160"/>
            <a:ext cx="4564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밤 12시 ~ 아침 7시 주문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880360"/>
            <a:ext cx="45642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61건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3840480"/>
            <a:ext cx="45642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292건 중 20.9%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55868" y="2148840"/>
            <a:ext cx="511286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0188" y="2423160"/>
            <a:ext cx="4564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예) 10월 11일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30188" y="2880360"/>
            <a:ext cx="45642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새벽 1:39 · 4:59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6530188" y="3840480"/>
            <a:ext cx="45642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대화법 전자책 ₩49,000씩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8463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Gmail 크레킷 판매 알림 메일 집계 (2026.4.10 ~ 10.12)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07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고객이 구매하는 이유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“사람들이 돈을 내고 사는 내용은 무엇일까?”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고객이 구매하는 이유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사람들은 왜 </a:t>
            </a:r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을 살까요?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고객이 구매하는 이유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사람들은 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highlight>
                  <a:srgbClr val="0F172A"/>
                </a:highlight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욕구 해소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에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미쳐있다!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○○ ○○, 채팅으로 맞혀보세요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고객이 구매하는 이유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욕구 해소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고객이 구매하는 이유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사람들은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더 나아지고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싶어요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188720" y="1828800"/>
            <a:ext cx="1735074" cy="113157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1828800"/>
            <a:ext cx="1735074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 많이 벌고 싶다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023360" y="1691640"/>
            <a:ext cx="1966417" cy="1282446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23360" y="1691640"/>
            <a:ext cx="1966417" cy="1282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행복해지고 싶다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949440" y="1828800"/>
            <a:ext cx="2197760" cy="1433322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49440" y="1828800"/>
            <a:ext cx="2197760" cy="143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자존감 높이고 싶다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418320" y="2103120"/>
            <a:ext cx="1735074" cy="1131570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418320" y="2103120"/>
            <a:ext cx="1735074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연애 잘하고 싶다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286000" y="3611880"/>
            <a:ext cx="1966417" cy="1282446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286000" y="3611880"/>
            <a:ext cx="1966417" cy="1282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 잘하고 싶다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120640" y="3383280"/>
            <a:ext cx="2197760" cy="1433322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20640" y="3383280"/>
            <a:ext cx="2197760" cy="143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예뻐지고 싶다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955280" y="3749040"/>
            <a:ext cx="1735074" cy="1131570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55280" y="3749040"/>
            <a:ext cx="1735074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잘생겨지고 싶다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14400" y="4800600"/>
            <a:ext cx="1966417" cy="1282446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4800600"/>
            <a:ext cx="1966417" cy="1282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살 빼고 싶다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966960" y="4389120"/>
            <a:ext cx="2197760" cy="1433322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966960" y="4389120"/>
            <a:ext cx="2197760" cy="143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인정받고 싶다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553212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욕구가 풀린다고 확실하면, </a:t>
            </a:r>
            <a:pPr algn="ctr" indent="0" marL="0">
              <a:buNone/>
            </a:pPr>
            <a:r>
              <a:rPr lang="en-US" sz="22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얼마든 돈을 써요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고객이 구매하는 이유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산 사람들은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이렇게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말해요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463040" y="2011680"/>
            <a:ext cx="9265615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2011680"/>
            <a:ext cx="82296" cy="3291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73736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“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2194560" y="2377440"/>
            <a:ext cx="780257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책을 읽으면서 위로되는 심정이었습니다.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지금까지 내가 그렇게 잘못한 건 아니었구나 싶었어요.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앞으로 아이를 위해 뭘 해야 할지 훨씬 더 명확해졌습니다.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194560" y="4617720"/>
            <a:ext cx="7802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이***님 · 존중받는 부모의 감정대화법 구매 후기 (크레킷, 2026.09.14)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051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고객이 구매하는 이유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유튜브에 다 있는데도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463040" y="2011680"/>
            <a:ext cx="9265615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2011680"/>
            <a:ext cx="82296" cy="3291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73736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“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2194560" y="2377440"/>
            <a:ext cx="780257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개인적으로 이런 류의 책을 잘 안 사요.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…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재밌고 쉽게 잘 읽힘. 빨리 적용하고 싶단 생각이 듬.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194560" y="4617720"/>
            <a:ext cx="7802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이***님 · 리치코드 전자책 구매 후기 (크레킷, 2026.07.25)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052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고객이 구매하는 이유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전자책은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양쪽 다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좋아요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5633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3496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4777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고민 있는 사람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188056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572104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09264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663544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전자책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90382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6287872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2503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379312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해결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619592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900364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9508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나는 돈을 번다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053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08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08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팔리는 주제 찾기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“그럼 나는 어떤 내용으로 만들 수 있을까?”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054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팔리는 주제 찾기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누구의 고민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을 풀어줄까?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28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이런 고민이 있는 사람에게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1828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이런 전자책을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224028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자존감이 낮아서 고민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577840" y="2240280"/>
            <a:ext cx="100584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6583680" y="224028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75120" y="224028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자존감을 높이는 나만의 방법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321183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321183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다이어트 해도 자꾸 요요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3211830"/>
            <a:ext cx="100584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400" dirty="0"/>
          </a:p>
        </p:txBody>
      </p:sp>
      <p:sp>
        <p:nvSpPr>
          <p:cNvPr id="16" name="Shape 14"/>
          <p:cNvSpPr/>
          <p:nvPr/>
        </p:nvSpPr>
        <p:spPr>
          <a:xfrm>
            <a:off x="6583680" y="321183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75120" y="321183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요요 없는 다이어트 방법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22960" y="418338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418338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“반찬 어떻게 이렇게 맛있게 해?”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577840" y="4183380"/>
            <a:ext cx="100584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400" dirty="0"/>
          </a:p>
        </p:txBody>
      </p:sp>
      <p:sp>
        <p:nvSpPr>
          <p:cNvPr id="21" name="Shape 19"/>
          <p:cNvSpPr/>
          <p:nvPr/>
        </p:nvSpPr>
        <p:spPr>
          <a:xfrm>
            <a:off x="6583680" y="418338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75120" y="418338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가족에게 사랑받는 반찬 레시피 50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22960" y="515493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515493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 대하는 게 어려움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5577840" y="5154930"/>
            <a:ext cx="100584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400" dirty="0"/>
          </a:p>
        </p:txBody>
      </p:sp>
      <p:sp>
        <p:nvSpPr>
          <p:cNvPr id="26" name="Shape 24"/>
          <p:cNvSpPr/>
          <p:nvPr/>
        </p:nvSpPr>
        <p:spPr>
          <a:xfrm>
            <a:off x="6583680" y="515493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75120" y="515493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처세술 · 대화법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055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팔리는 주제 찾기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팔리는 주제는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순서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로 나와요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570013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954061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91221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045501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고객의 문제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792553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5176601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13761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268041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01509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7399142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3630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490582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237635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9621683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713123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056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팔리는 주제 찾기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욕구나 문제가 있는 사람을 돕고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합당한 대가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를 받는 거예요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057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팔리는 주제 찾기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채팅에 적어보세요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내가 자주 듣는 칭찬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은?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그게 여러분 전자책 주제가 될 수 있어요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058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09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09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작가의 과거 경험 · AI 전환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“주제는 정했는데, 책 한 권을 어떻게 쓰지?”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059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그런데 </a:t>
            </a:r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제가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책을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쓸 수 있을까요?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060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말 속에는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두 가지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가 숨어 있어요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생각 1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116504" y="3108960"/>
            <a:ext cx="5486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80160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“사람들은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전문가 책만 산다”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324448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98768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생각 2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8526551" y="3108960"/>
            <a:ext cx="5486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90208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“나는 책을 쓸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자신이 없다”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061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우리는 누구 말을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들을까요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의사 선생님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116504" y="3108960"/>
            <a:ext cx="5486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80160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“적게 드세요”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“운동하세요”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“따뜻한 물 드세요”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안 지킴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324448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24448" y="1965960"/>
            <a:ext cx="4952848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98768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나랑 비슷했던 친구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526551" y="3108960"/>
            <a:ext cx="54864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90208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“나 이렇게 해서 뺐어”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바로 따라 함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730088" y="361188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91B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30088" y="3611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VS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062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9144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권위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는 이렇게 생겨요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569568" y="27432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61008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나랑 비슷한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어려움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038448" y="2743200"/>
            <a:ext cx="822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4861408" y="27432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52848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그걸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극복한 이야기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7330288" y="2743200"/>
            <a:ext cx="822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</a:t>
            </a:r>
            <a:endParaRPr lang="en-US" sz="4000" dirty="0"/>
          </a:p>
        </p:txBody>
      </p:sp>
      <p:sp>
        <p:nvSpPr>
          <p:cNvPr id="12" name="Shape 10"/>
          <p:cNvSpPr/>
          <p:nvPr/>
        </p:nvSpPr>
        <p:spPr>
          <a:xfrm>
            <a:off x="8153248" y="27432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44688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권위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063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여러분의 인생이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누군가에게 도움이 된다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용기가 바로 권위예요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064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쓸 자신이 없다면?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제가 도와드릴게요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065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사실 저는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highlight>
                  <a:srgbClr val="0F172A"/>
                </a:highlight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망한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작가입니다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066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사실 저는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망한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작가입니다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067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64008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 인생 그래프예요</a:t>
            </a:r>
            <a:endParaRPr lang="en-US" sz="2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31520" y="1463040"/>
          <a:ext cx="10728655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068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연극영화과를 나왔고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배우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가 꿈이었어요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4수 끝에 29살에 졸업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069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무명 10년을 버티면 뜬다고 하면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버틸 수 있을까?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070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집에 돌아가 보니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우리 집은 가난하구나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071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0920" y="640080"/>
            <a:ext cx="3200400" cy="5577840"/>
          </a:xfrm>
          <a:prstGeom prst="roundRect">
            <a:avLst>
              <a:gd name="adj" fmla="val 12000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685800"/>
            <a:ext cx="3108960" cy="5486400"/>
          </a:xfrm>
          <a:prstGeom prst="roundRect">
            <a:avLst>
              <a:gd name="adj" fmla="val 11765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49640" y="822960"/>
            <a:ext cx="822960" cy="164592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06640" y="1188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09:41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7635240" y="2148840"/>
            <a:ext cx="2651760" cy="868680"/>
          </a:xfrm>
          <a:prstGeom prst="roundRect">
            <a:avLst>
              <a:gd name="adj" fmla="val 1473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0" y="230428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19872" y="225856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메일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0" y="26060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[일일 책쓰기 특강] 누구나 책을 쓸 수 있습니다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224028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어느 날 받은</a:t>
            </a:r>
            <a:endParaRPr lang="en-US" sz="3800" dirty="0"/>
          </a:p>
          <a:p>
            <a:pPr algn="l" indent="0" marL="0">
              <a:buNone/>
            </a:pPr>
            <a:r>
              <a:rPr lang="en-US" sz="38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한 통의 이메일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06908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일일 책쓰기 특강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072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“누구나 책을 쓸 수 있다”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한 줄기 빛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같았어요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073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수강료 </a:t>
            </a:r>
            <a:pPr algn="ctr" indent="0" marL="0">
              <a:buNone/>
            </a:pPr>
            <a:r>
              <a:rPr lang="en-US" sz="6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1,100만원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074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9144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 1,100만원은요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188720" y="2834640"/>
            <a:ext cx="3271418" cy="1280160"/>
          </a:xfrm>
          <a:prstGeom prst="rect">
            <a:avLst/>
          </a:prstGeom>
          <a:solidFill>
            <a:srgbClr val="E2E8F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2834640"/>
            <a:ext cx="32714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통장 300~400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4224528"/>
            <a:ext cx="32714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제가 가진 전부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60138" y="2834640"/>
            <a:ext cx="6542837" cy="1280160"/>
          </a:xfrm>
          <a:prstGeom prst="rect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60138" y="2834640"/>
            <a:ext cx="654283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아버지께 빌린 700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460138" y="4224528"/>
            <a:ext cx="654283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마트 배달일 하시던 아버지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1965960"/>
            <a:ext cx="98142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1,100만원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075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3개월 동안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매일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썼어요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5633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3496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4777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쓰고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188056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572104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09264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663544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지우고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90382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6287872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2503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379312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원고 완성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619592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900364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9508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책 출간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076</a:t>
            </a:r>
            <a:endParaRPr lang="en-US" sz="9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저의 첫 책</a:t>
            </a:r>
            <a:endParaRPr lang="en-US" sz="3000" dirty="0"/>
          </a:p>
        </p:txBody>
      </p:sp>
      <p:sp>
        <p:nvSpPr>
          <p:cNvPr id="6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첫 책 표지 · 출간 당시 사진 ]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077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망했습니다 </a:t>
            </a:r>
            <a:pPr algn="ctr" indent="0" marL="0">
              <a:buNone/>
            </a:pPr>
            <a:r>
              <a:rPr lang="en-US" sz="6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ㅎㅎ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078</a:t>
            </a:r>
            <a:endParaRPr lang="en-US" sz="9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왜 </a:t>
            </a:r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망했을까요?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079</a:t>
            </a:r>
            <a:endParaRPr lang="en-US" sz="9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6858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저는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파는 법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을 몰랐어요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32688" y="1856232"/>
            <a:ext cx="268215" cy="493776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7479" y="1741018"/>
            <a:ext cx="268215" cy="608990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42270" y="1790395"/>
            <a:ext cx="268215" cy="559613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47061" y="1839773"/>
            <a:ext cx="268215" cy="510235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51852" y="1724558"/>
            <a:ext cx="268215" cy="625450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56643" y="1773936"/>
            <a:ext cx="268215" cy="576072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61434" y="1823314"/>
            <a:ext cx="268215" cy="526694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66225" y="1708099"/>
            <a:ext cx="268215" cy="641909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71016" y="1757477"/>
            <a:ext cx="268215" cy="592531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75807" y="1806854"/>
            <a:ext cx="268215" cy="543154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80598" y="1856232"/>
            <a:ext cx="268215" cy="493776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85389" y="1741018"/>
            <a:ext cx="268215" cy="608990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90180" y="1790395"/>
            <a:ext cx="268215" cy="559613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94971" y="1839773"/>
            <a:ext cx="268215" cy="510235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99762" y="1724558"/>
            <a:ext cx="268215" cy="625450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04554" y="1773936"/>
            <a:ext cx="268215" cy="576072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09345" y="1823314"/>
            <a:ext cx="268215" cy="52669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14136" y="1708099"/>
            <a:ext cx="268215" cy="641909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18927" y="1757477"/>
            <a:ext cx="268215" cy="592531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23718" y="1806854"/>
            <a:ext cx="268215" cy="543154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28509" y="1856232"/>
            <a:ext cx="268215" cy="493776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33300" y="1741018"/>
            <a:ext cx="268215" cy="608990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38091" y="1790395"/>
            <a:ext cx="268215" cy="559613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42882" y="1839773"/>
            <a:ext cx="268215" cy="510235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47673" y="1724558"/>
            <a:ext cx="268215" cy="625450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52464" y="1773936"/>
            <a:ext cx="268215" cy="576072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57255" y="1823314"/>
            <a:ext cx="268215" cy="526694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62046" y="1708099"/>
            <a:ext cx="268215" cy="641909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66837" y="1757477"/>
            <a:ext cx="268215" cy="592531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71628" y="1806854"/>
            <a:ext cx="268215" cy="543154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076419" y="1856232"/>
            <a:ext cx="268215" cy="493776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381210" y="1741018"/>
            <a:ext cx="268215" cy="608990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686001" y="1790395"/>
            <a:ext cx="268215" cy="559613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990792" y="1839773"/>
            <a:ext cx="268215" cy="510235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4400" y="2350008"/>
            <a:ext cx="10362895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32688" y="2510942"/>
            <a:ext cx="268215" cy="625450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237479" y="2560320"/>
            <a:ext cx="268215" cy="576072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542270" y="2609698"/>
            <a:ext cx="268215" cy="52669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847061" y="2494483"/>
            <a:ext cx="268215" cy="641909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151852" y="2543861"/>
            <a:ext cx="268215" cy="592531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456643" y="2593238"/>
            <a:ext cx="268215" cy="543154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61434" y="2642616"/>
            <a:ext cx="268215" cy="493776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066225" y="2527402"/>
            <a:ext cx="268215" cy="608990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371016" y="2576779"/>
            <a:ext cx="268215" cy="559613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675807" y="2626157"/>
            <a:ext cx="268215" cy="510235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980598" y="2510942"/>
            <a:ext cx="268215" cy="625450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285389" y="2560320"/>
            <a:ext cx="268215" cy="576072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90180" y="2609698"/>
            <a:ext cx="268215" cy="526694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894971" y="2494483"/>
            <a:ext cx="268215" cy="641909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199762" y="2543861"/>
            <a:ext cx="268215" cy="592531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504554" y="2593238"/>
            <a:ext cx="268215" cy="543154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809345" y="2642616"/>
            <a:ext cx="268215" cy="493776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114136" y="2527402"/>
            <a:ext cx="268215" cy="608990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418927" y="2576779"/>
            <a:ext cx="268215" cy="559613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723718" y="2626157"/>
            <a:ext cx="268215" cy="510235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028509" y="2510942"/>
            <a:ext cx="268215" cy="625450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333300" y="2560320"/>
            <a:ext cx="268215" cy="576072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638091" y="2609698"/>
            <a:ext cx="268215" cy="52669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942882" y="2494483"/>
            <a:ext cx="268215" cy="641909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247673" y="2543861"/>
            <a:ext cx="268215" cy="592531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552464" y="2593238"/>
            <a:ext cx="268215" cy="543154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857255" y="2642616"/>
            <a:ext cx="268215" cy="493776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162046" y="2527402"/>
            <a:ext cx="268215" cy="608990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466837" y="2576779"/>
            <a:ext cx="268215" cy="559613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771628" y="2626157"/>
            <a:ext cx="268215" cy="510235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076419" y="2510942"/>
            <a:ext cx="268215" cy="625450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381210" y="2560320"/>
            <a:ext cx="268215" cy="576072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686001" y="2609698"/>
            <a:ext cx="268215" cy="526694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990792" y="2494483"/>
            <a:ext cx="268215" cy="641909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14400" y="3136392"/>
            <a:ext cx="10362895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32688" y="3330245"/>
            <a:ext cx="268215" cy="592531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237479" y="3379622"/>
            <a:ext cx="268215" cy="543154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542270" y="3429000"/>
            <a:ext cx="268215" cy="493776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847061" y="3313786"/>
            <a:ext cx="268215" cy="608990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151852" y="3363163"/>
            <a:ext cx="268215" cy="559613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456643" y="3412541"/>
            <a:ext cx="268215" cy="510235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761434" y="3297326"/>
            <a:ext cx="268215" cy="625450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066225" y="3346704"/>
            <a:ext cx="268215" cy="576072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371016" y="3396082"/>
            <a:ext cx="268215" cy="52669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675807" y="3280867"/>
            <a:ext cx="268215" cy="641909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980598" y="3330245"/>
            <a:ext cx="268215" cy="592531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285389" y="3379622"/>
            <a:ext cx="268215" cy="543154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590180" y="3429000"/>
            <a:ext cx="268215" cy="493776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894971" y="3313786"/>
            <a:ext cx="268215" cy="608990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199762" y="3363163"/>
            <a:ext cx="268215" cy="559613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504554" y="3412541"/>
            <a:ext cx="268215" cy="510235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809345" y="3297326"/>
            <a:ext cx="268215" cy="625450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114136" y="3346704"/>
            <a:ext cx="268215" cy="576072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418927" y="3396082"/>
            <a:ext cx="268215" cy="526694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723718" y="3280867"/>
            <a:ext cx="268215" cy="641909"/>
          </a:xfrm>
          <a:prstGeom prst="rect">
            <a:avLst/>
          </a:prstGeom>
          <a:solidFill>
            <a:srgbClr val="DC2626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028509" y="3330245"/>
            <a:ext cx="268215" cy="592531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333300" y="3379622"/>
            <a:ext cx="268215" cy="543154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638091" y="3429000"/>
            <a:ext cx="268215" cy="493776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942882" y="3313786"/>
            <a:ext cx="268215" cy="608990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247673" y="3363163"/>
            <a:ext cx="268215" cy="559613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552464" y="3412541"/>
            <a:ext cx="268215" cy="510235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857255" y="3297326"/>
            <a:ext cx="268215" cy="625450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162046" y="3346704"/>
            <a:ext cx="268215" cy="576072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466837" y="3396082"/>
            <a:ext cx="268215" cy="52669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771628" y="3280867"/>
            <a:ext cx="268215" cy="641909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0076419" y="3330245"/>
            <a:ext cx="268215" cy="592531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0381210" y="3379622"/>
            <a:ext cx="268215" cy="543154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0686001" y="3429000"/>
            <a:ext cx="268215" cy="493776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0990792" y="3313786"/>
            <a:ext cx="268215" cy="608990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914400" y="3922776"/>
            <a:ext cx="10362895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932688" y="4149547"/>
            <a:ext cx="268215" cy="559613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237479" y="4198925"/>
            <a:ext cx="268215" cy="510235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542270" y="4083710"/>
            <a:ext cx="268215" cy="625450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847061" y="4133088"/>
            <a:ext cx="268215" cy="576072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2151852" y="4182466"/>
            <a:ext cx="268215" cy="526694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2456643" y="4067251"/>
            <a:ext cx="268215" cy="641909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761434" y="4116629"/>
            <a:ext cx="268215" cy="592531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066225" y="4166006"/>
            <a:ext cx="268215" cy="543154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371016" y="4215384"/>
            <a:ext cx="268215" cy="493776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675807" y="4100170"/>
            <a:ext cx="268215" cy="608990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980598" y="4149547"/>
            <a:ext cx="268215" cy="559613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285389" y="4198925"/>
            <a:ext cx="268215" cy="510235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590180" y="4083710"/>
            <a:ext cx="268215" cy="625450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894971" y="4133088"/>
            <a:ext cx="268215" cy="576072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199762" y="4182466"/>
            <a:ext cx="268215" cy="52669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504554" y="4067251"/>
            <a:ext cx="268215" cy="641909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809345" y="4116629"/>
            <a:ext cx="268215" cy="592531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114136" y="4166006"/>
            <a:ext cx="268215" cy="543154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418927" y="4215384"/>
            <a:ext cx="268215" cy="493776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723718" y="4100170"/>
            <a:ext cx="268215" cy="608990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028509" y="4149547"/>
            <a:ext cx="268215" cy="559613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7333300" y="4198925"/>
            <a:ext cx="268215" cy="510235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7638091" y="4083710"/>
            <a:ext cx="268215" cy="625450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7942882" y="4133088"/>
            <a:ext cx="268215" cy="576072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8247673" y="4182466"/>
            <a:ext cx="268215" cy="526694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552464" y="4067251"/>
            <a:ext cx="268215" cy="641909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857255" y="4116629"/>
            <a:ext cx="268215" cy="592531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9162046" y="4166006"/>
            <a:ext cx="268215" cy="543154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9466837" y="4215384"/>
            <a:ext cx="268215" cy="493776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9771628" y="4100170"/>
            <a:ext cx="268215" cy="608990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0076419" y="4149547"/>
            <a:ext cx="268215" cy="559613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0381210" y="4198925"/>
            <a:ext cx="268215" cy="510235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0686001" y="4083710"/>
            <a:ext cx="268215" cy="625450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0990792" y="4133088"/>
            <a:ext cx="268215" cy="576072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914400" y="4709160"/>
            <a:ext cx="10362895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932688" y="4968850"/>
            <a:ext cx="268215" cy="52669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237479" y="4853635"/>
            <a:ext cx="268215" cy="641909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1542270" y="4903013"/>
            <a:ext cx="268215" cy="592531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1847061" y="4952390"/>
            <a:ext cx="268215" cy="543154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2151852" y="5001768"/>
            <a:ext cx="268215" cy="493776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2456643" y="4886554"/>
            <a:ext cx="268215" cy="608990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2761434" y="4935931"/>
            <a:ext cx="268215" cy="559613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3066225" y="4985309"/>
            <a:ext cx="268215" cy="510235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3371016" y="4870094"/>
            <a:ext cx="268215" cy="625450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3675807" y="4919472"/>
            <a:ext cx="268215" cy="576072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3980598" y="4968850"/>
            <a:ext cx="268215" cy="526694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4285389" y="4853635"/>
            <a:ext cx="268215" cy="641909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4590180" y="4903013"/>
            <a:ext cx="268215" cy="592531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4894971" y="4952390"/>
            <a:ext cx="268215" cy="543154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199762" y="5001768"/>
            <a:ext cx="268215" cy="493776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504554" y="4886554"/>
            <a:ext cx="268215" cy="608990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809345" y="4935931"/>
            <a:ext cx="268215" cy="559613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114136" y="4985309"/>
            <a:ext cx="268215" cy="510235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418927" y="4870094"/>
            <a:ext cx="268215" cy="625450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723718" y="4919472"/>
            <a:ext cx="268215" cy="576072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7028509" y="4968850"/>
            <a:ext cx="268215" cy="52669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7333300" y="4853635"/>
            <a:ext cx="268215" cy="641909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7638091" y="4903013"/>
            <a:ext cx="268215" cy="592531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7942882" y="4952390"/>
            <a:ext cx="268215" cy="543154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8247673" y="5001768"/>
            <a:ext cx="268215" cy="493776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8552464" y="4886554"/>
            <a:ext cx="268215" cy="608990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8857255" y="4935931"/>
            <a:ext cx="268215" cy="559613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9162046" y="4985309"/>
            <a:ext cx="268215" cy="510235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9466837" y="4870094"/>
            <a:ext cx="268215" cy="625450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9771628" y="4919472"/>
            <a:ext cx="268215" cy="576072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10076419" y="4968850"/>
            <a:ext cx="268215" cy="526694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10381210" y="4853635"/>
            <a:ext cx="268215" cy="641909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10686001" y="4903013"/>
            <a:ext cx="268215" cy="592531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10990792" y="4952390"/>
            <a:ext cx="268215" cy="543154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914400" y="5495544"/>
            <a:ext cx="10362895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1" name="Text 179"/>
          <p:cNvSpPr txBox="1"/>
          <p:nvPr/>
        </p:nvSpPr>
        <p:spPr>
          <a:xfrm>
            <a:off x="914400" y="562356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서점에 수만 권. 누가 알고 제 책을 사겠어요</a:t>
            </a:r>
            <a:endParaRPr lang="en-US" sz="1800" dirty="0"/>
          </a:p>
        </p:txBody>
      </p:sp>
      <p:sp>
        <p:nvSpPr>
          <p:cNvPr id="182" name="Text 180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83" name="Text 18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080</a:t>
            </a:r>
            <a:endParaRPr lang="en-US" sz="9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파는 법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을 모르면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좋은 책도 망해요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강의의 핵심이에요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081</a:t>
            </a:r>
            <a:endParaRPr lang="en-US" sz="9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그래서 </a:t>
            </a:r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유튜브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를 시작했어요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올리면 책도 사주겠지?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082</a:t>
            </a:r>
            <a:endParaRPr lang="en-US" sz="9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그런데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알게 된 게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있어요</a:t>
            </a:r>
            <a:endParaRPr lang="en-US" sz="3000" dirty="0"/>
          </a:p>
        </p:txBody>
      </p:sp>
      <p:sp>
        <p:nvSpPr>
          <p:cNvPr id="6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소심한 성격 고민 댓글들 캡처 ]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083</a:t>
            </a:r>
            <a:endParaRPr lang="en-US" sz="9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사람들만을 위한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50쪽짜리 전자책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084</a:t>
            </a:r>
            <a:endParaRPr lang="en-US" sz="9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2,600만원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판매 내역 증빙 캡처 ]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085</a:t>
            </a:r>
            <a:endParaRPr lang="en-US" sz="9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 책이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학원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까지 살렸어요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94560"/>
            <a:ext cx="256032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책 내기 전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474720" y="2194560"/>
            <a:ext cx="771114" cy="653796"/>
          </a:xfrm>
          <a:prstGeom prst="roundRect">
            <a:avLst>
              <a:gd name="adj" fmla="val 5594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28714" y="2194560"/>
            <a:ext cx="6848582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수강생 3~4명 · 월세도 겨우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383280"/>
            <a:ext cx="256032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전자책 이후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74720" y="3383280"/>
            <a:ext cx="7711135" cy="653796"/>
          </a:xfrm>
          <a:prstGeom prst="roundRect">
            <a:avLst>
              <a:gd name="adj" fmla="val 5594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0" y="3383280"/>
            <a:ext cx="7345375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수강생 줄 섬 → 수원에서 강남으로 이전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086</a:t>
            </a:r>
            <a:endParaRPr lang="en-US" sz="9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제가 낸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두 권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의 책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출판한 종이책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116504" y="3108960"/>
            <a:ext cx="5486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80160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1,100만원 들여서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3개월 매달려서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망함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324448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24448" y="1965960"/>
            <a:ext cx="4952848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98768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50쪽 전자책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526551" y="3108960"/>
            <a:ext cx="54864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90208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도움이 되게 쓴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권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2,600만원 + 학원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730088" y="361188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91B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30088" y="3611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VS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087</a:t>
            </a:r>
            <a:endParaRPr lang="en-US" sz="9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“저는 책을 써본 적도 없고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글 재능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도 없는데요?”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088</a:t>
            </a:r>
            <a:endParaRPr lang="en-US" sz="9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걱정 마세요</a:t>
            </a:r>
            <a:endParaRPr lang="en-US" sz="6600" dirty="0"/>
          </a:p>
          <a:p>
            <a:pPr algn="ctr" indent="0" marL="0">
              <a:buNone/>
            </a:pPr>
            <a:r>
              <a:rPr lang="en-US" sz="6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AI</a:t>
            </a:r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가 있잖아요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089</a:t>
            </a:r>
            <a:endParaRPr lang="en-US" sz="9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AI,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그때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와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지금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처음 나왔을 때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116504" y="3108960"/>
            <a:ext cx="5486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80160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“전자책 써줘”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어색하고 뻔한 글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그대로는 못 팖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324448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24448" y="1965960"/>
            <a:ext cx="4952848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98768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지금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526551" y="3108960"/>
            <a:ext cx="54864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90208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맥락을 읽고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· 스킬에 따라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결과가 완전히 달라짐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730088" y="361188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91B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30088" y="3611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VS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090</a:t>
            </a:r>
            <a:endParaRPr lang="en-US" sz="9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여기 </a:t>
            </a:r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AI 잘 쓰시는 분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계세요?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 쓴다 1 / 아직 어렵다 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091</a:t>
            </a:r>
            <a:endParaRPr lang="en-US" sz="9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글을 못 써도, AI를 못 써도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되게 만들었어요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전자책을 자동으로 만들어주는 프로그램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092</a:t>
            </a:r>
            <a:endParaRPr lang="en-US" sz="9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10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자체 프로그램 공개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“AI를 활용해서 실제 전자책으로 완성하고 싶다.”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093</a:t>
            </a:r>
            <a:endParaRPr lang="en-US" sz="9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책 한 권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걸리는 시간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64592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프로그램 소요 시간은 실제 시연 기준으로 ]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6032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종이책 출판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74720" y="2560320"/>
            <a:ext cx="7711135" cy="603504"/>
          </a:xfrm>
          <a:prstGeom prst="roundRect">
            <a:avLst>
              <a:gd name="adj" fmla="val 6061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7600" y="2560320"/>
            <a:ext cx="73453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원고 몇 달~몇 년 + 퇴고 + 출판사 + 홍보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65760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혼자 AI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474720" y="3657600"/>
            <a:ext cx="2570378" cy="603504"/>
          </a:xfrm>
          <a:prstGeom prst="roundRect">
            <a:avLst>
              <a:gd name="adj" fmla="val 6061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27978" y="3657600"/>
            <a:ext cx="504931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공부 · 시행착오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75488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프로그램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474720" y="4754880"/>
            <a:ext cx="642595" cy="603504"/>
          </a:xfrm>
          <a:prstGeom prst="roundRect">
            <a:avLst>
              <a:gd name="adj" fmla="val 606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00195" y="4754880"/>
            <a:ext cx="697710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○시간 ]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094</a:t>
            </a:r>
            <a:endParaRPr lang="en-US" sz="9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AI 전자책은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세 단계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21422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351380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30566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책 제작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45940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929988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67148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021428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판매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261708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764575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3719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잘 팔기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095</a:t>
            </a:r>
            <a:endParaRPr lang="en-US" sz="9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 스튜디오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64592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“주제만 정하면 첫 책이 나와요”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52648" y="2203704"/>
            <a:ext cx="548640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img/studio_hom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224" y="2240280"/>
            <a:ext cx="5413248" cy="33832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14400" y="57150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ebook-studio.preview.webdot.co.kr (미리보기 버전 화면)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096</a:t>
            </a:r>
            <a:endParaRPr lang="en-US" sz="9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프로그램 안에서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이렇게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흘러가요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주제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570013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954061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91221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045501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원료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(내 경험)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792553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5176601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13761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268041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만드는 중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(약 40분)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01509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7399142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3630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490582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완성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237635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9621683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713123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상세페이지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097</a:t>
            </a:r>
            <a:endParaRPr lang="en-US" sz="9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①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주제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— 정했으면 한 줄, 못 정했으면 추천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509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주제를 정했어요 / 추천받을래요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299388" y="2249424"/>
            <a:ext cx="4137152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img/studio_new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964" y="2286000"/>
            <a:ext cx="4064000" cy="3657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278728" y="1874520"/>
            <a:ext cx="509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17개 분야 · 311개 잘 팔리는 주제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173508" y="2249424"/>
            <a:ext cx="3300446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img/studio_cat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0084" y="2286000"/>
            <a:ext cx="3227294" cy="3657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098</a:t>
            </a:r>
            <a:endParaRPr lang="en-US" sz="9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②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원료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— 내 경험만 적으면 돼요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327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줄 주제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86384" y="2606086"/>
            <a:ext cx="3344570" cy="301742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img/studio_topic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642662"/>
            <a:ext cx="3271418" cy="294427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460138" y="1874520"/>
            <a:ext cx="327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저자 이름 + 경험 5칸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423562" y="2442515"/>
            <a:ext cx="3344570" cy="334457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img/studio_setup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0138" y="2479091"/>
            <a:ext cx="3271418" cy="327141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097317" y="1874520"/>
            <a:ext cx="327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만드는 중 (약 40분)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8060741" y="2606086"/>
            <a:ext cx="3344570" cy="301742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img/studio_progress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7317" y="2642662"/>
            <a:ext cx="3271418" cy="294427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099</a:t>
            </a:r>
            <a:endParaRPr lang="en-US" sz="9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②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디자인한다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— 표지 3안 · 3D 목업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509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표지 3안 중 고르기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86384" y="2570309"/>
            <a:ext cx="5163160" cy="308898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img/gen_cove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606885"/>
            <a:ext cx="5090008" cy="301583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278728" y="1874520"/>
            <a:ext cx="509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표지 + 3D 목업 결과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242152" y="2381025"/>
            <a:ext cx="5163160" cy="3467551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img/cover_set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8" y="2417601"/>
            <a:ext cx="5090008" cy="339439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</a:t>
            </a:r>
            <a:endParaRPr lang="en-US" sz="9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③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상세페이지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까지</a:t>
            </a:r>
            <a:endParaRPr lang="en-US" sz="3000" dirty="0"/>
          </a:p>
        </p:txBody>
      </p:sp>
      <p:sp>
        <p:nvSpPr>
          <p:cNvPr id="6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시연: 판매 페이지 자동 생성 ]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101</a:t>
            </a:r>
            <a:endParaRPr lang="en-US" sz="9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이렇게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완성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돼요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327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표지 · 3D 목업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86384" y="2442515"/>
            <a:ext cx="3344570" cy="334457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img/mock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79091"/>
            <a:ext cx="3271418" cy="327141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460138" y="1874520"/>
            <a:ext cx="327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423562" y="2931183"/>
            <a:ext cx="3344570" cy="236723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img/gen_body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0138" y="2967759"/>
            <a:ext cx="3271418" cy="229408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097317" y="1874520"/>
            <a:ext cx="327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페이지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8060741" y="2359816"/>
            <a:ext cx="3344570" cy="3509967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img/pages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7317" y="2396392"/>
            <a:ext cx="3271418" cy="343681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102</a:t>
            </a:r>
            <a:endParaRPr lang="en-US" sz="9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11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시청자 직접 실습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“나도 직접 만들어보고 싶다.”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103</a:t>
            </a:r>
            <a:endParaRPr lang="en-US" sz="9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시청자 직접 실습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지금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체험 링크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열어드릴게요</a:t>
            </a:r>
            <a:endParaRPr lang="en-US" sz="3000" dirty="0"/>
          </a:p>
        </p:txBody>
      </p:sp>
      <p:sp>
        <p:nvSpPr>
          <p:cNvPr id="6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체험 링크 · QR · 이용 시간 ]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104</a:t>
            </a:r>
            <a:endParaRPr lang="en-US" sz="9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시청자 직접 실습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만들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범위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011680" y="1920240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1920240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86000" y="19202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1920240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주제 1개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2011680" y="2889504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2889504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86000" y="2889504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2889504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 1개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2011680" y="3858768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0" y="3858768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286000" y="3858768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017520" y="3858768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2011680" y="4828032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11680" y="4828032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286000" y="4828032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3017520" y="4828032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 첫 부분 + 표지</a:t>
            </a:r>
            <a:endParaRPr lang="en-US" sz="21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105</a:t>
            </a:r>
            <a:endParaRPr lang="en-US" sz="9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시청자 직접 실습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제출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하면 100만원 심사 시작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011680" y="1920240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1920240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86000" y="19202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1920240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제출할 것: [ ]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2011680" y="2889504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2889504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86000" y="2889504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2889504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제출처: [ 링크 ]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2011680" y="3858768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0" y="3858768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286000" y="3858768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017520" y="3858768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마감: [ 시간 ]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2011680" y="4828032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11680" y="4828032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286000" y="4828032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3017520" y="4828032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심사 기준: 고객 · 문제 · 배운 순서</a:t>
            </a:r>
            <a:endParaRPr lang="en-US" sz="21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106</a:t>
            </a:r>
            <a:endParaRPr lang="en-US" sz="9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시청자 직접 실습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막히면 </a:t>
            </a:r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채팅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에 남겨주세요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스태프가 바로 도와드려요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107</a:t>
            </a:r>
            <a:endParaRPr lang="en-US" sz="9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시청자 직접 실습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팔 준비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가 다 끝났어요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이제 사람들에게 보여줄 차례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108</a:t>
            </a:r>
            <a:endParaRPr lang="en-US" sz="9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12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메타 광고 · 판매 구조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“만든 전자책을 구매할 사람들에게 보여주고 싶다.”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109</a:t>
            </a:r>
            <a:endParaRPr lang="en-US" sz="9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메타 광고 · 판매 구조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만든 책이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팔리는 길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5633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3496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4777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188056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572104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09264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663544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판매 페이지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90382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6287872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2503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379312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619592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900364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9508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자동 전달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110</a:t>
            </a:r>
            <a:endParaRPr lang="en-US" sz="9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메타 광고 · 판매 구조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어디에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보여줄까?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3332378" cy="2377440"/>
          </a:xfrm>
          <a:prstGeom prst="roundRect">
            <a:avLst>
              <a:gd name="adj" fmla="val 307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423160"/>
            <a:ext cx="2966618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메타 광고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326587"/>
            <a:ext cx="296661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페이스북 · 인스타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29658" y="2011680"/>
            <a:ext cx="333237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58258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612538" y="2423160"/>
            <a:ext cx="2966618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인스타 스폰서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612538" y="3326587"/>
            <a:ext cx="296661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게시물 홍보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36357" y="2011680"/>
            <a:ext cx="333237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64957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219237" y="2423160"/>
            <a:ext cx="2966618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크몽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219237" y="3326587"/>
            <a:ext cx="296661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재능마켓 등록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111</a:t>
            </a:r>
            <a:endParaRPr lang="en-US" sz="9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메타 광고 · 판매 구조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광고를 누르면 보는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판매 페이지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509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대화법 판매 페이지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86384" y="2368830"/>
            <a:ext cx="5163160" cy="3491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img/crk_talk_her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05406"/>
            <a:ext cx="5090008" cy="341878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278728" y="1874520"/>
            <a:ext cx="509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리치코드 판매 페이지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242152" y="2368830"/>
            <a:ext cx="5163160" cy="3491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img/crk_rich_hero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8" y="2405406"/>
            <a:ext cx="5090008" cy="341878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112</a:t>
            </a:r>
            <a:endParaRPr lang="en-US" sz="9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메타 광고 · 판매 구조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판매 페이지는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이렇게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흘러가요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77824" y="1996109"/>
            <a:ext cx="10436047" cy="3505861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img/strip_talk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32685"/>
            <a:ext cx="10362895" cy="343270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14400" y="57150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대화법 판매 페이지를 위에서 아래로 (모바일 화면) — 문제 공감 → 진단 체크 → 왜 안 됐나 → 저자 이야기 → 책 소개 → 목차 → 후기 → 구매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113</a:t>
            </a:r>
            <a:endParaRPr lang="en-US" sz="9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메타 광고 · 판매 구조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리치코드 판매 페이지도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같은 순서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77824" y="1996109"/>
            <a:ext cx="10436047" cy="3505861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img/strip_rich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32685"/>
            <a:ext cx="10362895" cy="343270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14400" y="57150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리치코드 판매 페이지 (모바일 화면) — 7년 전 이야기 → 인생 뒤엎은 썰 → 왜 안 풀리나 → 목차 → 후기 → 자주 묻는 질문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114</a:t>
            </a:r>
            <a:endParaRPr lang="en-US" sz="9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메타 광고 · 판매 구조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제가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실제로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돌린 광고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51128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 소재</a:t>
            </a:r>
            <a:endParaRPr lang="en-US" sz="1500" dirty="0"/>
          </a:p>
        </p:txBody>
      </p:sp>
      <p:sp>
        <p:nvSpPr>
          <p:cNvPr id="7" name="자료자리"/>
          <p:cNvSpPr/>
          <p:nvPr/>
        </p:nvSpPr>
        <p:spPr>
          <a:xfrm>
            <a:off x="822960" y="2286000"/>
            <a:ext cx="5112868" cy="370332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005840" y="2286000"/>
            <a:ext cx="4747108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메타 광고 소재 캡처 ]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255868" y="1874520"/>
            <a:ext cx="51128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 성과</a:t>
            </a:r>
            <a:endParaRPr lang="en-US" sz="1500" dirty="0"/>
          </a:p>
        </p:txBody>
      </p:sp>
      <p:sp>
        <p:nvSpPr>
          <p:cNvPr id="10" name="자료자리"/>
          <p:cNvSpPr/>
          <p:nvPr/>
        </p:nvSpPr>
        <p:spPr>
          <a:xfrm>
            <a:off x="6255868" y="2286000"/>
            <a:ext cx="5112868" cy="370332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6438748" y="2286000"/>
            <a:ext cx="4747108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노출 · 클릭 · 구매 · 광고비 ]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115</a:t>
            </a:r>
            <a:endParaRPr lang="en-US" sz="9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메타 광고 · 판매 구조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광고 세팅은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프로그램 + 수업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에서 같이 해요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회사 지원 범위 확정 후 문구 수정 ]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116</a:t>
            </a:r>
            <a:endParaRPr lang="en-US" sz="9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13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평범한 사람들의 성과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“나와 비슷한 사람은 어떻게 실행했을까?”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117</a:t>
            </a:r>
            <a:endParaRPr lang="en-US" sz="9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평범한 사람들의 성과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수강생 사례는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순서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로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5633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3496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4777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시작할 때 상황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188056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572104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09264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663544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만든 전자책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90382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6287872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2503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379312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과정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619592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900364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9508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118</a:t>
            </a:r>
            <a:endParaRPr lang="en-US" sz="9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평범한 사람들의 성과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수강생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님 · [직업]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33018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 상황</a:t>
            </a:r>
            <a:endParaRPr lang="en-US" sz="1500" dirty="0"/>
          </a:p>
        </p:txBody>
      </p:sp>
      <p:sp>
        <p:nvSpPr>
          <p:cNvPr id="7" name="자료자리"/>
          <p:cNvSpPr/>
          <p:nvPr/>
        </p:nvSpPr>
        <p:spPr>
          <a:xfrm>
            <a:off x="822960" y="2286000"/>
            <a:ext cx="3301898" cy="370332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005840" y="2286000"/>
            <a:ext cx="2936138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사진 · 상황 ]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44898" y="1874520"/>
            <a:ext cx="33018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만든 책</a:t>
            </a:r>
            <a:endParaRPr lang="en-US" sz="1500" dirty="0"/>
          </a:p>
        </p:txBody>
      </p:sp>
      <p:sp>
        <p:nvSpPr>
          <p:cNvPr id="10" name="자료자리"/>
          <p:cNvSpPr/>
          <p:nvPr/>
        </p:nvSpPr>
        <p:spPr>
          <a:xfrm>
            <a:off x="4444898" y="2286000"/>
            <a:ext cx="3301898" cy="370332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4627778" y="2286000"/>
            <a:ext cx="2936138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표지 ]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066837" y="1874520"/>
            <a:ext cx="33018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endParaRPr lang="en-US" sz="1500" dirty="0"/>
          </a:p>
        </p:txBody>
      </p:sp>
      <p:sp>
        <p:nvSpPr>
          <p:cNvPr id="13" name="자료자리"/>
          <p:cNvSpPr/>
          <p:nvPr/>
        </p:nvSpPr>
        <p:spPr>
          <a:xfrm>
            <a:off x="8066837" y="2286000"/>
            <a:ext cx="3301898" cy="370332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8249717" y="2286000"/>
            <a:ext cx="2936138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매출 300만원 캡처 ]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119</a:t>
            </a:r>
            <a:endParaRPr lang="en-US" sz="9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평범한 사람들의 성과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수강생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B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님 · [직업]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33018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 상황</a:t>
            </a:r>
            <a:endParaRPr lang="en-US" sz="1500" dirty="0"/>
          </a:p>
        </p:txBody>
      </p:sp>
      <p:sp>
        <p:nvSpPr>
          <p:cNvPr id="7" name="자료자리"/>
          <p:cNvSpPr/>
          <p:nvPr/>
        </p:nvSpPr>
        <p:spPr>
          <a:xfrm>
            <a:off x="822960" y="2286000"/>
            <a:ext cx="3301898" cy="370332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005840" y="2286000"/>
            <a:ext cx="2936138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사진 · 상황 ]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44898" y="1874520"/>
            <a:ext cx="33018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만든 책</a:t>
            </a:r>
            <a:endParaRPr lang="en-US" sz="1500" dirty="0"/>
          </a:p>
        </p:txBody>
      </p:sp>
      <p:sp>
        <p:nvSpPr>
          <p:cNvPr id="10" name="자료자리"/>
          <p:cNvSpPr/>
          <p:nvPr/>
        </p:nvSpPr>
        <p:spPr>
          <a:xfrm>
            <a:off x="4444898" y="2286000"/>
            <a:ext cx="3301898" cy="370332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4627778" y="2286000"/>
            <a:ext cx="2936138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표지 ]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066837" y="1874520"/>
            <a:ext cx="33018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endParaRPr lang="en-US" sz="1500" dirty="0"/>
          </a:p>
        </p:txBody>
      </p:sp>
      <p:sp>
        <p:nvSpPr>
          <p:cNvPr id="13" name="자료자리"/>
          <p:cNvSpPr/>
          <p:nvPr/>
        </p:nvSpPr>
        <p:spPr>
          <a:xfrm>
            <a:off x="8066837" y="2286000"/>
            <a:ext cx="3301898" cy="370332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8249717" y="2286000"/>
            <a:ext cx="2936138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매출 500만원 캡처 ]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120</a:t>
            </a:r>
            <a:endParaRPr lang="en-US" sz="9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평범한 사람들의 성과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수강생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인터뷰</a:t>
            </a:r>
            <a:endParaRPr lang="en-US" sz="3000" dirty="0"/>
          </a:p>
        </p:txBody>
      </p:sp>
      <p:sp>
        <p:nvSpPr>
          <p:cNvPr id="6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실제 수강생 인터뷰 영상 ]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121</a:t>
            </a:r>
            <a:endParaRPr lang="en-US" sz="9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14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해결한 과정 정리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“이제 내가 무엇을 하면 되는지 정리하고 싶다.”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122</a:t>
            </a:r>
            <a:endParaRPr lang="en-US" sz="9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651096" y="384048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 오늘 해결한 과정 정리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4817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5947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어떤가요?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생각보다 간단하지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않아요?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123</a:t>
            </a:r>
            <a:endParaRPr lang="en-US" sz="9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651096" y="384048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 오늘 해결한 과정 정리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4817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5947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한 걸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한 화면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으로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팔리는 주제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199589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583637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20797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675077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051706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4435754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914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27194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끌리는 목차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90382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6287872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2503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379312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원고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755941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8139989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77149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231429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문체 · 디자인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608058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9992106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083546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상세페이지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124</a:t>
            </a:r>
            <a:endParaRPr lang="en-US" sz="9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651096" y="384048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 오늘 해결한 과정 정리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4817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5947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여러분은 오늘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 한 권의 시작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을 만들었어요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125</a:t>
            </a:r>
            <a:endParaRPr lang="en-US" sz="9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15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프로그램 이용 · 수강 연결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“오늘 해본 방식으로 계속 만들고 판매하고 싶다.”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126</a:t>
            </a:r>
            <a:endParaRPr lang="en-US" sz="9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431640" y="38404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 프로그램 이용 · 수강 연결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9287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789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“혼자서도 AI로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충분히 만들 수 있지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않나요?”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127</a:t>
            </a:r>
            <a:endParaRPr lang="en-US" sz="9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431640" y="38404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 프로그램 이용 · 수강 연결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9287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789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혼자 AI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vs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AI 전자책 프로그램</a:t>
            </a:r>
            <a:endParaRPr lang="en-US" sz="3000" dirty="0"/>
          </a:p>
        </p:txBody>
      </p:sp>
      <p:graphicFrame>
        <p:nvGraphicFramePr>
          <p:cNvPr id="1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74520"/>
          <a:ext cx="10545775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566160"/>
                <a:gridCol w="2956255"/>
              </a:tblGrid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해야 할 일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혼자 AI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프로그램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길들이기 (프롬프트 · 스킬)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이미 완료 · 계속 업데이트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팔리는 주제 · 자료 조사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DC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끌리는 목차 · 사람 냄새 나는 원고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DC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표지 · 내지 · 3D 이미지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DC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판매 페이지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DC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비싼 요금제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필요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 확인 ]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128</a:t>
            </a:r>
            <a:endParaRPr lang="en-US" sz="9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431640" y="38404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 프로그램 이용 · 수강 연결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9287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789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체험은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라이브 중에만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열려요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정식 프로그램은 수강생만 쓸 수 있어요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129</a:t>
            </a:r>
            <a:endParaRPr lang="en-US" sz="9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16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커리큘럼 · 혜택 · 가격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“수강하면 무엇을 이용하고, 어떤 순서로 실행할 수 있을까?”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130</a:t>
            </a:r>
            <a:endParaRPr lang="en-US" sz="9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04792" y="384048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 커리큘럼 · 혜택 · 가격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0187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0577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4주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커리큘럼 [초안]</a:t>
            </a:r>
            <a:endParaRPr lang="en-US" sz="3000" dirty="0"/>
          </a:p>
        </p:txBody>
      </p:sp>
      <p:graphicFrame>
        <p:nvGraphicFramePr>
          <p:cNvPr id="1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74520"/>
          <a:ext cx="1054577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217920"/>
                <a:gridCol w="3047695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주차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내용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끝나면 남는 것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1주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마인드셋 · 팔리는 주제 찾기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 주제 · 제목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2주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크레킷 가입 · 프로그램으로 전자책 1권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 전자책 1권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3주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판매 페이지 등록 · 메타 광고 세팅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판매 시작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4주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광고 성과 읽기 · 다음 책 무한 루프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다음 책 계획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131</a:t>
            </a:r>
            <a:endParaRPr lang="en-US" sz="9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04792" y="384048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 커리큘럼 · 혜택 · 가격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0187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0577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혜택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[미팅 확정]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프로그램 이용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기간 · 크레딧 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527984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56584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710864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광고 지원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3710864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범위 ]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33008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61608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15888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피드백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415888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횟수 · 방식 ]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938031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66631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9120911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커뮤니티 · 자료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9120911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]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132</a:t>
            </a:r>
            <a:endParaRPr lang="en-US" sz="9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04792" y="384048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 커리큘럼 · 혜택 · 가격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0187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0577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수강료</a:t>
            </a:r>
            <a:endParaRPr lang="en-US" sz="3000" dirty="0"/>
          </a:p>
        </p:txBody>
      </p:sp>
      <p:graphicFrame>
        <p:nvGraphicFramePr>
          <p:cNvPr id="1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74520"/>
          <a:ext cx="10545775" cy="914400"/>
        </p:xfrm>
        <a:graphic>
          <a:graphicData uri="http://schemas.openxmlformats.org/drawingml/2006/table">
            <a:tbl>
              <a:tblPr/>
              <a:tblGrid>
                <a:gridCol w="4218310"/>
                <a:gridCol w="6327465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과정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가격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온라인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219만원 [확정 전]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오프라인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249만원 [확정 전]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133</a:t>
            </a:r>
            <a:endParaRPr lang="en-US" sz="9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04792" y="384048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 커리큘럼 · 혜택 · 가격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0187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0577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신청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방법</a:t>
            </a:r>
            <a:endParaRPr lang="en-US" sz="3000" dirty="0"/>
          </a:p>
        </p:txBody>
      </p:sp>
      <p:sp>
        <p:nvSpPr>
          <p:cNvPr id="6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신청 링크 · QR · 마감 ]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134</a:t>
            </a:r>
            <a:endParaRPr lang="en-US" sz="9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17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우수작 · 100만원 발표 · 마무리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“오늘 배운 내용을 잘 적용한 결과물을 보고 싶다.”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135</a:t>
            </a:r>
            <a:endParaRPr lang="en-US" sz="9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65880" y="384048"/>
            <a:ext cx="4059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 우수작 · 100만원 발표 · 마무리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56296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468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오늘의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우수작</a:t>
            </a:r>
            <a:endParaRPr lang="en-US" sz="3000" dirty="0"/>
          </a:p>
        </p:txBody>
      </p:sp>
      <p:sp>
        <p:nvSpPr>
          <p:cNvPr id="6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제출작 화면 ]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136</a:t>
            </a:r>
            <a:endParaRPr lang="en-US" sz="9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65880" y="384048"/>
            <a:ext cx="4059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 우수작 · 100만원 발표 · 마무리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56296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468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100만원</a:t>
            </a:r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의 주인공은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137</a:t>
            </a:r>
            <a:endParaRPr lang="en-US" sz="9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65880" y="384048"/>
            <a:ext cx="4059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 우수작 · 100만원 발표 · 마무리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56296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468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책이 망했던 제가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 한 권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으로 다시 일어났어요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여러분 차례예요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138</a:t>
            </a:r>
            <a:endParaRPr lang="en-US" sz="9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65880" y="384048"/>
            <a:ext cx="4059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 우수작 · 100만원 발표 · 마무리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56296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468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 · [ 회사명 ]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139</Slides>
  <Notes>139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139</vt:i4>
      </vt:variant>
    </vt:vector>
  </HeadingPairs>
  <TitlesOfParts>
    <vt:vector size="1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전자책 무료 라이브</dc:title>
  <dc:subject>PptxGenJS Presentation</dc:subject>
  <dc:creator>병조쌤</dc:creator>
  <cp:lastModifiedBy>병조쌤</cp:lastModifiedBy>
  <cp:revision>1</cp:revision>
  <dcterms:created xsi:type="dcterms:W3CDTF">2026-10-13T00:27:34Z</dcterms:created>
  <dcterms:modified xsi:type="dcterms:W3CDTF">2026-10-13T00:27:34Z</dcterms:modified>
</cp:coreProperties>
</file>