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1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charts/chart2.xml" ContentType="application/vnd.openxmlformats-officedocument.drawingml.chart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</p:sldIdLst>
  <p:notesMasterIdLst>
    <p:notesMasterId r:id="rId1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오프닝 · 첫 100만원 발표" id="{ee251c54-fc38-964c-492f-ef50cd1cbda8}">
          <p14:sldIdLst>
            <p14:sldId id="256"/>
            <p14:sldId id="257"/>
            <p14:sldId id="258"/>
            <p14:sldId id="259"/>
            <p14:sldId id="260"/>
          </p14:sldIdLst>
        </p14:section>
        <p14:section name="2. 추가 100만원 이벤트" id="{ec69484c-bf34-eb9e-e33e-6ca453b1133c}">
          <p14:sldIdLst>
            <p14:sldId id="261"/>
            <p14:sldId id="262"/>
            <p14:sldId id="263"/>
            <p14:sldId id="264"/>
          </p14:sldIdLst>
        </p14:section>
        <p14:section name="3. 부수입에 대한 공감" id="{4e08e2bb-e5a3-a110-1052-d29acb68ee64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4. 다른 부업 비교" id="{0a318c4e-830a-03b8-a0df-6ccd44cd5d7f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5. 전자책 부업 소개" id="{61a69002-5a30-d300-1463-b291e4e9a945}">
          <p14:sldIdLst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6. 실제 상품 · 매출 공개" id="{168a6e5b-99a8-acaa-710d-4b9fccceac7d}">
          <p14:sldIdLst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7. 고객이 구매하는 이유" id="{ac46e44a-d062-0fe0-c21b-e687dd719da5}">
          <p14:sldIdLst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8. 팔리는 주제 찾기" id="{16a82b15-63f3-f599-a931-05a713f65f63}">
          <p14:sldIdLst>
            <p14:sldId id="302"/>
            <p14:sldId id="303"/>
            <p14:sldId id="304"/>
            <p14:sldId id="305"/>
            <p14:sldId id="306"/>
          </p14:sldIdLst>
        </p14:section>
        <p14:section name="9. 작가의 과거 경험 · AI 전환" id="{7c181e56-780b-e5de-602e-adc3d7ff57e4}">
          <p14:sldIdLst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</p14:sldIdLst>
        </p14:section>
        <p14:section name="10. 자체 프로그램 공개" id="{9cf41103-4247-61f3-e748-cea0d396aa70}">
          <p14:sldIdLst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</p14:sldIdLst>
        </p14:section>
        <p14:section name="11. 시청자 직접 실습" id="{042b55fb-cf9e-8af2-26ae-f619b46afe28}">
          <p14:sldIdLst>
            <p14:sldId id="349"/>
            <p14:sldId id="350"/>
            <p14:sldId id="351"/>
            <p14:sldId id="352"/>
            <p14:sldId id="353"/>
            <p14:sldId id="354"/>
          </p14:sldIdLst>
        </p14:section>
        <p14:section name="12. 메타 광고 · 판매 구조" id="{e64f704b-b4b5-ec58-51b3-828affdd2ae0}">
          <p14:sldIdLst>
            <p14:sldId id="355"/>
            <p14:sldId id="356"/>
            <p14:sldId id="357"/>
            <p14:sldId id="358"/>
            <p14:sldId id="359"/>
          </p14:sldIdLst>
        </p14:section>
        <p14:section name="13. 평범한 사람들의 성과" id="{fda84e62-93dd-a5bf-c545-ee5c3611bbaf}">
          <p14:sldIdLst>
            <p14:sldId id="360"/>
            <p14:sldId id="361"/>
            <p14:sldId id="362"/>
            <p14:sldId id="363"/>
            <p14:sldId id="364"/>
          </p14:sldIdLst>
        </p14:section>
        <p14:section name="14. 오늘 해결한 과정 정리" id="{cf879e8a-95a2-a498-1e04-cd68f3ee4f2d}">
          <p14:sldIdLst>
            <p14:sldId id="365"/>
            <p14:sldId id="366"/>
            <p14:sldId id="367"/>
            <p14:sldId id="368"/>
          </p14:sldIdLst>
        </p14:section>
        <p14:section name="15. 프로그램 이용 · 수강 연결" id="{2a58f24e-af3c-ba32-1e4c-00d9d35a11e0}">
          <p14:sldIdLst>
            <p14:sldId id="369"/>
            <p14:sldId id="370"/>
            <p14:sldId id="371"/>
            <p14:sldId id="372"/>
          </p14:sldIdLst>
        </p14:section>
        <p14:section name="16. 커리큘럼 · 혜택 · 가격" id="{5fa12904-91e0-8645-2dbf-19e575f8c20e}">
          <p14:sldIdLst>
            <p14:sldId id="373"/>
            <p14:sldId id="374"/>
            <p14:sldId id="375"/>
            <p14:sldId id="376"/>
            <p14:sldId id="377"/>
          </p14:sldIdLst>
        </p14:section>
        <p14:section name="17. 우수작 · 100만원 발표 · 마무리" id="{73c7bed3-6a38-fc25-944e-a9d783501e0a}">
          <p14:sldIdLst>
            <p14:sldId id="378"/>
            <p14:sldId id="379"/>
            <p14:sldId id="380"/>
            <p14:sldId id="381"/>
            <p14:sldId id="3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notesMaster" Target="notesMasters/notesMaster1.xml"/><Relationship Id="rId130" Type="http://schemas.openxmlformats.org/officeDocument/2006/relationships/presProps" Target="presProps.xml"/><Relationship Id="rId131" Type="http://schemas.openxmlformats.org/officeDocument/2006/relationships/viewProps" Target="viewProps.xml"/><Relationship Id="rId132" Type="http://schemas.openxmlformats.org/officeDocument/2006/relationships/theme" Target="theme/theme1.xml"/><Relationship Id="rId1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종이책 *인세*, 얼마인지 아세요?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302A"/>
              </a:solidFill>
              <a:effectLst/>
            </c:spPr>
          </c:dPt>
          <c:dPt>
            <c:idx val="1"/>
            <c:bubble3D val="0"/>
            <c:spPr>
              <a:solidFill>
                <a:srgbClr val="D9D9D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작가 몫</c:v>
                </c:pt>
                <c:pt idx="1">
                  <c:v>나머지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90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인생 그래프</c:v>
                </c:pt>
              </c:strCache>
            </c:strRef>
          </c:tx>
          <c:spPr>
            <a:solidFill>
              <a:srgbClr val="E0302A"/>
            </a:solidFill>
            <a:ln w="50800" cap="flat">
              <a:solidFill>
                <a:srgbClr val="E030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E0302A"/>
              </a:solidFill>
              <a:ln w="9525" cap="flat">
                <a:solidFill>
                  <a:srgbClr val="E030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배우의 꿈</c:v>
                  </c:pt>
                  <c:pt idx="1">
                    <c:v>29살 졸업</c:v>
                  </c:pt>
                  <c:pt idx="2">
                    <c:v>집이 기울다</c:v>
                  </c:pt>
                  <c:pt idx="3">
                    <c:v>책쓰기 특강</c:v>
                  </c:pt>
                  <c:pt idx="4">
                    <c:v>첫 책 출간</c:v>
                  </c:pt>
                  <c:pt idx="5">
                    <c:v>망함</c:v>
                  </c:pt>
                  <c:pt idx="6">
                    <c:v>유튜브</c:v>
                  </c:pt>
                  <c:pt idx="7">
                    <c:v>전자책 50쪽</c:v>
                  </c:pt>
                  <c:pt idx="8">
                    <c:v>학원 강남 이전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</c:v>
                </c:pt>
                <c:pt idx="1">
                  <c:v>5</c:v>
                </c:pt>
                <c:pt idx="2">
                  <c:v>2</c:v>
                </c:pt>
                <c:pt idx="3">
                  <c:v>6</c:v>
                </c:pt>
                <c:pt idx="4">
                  <c:v>8</c:v>
                </c:pt>
                <c:pt idx="5">
                  <c:v>1</c:v>
                </c:pt>
                <c:pt idx="6">
                  <c:v>3</c:v>
                </c:pt>
                <c:pt idx="7">
                  <c:v>8</c:v>
                </c:pt>
                <c:pt idx="8">
                  <c:v>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A1A1A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1. 오프닝 · 첫 100만원 발표
시청자 마음: “단톡방 이벤트 당첨자를 확인하고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강의 제목만 크게.
🎤 말로: 인사. 채팅창에 '어디서 오셨는지' 남겨 달라고 하기.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 한 줄.
🎤 말로: 채팅 읽어주면서 분위기 풀기. 2~3분.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 + 두근두근.
🎤 말로: 단톡방 이벤트 기준 다시 한 번 말하고 바로 발표.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당첨자 화면.
🎤 말로: 왜 뽑혔는지 짧게. '여러분도 오늘 기회 있어요'로 다음 장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2. 추가 100만원 이벤트
시청자 마음: “나도 이번에는 참여하고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숫자만 크게.
🎤 말로: 오늘 배운 걸 가장 잘 적용한 1명. 마지막에 발표한다고 박아두기.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3단계 흐름도.
🎤 말로: [제출처·마감 시간은 회사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심사 기준 3개.
🎤 말로: 잘 쓴 글이 아니라 '오늘 배운 걸 적용했나'를 본다고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3. 부수입에 대한 공감
시청자 마음: “본업을 하면서 돈을 더 벌고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 하나만. 여백 크게.
🎤 말로: 여러분 돈 좋아하세요? 저는 돈을 사랑합니다.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1번 / 2번 선택지.
🎤 말로: 돈미새 들어보셨죠? 저 돈미새 맞습니다. 돈미새이신 분 1111, 돈이 싫다 2222. (채팅 읽기) ㅎㅎㅎ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오늘 여러분들 돈 많이 벌고 싶어서 오신 거잖아요. 제가 오늘 다 알려드릴게요.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수식 한 줄. '시간'만 빨간색.
🎤 말로: 저희가 보통 돈을 어떻게 벌죠? 일! 노동을 한 시간만큼 버는 거잖아요.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하루 시간표. 일한 구간만 빨간색.
🎤 말로: 하루에 8시간 일했으면 8시간에 대한 대가를 받는 걸 월급이라고 하죠.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육체 노동하고 감정 노동하면서 고생한 만큼 합당한 보상 받고 있다고 생각하세요? (채팅 반응 보기)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6+3+3+4 막대가 16년으로 쌓이는 그림.
🎤 말로: 초중고, 우리나라면 대학교까지 졸업하니까 6, 3, 3, 4. 16년이나 미치도록 공부해서 직장 들어가는데, 그렇게 고생해서 버는 게 다 비슷하다는 게 아이러니하지 않나요?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만약 시간에 구애받지 않는 아이템이 있다면요?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 카드. '잘 때'만 빨간색.
🎤 말로: 내가 일할 때, 쉴 때, 자고 있을 때도 돈을 벌어다줘요.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단어. 잠깐 멈추고 넘기기.
🎤 말로: 그게 뭐냐. 바로 전자책입니다.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4. 다른 부업 비교
시청자 마음: “내 상황에서 시작하기 좋은 부업은 뭘까?”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부업, 부수입에 관심 있으신 분들이라면 아시잖아요.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4개 카드. 아래 설명이 전부 '매일·계속'.
🎤 말로: 유튜브, 인스타, 블로그, 커머스 너무 좋은 아이템들이지만 그만큼 시간과 에너지를 투자해야 성과가 나와요.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저희가 부업을 왜 하죠? 돈을 벌려고 하는 거잖아요.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본업 뒤에 부업이 붙은 시간표.
🎤 말로: 퇴근하고 시간 반납하고, 주말에도 풀타임으로 계속 에너지를 쏟아야 한다면? 그건 부업이 아니라 연장근무나 다를 게 없잖아요?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왼쪽 '매일' vs 오른쪽 '한 번'.
🎤 말로: 그런데 이 전자책은요, 한 번 세팅만 해두면 블로그나 쇼츠처럼 매일 새로 만들 필요가 없어요. (광고도 한 번 세팅해두면 매일 손댈 일이 거의 없다는 뜻 — 과장 없이)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5. 전자책 부업 소개
시청자 마음: “재고와 배송 부담 없이 반복 판매할 상품이 필요하다.”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왜냐, 책이 알아서 돈을 벌어다주기 때문이에요. 내가 쓴 책이 알아서 일을 하는 거죠.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 마지막 칸이 빨간색.
🎤 말로: 서점에 여러분이 쓴 책이 있다고 해볼게요. 누가 그 책을 샀어요. 그때 여러분이 일을 하나요? 아니죠. 책이 알아서 돈을 벌어다줘요.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위아래 두 줄 비교. 아래 줄이 훨씬 짧음.
🎤 말로: 직접 서점에 진열되는 책을 출판까지 하는 과정은 복잡하고 돈과 시간이 들기도 하구요. 그런데 전자책은 달라요.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
🎤 말로: 전자책은 딱 한 권만 만들면 파일 형태이기 때문에, 판매할 수 있는 곳에 올려두고 누가 사면 파일만 다운로드할 수 있게 하는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도넛 그래프. 작가 몫 10%만 빨간색.
🎤 말로: 복잡한 출판 과정도 없죠. 초보 작가 인세는 5~10% 남짓이라 돈도 안 돼요. 종이로 찍어내는 귀찮은 과정도 없어요. [전자책 실제 수수료·마진은 크레킷 기준으로 확인 후 숫자 넣기]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여러분 시간은 소중하잖아요. 전자책 만들어서 올려놓으면 시간도 벌고 돈도 벌고. 진짜 개쩔지 않나요?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6. 실제 상품 · 매출 공개
시청자 마음: “실제로 어떤 전자책이 얼마나 팔리는지 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지금부터 실제 판매 내역을 오픈할게요.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휴대폰 알림 목업 → 실제 알림 캡처로 교체.
🎤 말로: 여러분 저도 본업이 있는 사람이거든요. 일하다가 잠깐 쉴 거 아니에요. 그럼 구매 알림이 떠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크몽 / 크레킷 나란히.
🎤 말로: 크몽에서 팔던 때랑 지금 크레킷에서 파는 게 어떻게 다른지 짧게. [금액은 캡처 기준]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책별 표. 빈칸은 실제 숫자로.
🎤 말로: 책마다 가격·판매처·매출 짚어주기. 범프(함께 사는 상품) 70% 같은 숫자도 여기서.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숫자 + 증빙 캡처 다음 장.
🎤 말로: 본업 병행하면서 낸 매출 사례. [기간·금액 증빙 기준으로]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새벽 시간 알림.
🎤 말로: 돈 벌고 있는 시간에 책이 돈을 벌어다줘요. 정말 미치지 않았나요? (출판 작가 이력은 뒤에서)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7. 고객이 구매하는 이유
시청자 마음: “사람들이 돈을 내고 사는 내용은 무엇일까?”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그럼 사람들은 왜 전자책을 살까요?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빈칸 퀴즈. 단어는 검게 가려 둠.
🎤 말로: 사람들은 땡땡 땡땡에 미쳐 있어요. 이 땡땡땡땡이 뭘까요? (채팅 맞히기)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정답 공개.
🎤 말로: 바로 '욕구 해소'입니다.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욕구 말풍선이 화면 가득.
🎤 말로: 삶이 더 나아지고 싶고, 돈도 많이 벌고 싶고, 자존감도, 연애도, 대화도… 이 욕구를 해소하고 싶은 게 인간의 본능이고, 문제를 해결해주는 게 확실하다면 그게 얼마건 돈을 써요.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
🎤 말로: 한마디로 이 전자책은 사람들의 욕구나 문제를 해결해줌과 동시에 돈까지 벌 수 있으니, 파는 사람도 사는 사람도 좋은 거죠.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8. 팔리는 주제 찾기
시청자 마음: “그럼 나는 어떤 내용으로 만들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왼쪽 고민 → 오른쪽 전자책 짝 맞추기.
🎤 말로: 자존감이 낮아서 고민인 사람에게는 자존감 높이는 나만의 방법을, 요요 때문에 고민인 사람에게는 요요 없는 다이어트를. 평소에 '넌 반찬을 어떻게 이렇게 맛있게 하냐'는 칭찬을 듣는다면 반찬 레시피를 팔 수도 있죠.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5단계 흐름.
🎤 말로: [회사 기획: 실제 사례로 풀기] 예) 반찬 → '바쁜 워킹맘' → '저녁 메뉴 고민' → '15분 반찬' → 목차.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욕구나 문제가 있는 사람들을 도와주고 그에 합당한 대가를 받을 수 있다는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참여 질문.
🎤 말로: 채팅 몇 개 읽어주며 즉석에서 주제로 바꿔주기. (강의 몰입 포인트)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9. 작가의 과거 경험 · AI 전환
시청자 마음: “주제는 정했는데, 책 한 권을 어떻게 쓰지?”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그럼 많은 분들이 이렇게 생각할 거예요. 책은 전문가나 그런 사람들이 쓰는 거 아닌가?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개의 생각 카드.
🎤 말로: 한 분야에 통달한 사람이 쓰는 거 아니냐 하는데, 잘 보세요. 이 말에는 두 가지가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의사 vs 친구 비교.
🎤 말로: 병원 가면 의사쌤이 적게 먹어라, 운동해라, 따뜻한 물 마셔라 하잖아요. 이거 우리 지킵니까? 안 지키잖아요. 오히려 옆집 아줌마, 동네 삼촌, 나와 비슷한 어려움을 겪은 친구 말을 더 듣는다는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수식.
🎤 말로: 팔로워가 많거나 권위 있는 전문가라고 반드시 따르진 않아요. 나와 비슷한 어려움을 겪은 사람이 그걸 극복했다면, 그 스토리와 방법이 바로 권위가 되는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여러분의 인생이 누군가에게 도움을 주는 용기를 낸다. 그게 바로 권위가 된다는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두 번째로 책을 쓸 자신이 없어서라면, 그건 제가 도와드릴 테니까 걱정하지 말고 해보자 이거예요.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'망한'을 검게 가림. 다음 장에서 공개.
🎤 말로: 여러분 사실 저는 실제로 책을 낸 작가예요.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가림 해제.
🎤 말로: (웃으면서) 네, 망한 작가입니다. 무슨 얘기인지 들려드릴게요.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인생 롤러코스터 그래프. 이 장을 띄워 두고 스토리 전체를 말해도 됨.
🎤 말로: 이 그래프 하나 띄워놓고 스토리를 쭉 따라가면 시청자가 길을 안 잃어요.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[ 배우 시절 사진 있으면 ]
🎤 말로: 전 연기과, 연극영화과를 졸업했고 배우가 되는 게 꿈이었는데, 사수생 출신이라 29살에 늦게 졸업했어요.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막상 배우가 되려고 하니 내가 배우가 될 재목인가, 그 정도로 연기를 사랑할까, 무명 10년을 버틸 수 있을까. 자신이 없는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 톤 낮게.
🎤 말로: 자취방을 빼고 집으로 돌아갔는데, 풍요롭진 못해도 평범했던 우리 집이 이제 평범하지도 못하구나. 가난하구나 하는 생각이 들었어요. 입시생 몇 명 레슨하면서 근근이 풀칠하고 있었고요.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메일 알림 목업.
🎤 말로: 어느 날 한 통의 이메일을 보게 돼요. 일일 책쓰기 특강. 내가 작가가 된다고? 혹시 나도? 하는 마음으로 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책을 써서 강연하고 코칭하고 성공할 수 있다는 거예요. 이렇게 가난하게 살면 안 되겠다는 생각이 컸어서 그 특강이 한 줄기 빛 같았어요.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숫자만 크게. 잠깐 멈춤.
🎤 말로: 이건 무조건 신청해야겠다 하고 가격을 물어보는데…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하나. 대부분이 '아버지께 빌린 돈'.
🎤 말로: 그때 통장에 3~400만원 있었고, 아버지가 마트에서 배달일 하시면서 상황도 여의치 않으셨는데 그랬어요. '아부지 저 700만원만 빌려주십쇼. 책 쓰고 강의해서 성공하겠습니다.'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
🎤 말로: 3달 정도 매일매일 글을 쓰고 지우면서 원고를 완성했고, 출판사 연락을 받아서 첫 책이 나왔어요.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책 표지.
🎤 말로: 근데 제 책이 어떻게 됐을까요?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 웃으며.
🎤 말로: 하하하. 망했습니다. 작가가 되면 성공할 줄 알았는데, 그게 아니었더라고요.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 채팅 받기.
🎤 말로: 왜 망했을까요?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책장 가득한 회색 책 중 빨간 책 한 권.
🎤 말로: 서점에 진짜 수만 권의 책이 진열돼 있는데, 누가 알고 제 책을 사겠어요.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핵심 한 줄. 뒤 판매 파트로 가는 복선.
🎤 말로: 이게 오늘 강의 전체를 꿰는 얘기예요. 쓰는 법만 배우면 안 되고, 파는 법을 같이 알아야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[ 초기 유튜브 채널 캡처 ]
🎤 말로: 어떻게든 한 권이라도 더 팔아보려고 유튜브를 했어요. 콘텐츠 올리면 사람들이 책을 사주겠지? 했는데… ㅎㅎㅎ 안 사더라고요.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고민 댓글 캡처.
🎤 말로: 유튜브를 하면서 알게 된 게 있어요. 소심한 성격 때문에 고민인 사람이 많구나.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+ [전자책 표지].
🎤 말로: 망했더라도 책을 쓴 경험이 있잖아요? 이 사람들만을 위한 전자책을 만들어서 팔아야겠다 하고 50페이지 분량의 전자책을 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숫자. 바로 다음에 증빙.
🎤 말로: 근데 그게 진짜 대박이었어요. 자그마치 2,600만원을 팔았어요. 뿐만이 아니에요.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비교.
🎤 말로: 연기학원 차렸을 때 3~4명밖에 안 돼서 월세도 겨우 냈어요. 그 책을 읽은 분들이 제 교육을 듣고 싶다고 한두 명씩 모이기 시작했고, 수강생이 줄을 설 정도가 돼서 수원에서 강남까지 학원을 옮겼어요.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책 비교.
🎤 말로: 제가 출판한 책은 분명 망했는데, 거기서 배운 경험으로 사람들에게 도움이 되게 쓴 50쪽짜리 전자책 한 권이 많은 수익을 내줬고, 많은 사람과 연결되게 해줬어요. 전자책이 없었다면 전 월세 밀려서 망했을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시청자 속마음 질문.
🎤 말로: 그럼 여러분 이렇게 생각하실 거예요. 난 글을 써본 적도 없고 재능도 없다. 너처럼 작가가 아니다. 글쓰기가 익숙하지 않은 분들한테 글 쓰는 거 자체가 엄청난 부담인 거 제가 너무 잘 알아요.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
🎤 말로: 그런데 여러분 전혀 걱정하실 필요가 없는 게, AI가 있잖아요.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그때 vs 지금. [AI 초창기 결과물 캡처 있으면 왼쪽에]
🎤 말로: AI 처음 나왔을 때 저도 생각했어요. AI한테 전자책 완성해달라 하고 팔면 그만 아닌가? 그런데 그때는 AI가 그렇게 똑똑하지 않았어요. 지금은 맥락을 읽고, 프롬프트와 스킬을 어떻게 쓰냐에 따라 결과가 완전히 달라져요.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참여 질문.
🎤 말로: AI 써본 분들도 계시겠지만, 익숙하지 않은 분이 더 많으실 거 같아요. (채팅 1/2 받기)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→ 다음 구간(프로그램 공개)으로.
🎤 말로: 글을 못 쓰는 분도, AI를 못 쓰는 분도 계시다는 거 너무 잘 알기 때문에, 제가 전자책을 자동으로 만들어주는 프로그램을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10. 자체 프로그램 공개
시청자 마음: “AI를 활용해서 실제 전자책으로 완성하고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3개. 프로그램 막대만 짧고 빨강.
🎤 말로: 책을 출판한다는 건 원고 쓰는 데만 몇 개월에서 몇 년, 퇴고도 그만큼, 출판사 컨택에 홍보까지. 제가 만든 프로그램을 쓰면 AI가 제작해주고 탈고·디자인·상세페이지까지 알아서 만들어줘요.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3단계.
🎤 말로: AI 전자책은 딱 세 단계예요. 만들고, 팔고, 잘 팔기. 한번 만들어볼까요?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6단계 흐름 (시연 순서와 같게).
🎤 말로: [회사 프로그램 실제 메뉴 이름으로 교체]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실시간 시연 화면.
🎤 말로: 시연하면서 '여기 입력만 하면 돼요'를 반복.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실시간 시연 화면.
🎤 말로: 디자인 몰라도 고르기만 하면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실시간 시연 화면.
🎤 말로: 팔 준비까지 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결과물 3개 나란히.
🎤 말로: 방금 만든 걸 한 화면에 모아서 보여주기.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11. 시청자 직접 실습
시청자 마음: “나도 직접 만들어보고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링크 · QR.
🎤 말로: [체험 방식은 회사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범위 리스트.
🎤 말로: 욕심내지 말고 여기까지만. 이걸로 100만원 심사.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제출 안내.
🎤 말로: 라이브 체험으로 만든 전자책 제출. 배운 내용 적용 여부로 심사.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실습 중엔 채팅 질문 읽어주면서 텐션 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→ 판매로.
🎤 말로: 팔 준비를 다 마쳤어요. 이제 이걸 사람들에게 보여줘야겠죠.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12. 메타 광고 · 판매 구조
시청자 마음: “만든 전자책을 구매할 사람들에게 보여주고 싶다.”
※ 원고상 '어려워서 일단 패스' — 미팅에서 범위 확정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판매 흐름.
🎤 말로: 광고를 돌려서 판매 페이지로 데려오고, 결제되면 파일이 자동으로 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판매 채널 3개.
🎤 말로: 메타 광고, 인스타 스폰서 광고, 재능마켓 크몽에 올리기.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소재 / 성과 나란히.
🎤 말로: 광고비 하루 2~2.5만원 수준. [실제 성과 캡처 기준]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[광고 지원을 어디까지 하는지 미팅에서 확정]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13. 평범한 사람들의 성과
시청자 마음: “나와 비슷한 사람은 어떻게 실행했을까?”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사례 소개 틀.
🎤 말로: 사례마다 같은 순서로 말하면 비교가 쉬워요.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3칸.
🎤 말로: [본인 동의 받은 실제 사례만]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3칸.
🎤 말로: [본인 동의 받은 실제 사례만]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영상.
🎤 말로: ※ 배우 대역 인터뷰는 쓰지 않기 (실제 수강생만).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14. 오늘 해결한 과정 정리
시청자 마음: “이제 내가 무엇을 하면 되는지 정리하고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전자책 제작, 판매, 광고까지 세팅해보니까 너무 간단하지 않아요?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전체 흐름 다시.
🎤 말로: 프로그램 하나에서 잘 팔리는 주제 선정, 품질 높이는 리서치, 끌리는 목차, 원고까지. 문체·디자인도 고를 수 있고, 판매용 상세페이지까지 자동으로.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방금 만든 결과물과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15. 프로그램 이용 · 수강 연결
시청자 마음: “오늘 해본 방식으로 계속 만들고 판매하고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시청자 반문.
🎤 말로: 이런 생각 드실 수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비교표. 오른쪽 열이 빨간 헤더.
🎤 말로: 혼자 하면 AI를 길들여야 해요. 주제, 자료조사, 필터링, 목차, 사람 냄새 나는 원고, 표지, 내지, 3D, 판매 페이지까지 다 직접 세팅. 프로그램은 이미 길들여져 있고 계속 업데이트돼요.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물론 이 프로그램은 오늘 강의를 신청하신 분들에게만 드릴 수 있어요. 나도 전자책 팔아보고 수익 내고 싶다 하시면 고민하실 필요가 없어요.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16. 커리큘럼 · 혜택 · 가격
시청자 마음: “수강하면 무엇을 이용하고, 어떤 순서로 실행할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4주 표.
🎤 말로: [미팅에서 최종 확정]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혜택 카드 4개.
🎤 말로: [ ] 미팅 후 채우기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가격표.
🎤 말로: [할부 · 결제 방식 확인]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링크.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17. 우수작 · 100만원 발표 · 마무리
시청자 마음: “오늘 배운 내용을 잘 적용한 결과물을 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우수작.
🎤 말로: 선정 이유 설명: 고객 · 문제 · 배운 순서.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발표.
🎤 말로: 초반 약속 지키기.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마무리 한 줄.
🎤 말로: 스토리 회수: 파는 법을 몰라 망했던 사람 → 지금. 수강 신청 안내로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 · 첫 100만원 발표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“단톡방 이벤트 당첨자를 확인하고 싶다.”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오프닝 · 첫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만들어서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월급 하나 더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받는 법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강의 제목 — 회사 확정본으로 교체 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오프닝 · 첫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5808" y="96012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채팅창에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이랑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계신 일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남겨주세요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수원 · 직장인 / 부산 · 육아 중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오프닝 · 첫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</a:t>
            </a:r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100만원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당첨자 발표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단톡방에서 약속드렸던 이벤트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오프닝 · 첫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축하드립니다!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57200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645920" y="1600200"/>
            <a:ext cx="8899855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당첨자 닉네임 · 당첨 사유 캡처 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오프닝 · 첫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100만원 이벤트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“나도 이번에는 참여하고 싶다.”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추가 100만원 이벤트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끝까지 계신 분 중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1명에게 또 100만원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추가 100만원 이벤트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방법은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3단계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11820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0964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듣기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49564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90712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9856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프로그램으로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 만들기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28456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69604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8748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제출하면 끝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추가 100만원 이벤트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기준으로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뽑아요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누구인지 선명한가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고객의 문제를 정확히 짚었나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순서대로 만들었나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추가 100만원 이벤트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부수입에 대한 공감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“본업을 하면서 돈을 더 벌고 싶다.”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부수입에 대한 공감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여러분, </a:t>
            </a:r>
            <a:pPr algn="ctr" indent="0" marL="0">
              <a:buNone/>
            </a:pPr>
            <a:r>
              <a:rPr lang="en-US" sz="5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</a:t>
            </a:r>
            <a:pPr algn="ctr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좋아하세요?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부수입에 대한 공감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채팅으로 골라주세요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4952848" cy="4114800"/>
          </a:xfrm>
          <a:prstGeom prst="roundRect">
            <a:avLst>
              <a:gd name="adj" fmla="val 3333"/>
            </a:avLst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2148840"/>
            <a:ext cx="440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3063240"/>
            <a:ext cx="3489808" cy="0"/>
          </a:xfrm>
          <a:prstGeom prst="line">
            <a:avLst/>
          </a:prstGeom>
          <a:noFill/>
          <a:ln w="12700">
            <a:solidFill>
              <a:srgbClr val="F4B9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3246120"/>
            <a:ext cx="42213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 좋아요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(돈미새입니다)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324448" y="1874520"/>
            <a:ext cx="4952848" cy="41148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8768" y="2148840"/>
            <a:ext cx="440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055968" y="3063240"/>
            <a:ext cx="348980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90208" y="3246120"/>
            <a:ext cx="42213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 싫어요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부수입에 대한 공감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알려드릴게요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 많이 벌고 싶어서 오신 거잖아요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부수입에 대한 공감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돈을 버는 방법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569568" y="265176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61008" y="26517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038448" y="265176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861408" y="265176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52848" y="26517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노동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30288" y="265176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8153248" y="265176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44688" y="26517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부수입에 대한 공감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8시간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일하면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8시간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743200"/>
            <a:ext cx="10545775" cy="1188720"/>
          </a:xfrm>
          <a:prstGeom prst="rect">
            <a:avLst/>
          </a:prstGeom>
          <a:solidFill>
            <a:srgbClr val="F0F0F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80589" y="2743200"/>
            <a:ext cx="5272888" cy="1188720"/>
          </a:xfrm>
          <a:prstGeom prst="rect">
            <a:avLst/>
          </a:prstGeom>
          <a:solidFill>
            <a:srgbClr val="E030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580589" y="2743200"/>
            <a:ext cx="5272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일한 8시간 → 월급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0050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6시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14829" y="40050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9시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972458" y="40050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12시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30088" y="40050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15시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487717" y="40050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18시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245346" y="40050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40050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0시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84632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일을 멈추면, 돈도 멈춰요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부수입에 대한 공감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고생한 만큼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합당한 보상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받고 계세요?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부수입에 대한 공감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공부한 시간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2743200"/>
            <a:ext cx="3748926" cy="1371600"/>
          </a:xfrm>
          <a:prstGeom prst="rect">
            <a:avLst/>
          </a:prstGeom>
          <a:solidFill>
            <a:srgbClr val="EAEA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2743200"/>
            <a:ext cx="374892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 6년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846206" y="2743200"/>
            <a:ext cx="1874463" cy="1371600"/>
          </a:xfrm>
          <a:prstGeom prst="rect">
            <a:avLst/>
          </a:prstGeom>
          <a:solidFill>
            <a:srgbClr val="D6D6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46206" y="2743200"/>
            <a:ext cx="187446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 3년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720669" y="2743200"/>
            <a:ext cx="1874463" cy="1371600"/>
          </a:xfrm>
          <a:prstGeom prst="rect">
            <a:avLst/>
          </a:prstGeom>
          <a:solidFill>
            <a:srgbClr val="EAEA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669" y="2743200"/>
            <a:ext cx="187446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3년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595131" y="2743200"/>
            <a:ext cx="2499284" cy="1371600"/>
          </a:xfrm>
          <a:prstGeom prst="rect">
            <a:avLst/>
          </a:prstGeom>
          <a:solidFill>
            <a:srgbClr val="E030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131" y="2743200"/>
            <a:ext cx="24992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 4년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01168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16년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93776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그렇게 들어간 직장, 버는 건 다 비슷하죠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부수입에 대한 공감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만약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시간에 묶이지 않는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아이템이 있다면요?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부수입에 대한 공감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이럴 때도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돈을 벌어다줘요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3393338" cy="219456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874520"/>
            <a:ext cx="3027578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일할 때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79192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본업 하는 동안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99178" y="1691640"/>
            <a:ext cx="3393338" cy="219456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82058" y="1874520"/>
            <a:ext cx="3027578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쉴 때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82058" y="2679192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한잔하는 동안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66837" y="1691640"/>
            <a:ext cx="3393338" cy="2194560"/>
          </a:xfrm>
          <a:prstGeom prst="roundRect">
            <a:avLst>
              <a:gd name="adj" fmla="val 6250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49717" y="1874520"/>
            <a:ext cx="3027578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때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249717" y="2679192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새벽 2시에도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부수입에 대한 공감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</a:t>
            </a:r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</a:t>
            </a:r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부수입에 대한 공감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부업 비교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“내 상황에서 시작하기 좋은 부업은 뭘까?”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다른 부업 비교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하필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일까요?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다른 부업 비교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좋은 부업이에요. 그런데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2476424" cy="219456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874520"/>
            <a:ext cx="211066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79192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새 영상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촬영·편집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82264" y="1691640"/>
            <a:ext cx="2476424" cy="219456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65144" y="1874520"/>
            <a:ext cx="211066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665144" y="2679192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새 게시물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소통·댓글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3008" y="1691640"/>
            <a:ext cx="2476424" cy="219456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5888" y="1874520"/>
            <a:ext cx="211066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블로그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415888" y="2679192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새 글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공부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983751" y="1691640"/>
            <a:ext cx="2476424" cy="219456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66631" y="1874520"/>
            <a:ext cx="211066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커머스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166631" y="2679192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재고·포장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배송·CS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다른 부업 비교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5808" y="96012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부업을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하죠?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 벌려고 하는 거잖아요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다른 부업 비교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퇴근하고 또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풀타임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이라면?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743200"/>
            <a:ext cx="10545775" cy="1188720"/>
          </a:xfrm>
          <a:prstGeom prst="rect">
            <a:avLst/>
          </a:prstGeom>
          <a:solidFill>
            <a:srgbClr val="F0F0F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04826" y="2743200"/>
            <a:ext cx="4745599" cy="1188720"/>
          </a:xfrm>
          <a:prstGeom prst="rect">
            <a:avLst/>
          </a:prstGeom>
          <a:solidFill>
            <a:srgbClr val="9E9E9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404826" y="2743200"/>
            <a:ext cx="474559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77714" y="2743200"/>
            <a:ext cx="3163733" cy="1188720"/>
          </a:xfrm>
          <a:prstGeom prst="rect">
            <a:avLst/>
          </a:prstGeom>
          <a:solidFill>
            <a:srgbClr val="E030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77714" y="2743200"/>
            <a:ext cx="316373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부업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050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6시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039066" y="40050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9시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20933" y="40050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12시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202799" y="40050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84665" y="40050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18시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366531" y="40050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21시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948398" y="40050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0시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84632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그건 부업이 아니라 </a:t>
            </a:r>
            <a:pPr algn="ctr" indent="0" marL="0">
              <a:buNone/>
            </a:pPr>
            <a:r>
              <a:rPr lang="en-US" sz="26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연장근무</a:t>
            </a:r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예요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다른 부업 비교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에너지가 드는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달라요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4952848" cy="41148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2148840"/>
            <a:ext cx="440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블로그 · 쇼츠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3063240"/>
            <a:ext cx="348980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3246120"/>
            <a:ext cx="42213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새로 만들어야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멈추면 끝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324448" y="1874520"/>
            <a:ext cx="4952848" cy="4114800"/>
          </a:xfrm>
          <a:prstGeom prst="roundRect">
            <a:avLst>
              <a:gd name="adj" fmla="val 3333"/>
            </a:avLst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8768" y="2148840"/>
            <a:ext cx="440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055968" y="3063240"/>
            <a:ext cx="3489808" cy="0"/>
          </a:xfrm>
          <a:prstGeom prst="line">
            <a:avLst/>
          </a:prstGeom>
          <a:noFill/>
          <a:ln w="12700">
            <a:solidFill>
              <a:srgbClr val="F4B9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90208" y="3246120"/>
            <a:ext cx="42213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만들고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세팅해두면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손댈 일이 거의 없음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711800" y="3566160"/>
            <a:ext cx="768096" cy="768096"/>
          </a:xfrm>
          <a:prstGeom prst="ellipse">
            <a:avLst/>
          </a:prstGeom>
          <a:solidFill>
            <a:srgbClr val="1A1A1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1800" y="35661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다른 부업 비교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 부업 소개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“재고와 배송 부담 없이 반복 판매할 상품이 필요하다.”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전자책 부업 소개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아니라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책이 돈을 벌어다줘요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전자책 부업 소개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서점에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책</a:t>
            </a:r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있다면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2374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1518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내 책을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집어 들고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310118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51266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410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계산대에서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89010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30158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9302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 나는?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67902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09050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194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아무것도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하고 있음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전자책 부업 소개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종이책은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과정이 길어요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23748" y="1737360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종이책 출판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23748" y="2240280"/>
            <a:ext cx="2377440" cy="1143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5188" y="22402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 몇 달~몇 년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3101188" y="2240280"/>
            <a:ext cx="411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512668" y="2240280"/>
            <a:ext cx="2377440" cy="1143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04108" y="22402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출판사 컨택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890108" y="2240280"/>
            <a:ext cx="411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01588" y="2240280"/>
            <a:ext cx="2377440" cy="1143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93028" y="22402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인쇄 · 유통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679028" y="2240280"/>
            <a:ext cx="411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090508" y="2240280"/>
            <a:ext cx="2377440" cy="1143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1948" y="22402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서점 진열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23748" y="3456432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 · 시간 · 사람이 다 필요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118208" y="37033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118208" y="4206240"/>
            <a:ext cx="2377440" cy="1143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09648" y="42062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495648" y="4206240"/>
            <a:ext cx="411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907128" y="4206240"/>
            <a:ext cx="2377440" cy="1143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98568" y="42062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판매처에 업로드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84568" y="4206240"/>
            <a:ext cx="411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696048" y="4206240"/>
            <a:ext cx="2377440" cy="1143000"/>
          </a:xfrm>
          <a:prstGeom prst="roundRect">
            <a:avLst>
              <a:gd name="adj" fmla="val 12000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87488" y="42062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결제되면 파일 전달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2118208" y="54223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하나로 끝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전자책 부업 소개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전자책은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한 권</a:t>
            </a:r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끝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전자책 부업 소개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종이책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인세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얼마인지 아세요?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1737360"/>
          <a:ext cx="4937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914400" y="1737360"/>
            <a:ext cx="4937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5~10%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0" y="201168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한 권 팔리면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 몫은 </a:t>
            </a:r>
            <a:pPr algn="l" indent="0" marL="0">
              <a:buNone/>
            </a:pPr>
            <a:r>
              <a:rPr lang="en-US" sz="26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5~10%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전자책은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파는 사람이 정해요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전자책 부업 소개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시간도 벌고, 돈도 벌고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개쩔지 않나요?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전자책 부업 소개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상품 · 매출 공개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“실제로 어떤 전자책이 얼마나 팔리는지 보고 싶다.”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실제 상품 · 매출 공개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말로만 하면 안 믿으시죠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판매 내역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보여드릴게요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실제 상품 · 매출 공개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548640"/>
            <a:ext cx="3291840" cy="5760720"/>
          </a:xfrm>
          <a:prstGeom prst="roundRect">
            <a:avLst>
              <a:gd name="adj" fmla="val 1111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14032" y="777240"/>
            <a:ext cx="2962656" cy="5303520"/>
          </a:xfrm>
          <a:prstGeom prst="roundRect">
            <a:avLst>
              <a:gd name="adj" fmla="val 925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49440" y="1005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14:32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269480" y="201168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523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알림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24505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[전자책 제목] 결제 완료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69480" y="306324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5236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알림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35021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[전자책 제목] 결제 완료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69480" y="411480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5236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알림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45537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[전자책 제목] 결제 완료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69480" y="516636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52360" y="5257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알림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452360" y="56052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[전자책 제목] 결제 완료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201168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일하다 잠깐 쉬면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알림</a:t>
            </a:r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떠 있어요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9319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저도 본업이 있는 사람이에요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실제 상품 · 매출 공개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플랫폼별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판매 내역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5204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크몽 시절</a:t>
            </a:r>
            <a:endParaRPr lang="en-US" sz="1800" dirty="0"/>
          </a:p>
        </p:txBody>
      </p:sp>
      <p:sp>
        <p:nvSpPr>
          <p:cNvPr id="4" name="자료자리"/>
          <p:cNvSpPr/>
          <p:nvPr/>
        </p:nvSpPr>
        <p:spPr>
          <a:xfrm>
            <a:off x="731520" y="2057400"/>
            <a:ext cx="5204308" cy="406908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4838548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크몽 판매 내역 캡처 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55868" y="1600200"/>
            <a:ext cx="5204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크레킷</a:t>
            </a:r>
            <a:endParaRPr lang="en-US" sz="1800" dirty="0"/>
          </a:p>
        </p:txBody>
      </p:sp>
      <p:sp>
        <p:nvSpPr>
          <p:cNvPr id="7" name="자료자리"/>
          <p:cNvSpPr/>
          <p:nvPr/>
        </p:nvSpPr>
        <p:spPr>
          <a:xfrm>
            <a:off x="6255868" y="2057400"/>
            <a:ext cx="5204308" cy="406908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438748" y="2057400"/>
            <a:ext cx="4838548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크레킷 판매 내역 캡처 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실제 상품 · 매출 공개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책별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보면</a:t>
            </a:r>
            <a:endParaRPr lang="en-US" sz="3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28655" cy="914400"/>
        </p:xfrm>
        <a:graphic>
          <a:graphicData uri="http://schemas.openxmlformats.org/drawingml/2006/table">
            <a:tbl>
              <a:tblPr/>
              <a:tblGrid>
                <a:gridCol w="2682164"/>
                <a:gridCol w="2682164"/>
                <a:gridCol w="2682164"/>
                <a:gridCol w="2682164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전자책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판매처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누적 매출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30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[책 1]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]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크몽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]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[책 2]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]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크몽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]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[책 3]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2.9만원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크레킷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]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실제 상품 · 매출 공개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본업 하면서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[1,000]만원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본업 병행 매출 증빙 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실제 상품 · 매출 공개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3291840" cy="5760720"/>
          </a:xfrm>
          <a:prstGeom prst="roundRect">
            <a:avLst>
              <a:gd name="adj" fmla="val 1111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61872" y="777240"/>
            <a:ext cx="2962656" cy="5303520"/>
          </a:xfrm>
          <a:prstGeom prst="roundRect">
            <a:avLst>
              <a:gd name="adj" fmla="val 925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005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02:14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417320" y="201168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0020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알림 · 새벽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4505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[전자책 제목] 결제 완료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17320" y="306324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0020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알림 · 새벽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5021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[전자책 제목] 결제 완료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01168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 버는 시간에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책도 돈을 벌어요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9319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정말 미치지 않았나요?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실제 상품 · 매출 공개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구매하는 이유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“사람들이 돈을 내고 사는 내용은 무엇일까?”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고객이 구매하는 이유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사람들은 왜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살까요?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고객이 구매하는 이유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사람들은 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highlight>
                  <a:srgbClr val="1A1A1A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욕구 해소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미쳐있다!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 ○○, 채팅으로 맞혀보세요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고객이 구매하는 이유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욕구 해소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고객이 구매하는 이유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사람들은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나아지고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싶어요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1737360"/>
            <a:ext cx="1787652" cy="1243584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737360"/>
            <a:ext cx="17876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 많이 벌고 싶다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023360" y="1554480"/>
            <a:ext cx="2050542" cy="1426464"/>
          </a:xfrm>
          <a:prstGeom prst="ellipse">
            <a:avLst/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023360" y="1554480"/>
            <a:ext cx="205054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행복해지고 싶다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49440" y="1737360"/>
            <a:ext cx="2313432" cy="1609344"/>
          </a:xfrm>
          <a:prstGeom prst="ellipse">
            <a:avLst/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0" y="1737360"/>
            <a:ext cx="231343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자존감 높이고 싶다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509760" y="2011680"/>
            <a:ext cx="1787652" cy="1243584"/>
          </a:xfrm>
          <a:prstGeom prst="ellipse">
            <a:avLst/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509760" y="2011680"/>
            <a:ext cx="17876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연애 잘하고 싶다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194560" y="3657600"/>
            <a:ext cx="2050542" cy="1426464"/>
          </a:xfrm>
          <a:prstGeom prst="ellipse">
            <a:avLst/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94560" y="3657600"/>
            <a:ext cx="205054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잘하고 싶다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120640" y="3383280"/>
            <a:ext cx="2313432" cy="1609344"/>
          </a:xfrm>
          <a:prstGeom prst="ellipse">
            <a:avLst/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3383280"/>
            <a:ext cx="231343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예뻐지고 싶다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46720" y="3840480"/>
            <a:ext cx="1787652" cy="1243584"/>
          </a:xfrm>
          <a:prstGeom prst="ellipse">
            <a:avLst/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0" y="3840480"/>
            <a:ext cx="17876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잘생겨지고 싶다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4937760"/>
            <a:ext cx="2050542" cy="1426464"/>
          </a:xfrm>
          <a:prstGeom prst="ellipse">
            <a:avLst/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937760"/>
            <a:ext cx="205054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 빼고 싶다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0058400" y="4480560"/>
            <a:ext cx="2313432" cy="1609344"/>
          </a:xfrm>
          <a:prstGeom prst="ellipse">
            <a:avLst/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0" y="4480560"/>
            <a:ext cx="231343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인정받고 싶다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6692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욕구가 풀린다고 확실하면, </a:t>
            </a:r>
            <a:pPr algn="ctr" indent="0" marL="0">
              <a:buNone/>
            </a:pPr>
            <a:r>
              <a:rPr lang="en-US" sz="2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얼마든 돈을 써요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고객이 구매하는 이유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전자책은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양쪽 다</a:t>
            </a:r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좋아요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2374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1518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고민 있는 사람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310118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51266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410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전자책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89010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30158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9302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67902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09050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194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돈을 번다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고객이 구매하는 이유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팔리는 주제 찾기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“그럼 나는 어떤 내용으로 만들 수 있을까?”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팔리는 주제 찾기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누구의 고민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풀어줄까?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고민이 있는 사람에게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234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전자책을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475488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91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자존감이 낮아서 고민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6916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583680" y="1691640"/>
            <a:ext cx="4754880" cy="914400"/>
          </a:xfrm>
          <a:prstGeom prst="roundRect">
            <a:avLst>
              <a:gd name="adj" fmla="val 12000"/>
            </a:avLst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1691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자존감을 높이는 나만의 방법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2807208"/>
            <a:ext cx="475488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80720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다이어트 해도 자꾸 요요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280720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583680" y="2807208"/>
            <a:ext cx="4754880" cy="914400"/>
          </a:xfrm>
          <a:prstGeom prst="roundRect">
            <a:avLst>
              <a:gd name="adj" fmla="val 12000"/>
            </a:avLst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280720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요요 없는 다이어트 방법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22960" y="3922776"/>
            <a:ext cx="475488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92277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“반찬 어떻게 이렇게 맛있게 해?”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3922776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583680" y="3922776"/>
            <a:ext cx="4754880" cy="914400"/>
          </a:xfrm>
          <a:prstGeom prst="roundRect">
            <a:avLst>
              <a:gd name="adj" fmla="val 12000"/>
            </a:avLst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392277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가족에게 사랑받는 반찬 레시피 50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475488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5038344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대하는 게 어려움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5038344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583680" y="5038344"/>
            <a:ext cx="4754880" cy="914400"/>
          </a:xfrm>
          <a:prstGeom prst="roundRect">
            <a:avLst>
              <a:gd name="adj" fmla="val 12000"/>
            </a:avLst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0" y="5038344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처세술 · 대화법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팔리는 주제 찾기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팔리는 주제는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순서</a:t>
            </a:r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나와요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743200"/>
            <a:ext cx="1853123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743200"/>
            <a:ext cx="16702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2493203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904683" y="2743200"/>
            <a:ext cx="1853123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96123" y="2743200"/>
            <a:ext cx="16702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고객의 문제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757806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169286" y="2743200"/>
            <a:ext cx="1853123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60726" y="2743200"/>
            <a:ext cx="16702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022409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433889" y="2743200"/>
            <a:ext cx="1853123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25329" y="2743200"/>
            <a:ext cx="16702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9287012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698492" y="2743200"/>
            <a:ext cx="1853123" cy="1463040"/>
          </a:xfrm>
          <a:prstGeom prst="roundRect">
            <a:avLst>
              <a:gd name="adj" fmla="val 9375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9932" y="2743200"/>
            <a:ext cx="16702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팔리는 주제 찾기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욕구나 문제가 있는 사람을 돕고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합당한 대가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받는 거예요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팔리는 주제 찾기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5808" y="96012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채팅에 적어보세요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자주 듣는 칭찬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그게 여러분 전자책 주제가 될 수 있어요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팔리는 주제 찾기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작가의 과거 경험 · AI 전환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“주제는 정했는데, 책 한 권을 어떻게 쓰지?”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책을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 수 있을까요?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말 속에는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</a:t>
            </a:r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숨어 있어요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4952848" cy="41148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2148840"/>
            <a:ext cx="440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3063240"/>
            <a:ext cx="348980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3246120"/>
            <a:ext cx="42213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“사람들은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책만 산다”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324448" y="1874520"/>
            <a:ext cx="4952848" cy="41148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8768" y="2148840"/>
            <a:ext cx="440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 2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055968" y="3063240"/>
            <a:ext cx="348980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90208" y="3246120"/>
            <a:ext cx="42213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“나는 책을 쓸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자신이 없다”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누구 말을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들을까요</a:t>
            </a:r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4952848" cy="41148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2148840"/>
            <a:ext cx="440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 선생님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3063240"/>
            <a:ext cx="348980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3246120"/>
            <a:ext cx="42213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“적게 드세요”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“운동하세요”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“따뜻한 물 드세요”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안 지킴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324448" y="1874520"/>
            <a:ext cx="4952848" cy="4114800"/>
          </a:xfrm>
          <a:prstGeom prst="roundRect">
            <a:avLst>
              <a:gd name="adj" fmla="val 3333"/>
            </a:avLst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8768" y="2148840"/>
            <a:ext cx="440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나랑 비슷했던 친구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055968" y="3063240"/>
            <a:ext cx="3489808" cy="0"/>
          </a:xfrm>
          <a:prstGeom prst="line">
            <a:avLst/>
          </a:prstGeom>
          <a:noFill/>
          <a:ln w="12700">
            <a:solidFill>
              <a:srgbClr val="F4B9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90208" y="3246120"/>
            <a:ext cx="42213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“나 이렇게 해서 뺐어”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바로 따라 함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711800" y="3566160"/>
            <a:ext cx="768096" cy="768096"/>
          </a:xfrm>
          <a:prstGeom prst="ellipse">
            <a:avLst/>
          </a:prstGeom>
          <a:solidFill>
            <a:srgbClr val="1A1A1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1800" y="35661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권위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이렇게 생겨요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569568" y="265176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61008" y="26517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나랑 비슷한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어려움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038448" y="265176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861408" y="265176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52848" y="26517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그걸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극복한 이야기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30288" y="265176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8153248" y="265176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44688" y="26517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권위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여러분의 인생이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누군가에게 도움이 된다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용기가 바로 권위예요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 자신이 없다면?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도와드릴게요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저는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highlight>
                  <a:srgbClr val="1A1A1A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망한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작가입니다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저는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망한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작가입니다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 인생 그래프예요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11094415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연극영화과를 나왔고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배우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꿈이었어요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4수 끝에 29살에 졸업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무명 10년을 버티면 뜬다고 하면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버틸 수 있을까?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집에 돌아가 보니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집은 가난하구나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548640"/>
            <a:ext cx="3291840" cy="5760720"/>
          </a:xfrm>
          <a:prstGeom prst="roundRect">
            <a:avLst>
              <a:gd name="adj" fmla="val 11111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14032" y="777240"/>
            <a:ext cx="2962656" cy="5303520"/>
          </a:xfrm>
          <a:prstGeom prst="roundRect">
            <a:avLst>
              <a:gd name="adj" fmla="val 925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49440" y="1005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09:41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269480" y="201168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523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24505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[일일 책쓰기 특강] 누구나 책을 쓸 수 있습니다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1168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날 받은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통의 이메일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9319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책쓰기 특강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“누구나 책을 쓸 수 있다”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줄기 빛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같았어요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수강료 </a:t>
            </a:r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1,100만원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1,100만원은요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2743200"/>
            <a:ext cx="3332378" cy="1371600"/>
          </a:xfrm>
          <a:prstGeom prst="rect">
            <a:avLst/>
          </a:prstGeom>
          <a:solidFill>
            <a:srgbClr val="EAEA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2743200"/>
            <a:ext cx="33323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통장 300~400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06240"/>
            <a:ext cx="3332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가진 전부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29658" y="2743200"/>
            <a:ext cx="6664757" cy="1371600"/>
          </a:xfrm>
          <a:prstGeom prst="rect">
            <a:avLst/>
          </a:prstGeom>
          <a:solidFill>
            <a:srgbClr val="E030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29658" y="2743200"/>
            <a:ext cx="666475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아버지께 빌린 700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429658" y="4206240"/>
            <a:ext cx="66647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마트 배달일 하시던 아버지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1168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1,100만원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동안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</a:t>
            </a:r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썼어요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2374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1518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쓰고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310118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51266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410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지우고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89010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30158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9302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 완성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67902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09050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194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책 출간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저의 첫 책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57200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645920" y="1600200"/>
            <a:ext cx="8899855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첫 책 표지 · 출간 당시 사진 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망했습니다 </a:t>
            </a:r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ㅎㅎ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망했을까요?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파는 법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몰랐어요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41248" y="1627632"/>
            <a:ext cx="273594" cy="493776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1418" y="1512418"/>
            <a:ext cx="273594" cy="608990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1588" y="1561795"/>
            <a:ext cx="273594" cy="559613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71758" y="1611173"/>
            <a:ext cx="273594" cy="510235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81927" y="1495958"/>
            <a:ext cx="273594" cy="625450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92097" y="1545336"/>
            <a:ext cx="273594" cy="576072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02267" y="1594714"/>
            <a:ext cx="273594" cy="526694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2437" y="1479499"/>
            <a:ext cx="273594" cy="641909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22607" y="1528877"/>
            <a:ext cx="273594" cy="592531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2777" y="1578254"/>
            <a:ext cx="273594" cy="543154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42947" y="1627632"/>
            <a:ext cx="273594" cy="493776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3116" y="1512418"/>
            <a:ext cx="273594" cy="608990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63286" y="1561795"/>
            <a:ext cx="273594" cy="559613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73456" y="1611173"/>
            <a:ext cx="273594" cy="510235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83626" y="1495958"/>
            <a:ext cx="273594" cy="625450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93796" y="1545336"/>
            <a:ext cx="273594" cy="576072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03966" y="1594714"/>
            <a:ext cx="273594" cy="526694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14136" y="1479499"/>
            <a:ext cx="273594" cy="641909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24305" y="1528877"/>
            <a:ext cx="273594" cy="592531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34475" y="1578254"/>
            <a:ext cx="273594" cy="543154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4645" y="1627632"/>
            <a:ext cx="273594" cy="493776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54815" y="1512418"/>
            <a:ext cx="273594" cy="608990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64985" y="1561795"/>
            <a:ext cx="273594" cy="559613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5155" y="1611173"/>
            <a:ext cx="273594" cy="510235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85325" y="1495958"/>
            <a:ext cx="273594" cy="625450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95494" y="1545336"/>
            <a:ext cx="273594" cy="576072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05664" y="1594714"/>
            <a:ext cx="273594" cy="526694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15834" y="1479499"/>
            <a:ext cx="273594" cy="641909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26004" y="1528877"/>
            <a:ext cx="273594" cy="592531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36174" y="1578254"/>
            <a:ext cx="273594" cy="543154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46344" y="1627632"/>
            <a:ext cx="273594" cy="493776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56514" y="1512418"/>
            <a:ext cx="273594" cy="608990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6683" y="1561795"/>
            <a:ext cx="273594" cy="559613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076853" y="1611173"/>
            <a:ext cx="273594" cy="510235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2121408"/>
            <a:ext cx="10545775" cy="36576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" y="2264054"/>
            <a:ext cx="273594" cy="625450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51418" y="2313432"/>
            <a:ext cx="273594" cy="576072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1588" y="2362810"/>
            <a:ext cx="273594" cy="526694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71758" y="2247595"/>
            <a:ext cx="273594" cy="641909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81927" y="2296973"/>
            <a:ext cx="273594" cy="592531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92097" y="2346350"/>
            <a:ext cx="273594" cy="543154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02267" y="2395728"/>
            <a:ext cx="273594" cy="493776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2437" y="2280514"/>
            <a:ext cx="273594" cy="608990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22607" y="2329891"/>
            <a:ext cx="273594" cy="559613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32777" y="2379269"/>
            <a:ext cx="273594" cy="510235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42947" y="2264054"/>
            <a:ext cx="273594" cy="625450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53116" y="2313432"/>
            <a:ext cx="273594" cy="576072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63286" y="2362810"/>
            <a:ext cx="273594" cy="526694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73456" y="2247595"/>
            <a:ext cx="273594" cy="641909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83626" y="2296973"/>
            <a:ext cx="273594" cy="592531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93796" y="2346350"/>
            <a:ext cx="273594" cy="543154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03966" y="2395728"/>
            <a:ext cx="273594" cy="493776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14136" y="2280514"/>
            <a:ext cx="273594" cy="608990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24305" y="2329891"/>
            <a:ext cx="273594" cy="559613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34475" y="2379269"/>
            <a:ext cx="273594" cy="510235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44645" y="2264054"/>
            <a:ext cx="273594" cy="625450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54815" y="2313432"/>
            <a:ext cx="273594" cy="576072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664985" y="2362810"/>
            <a:ext cx="273594" cy="526694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975155" y="2247595"/>
            <a:ext cx="273594" cy="641909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85325" y="2296973"/>
            <a:ext cx="273594" cy="592531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595494" y="2346350"/>
            <a:ext cx="273594" cy="543154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905664" y="2395728"/>
            <a:ext cx="273594" cy="493776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15834" y="2280514"/>
            <a:ext cx="273594" cy="608990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526004" y="2329891"/>
            <a:ext cx="273594" cy="559613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836174" y="2379269"/>
            <a:ext cx="273594" cy="510235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146344" y="2264054"/>
            <a:ext cx="273594" cy="625450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456514" y="2313432"/>
            <a:ext cx="273594" cy="576072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766683" y="2362810"/>
            <a:ext cx="273594" cy="526694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076853" y="2247595"/>
            <a:ext cx="273594" cy="641909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22960" y="2889504"/>
            <a:ext cx="10545775" cy="36576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41248" y="3065069"/>
            <a:ext cx="273594" cy="592531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1418" y="3114446"/>
            <a:ext cx="273594" cy="543154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461588" y="3163824"/>
            <a:ext cx="273594" cy="493776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771758" y="3048610"/>
            <a:ext cx="273594" cy="608990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081927" y="3097987"/>
            <a:ext cx="273594" cy="559613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392097" y="3147365"/>
            <a:ext cx="273594" cy="510235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02267" y="3032150"/>
            <a:ext cx="273594" cy="625450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012437" y="3081528"/>
            <a:ext cx="273594" cy="576072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322607" y="3130906"/>
            <a:ext cx="273594" cy="526694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632777" y="3015691"/>
            <a:ext cx="273594" cy="641909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942947" y="3065069"/>
            <a:ext cx="273594" cy="592531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253116" y="3114446"/>
            <a:ext cx="273594" cy="543154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563286" y="3163824"/>
            <a:ext cx="273594" cy="493776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873456" y="3048610"/>
            <a:ext cx="273594" cy="608990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183626" y="3097987"/>
            <a:ext cx="273594" cy="559613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93796" y="3147365"/>
            <a:ext cx="273594" cy="510235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803966" y="3032150"/>
            <a:ext cx="273594" cy="625450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114136" y="3081528"/>
            <a:ext cx="273594" cy="576072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424305" y="3130906"/>
            <a:ext cx="273594" cy="526694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734475" y="3015691"/>
            <a:ext cx="273594" cy="641909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044645" y="3065069"/>
            <a:ext cx="273594" cy="592531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354815" y="3114446"/>
            <a:ext cx="273594" cy="543154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664985" y="3163824"/>
            <a:ext cx="273594" cy="493776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975155" y="3048610"/>
            <a:ext cx="273594" cy="608990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285325" y="3097987"/>
            <a:ext cx="273594" cy="559613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595494" y="3147365"/>
            <a:ext cx="273594" cy="510235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905664" y="3032150"/>
            <a:ext cx="273594" cy="625450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215834" y="3081528"/>
            <a:ext cx="273594" cy="576072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526004" y="3130906"/>
            <a:ext cx="273594" cy="526694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836174" y="3015691"/>
            <a:ext cx="273594" cy="641909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146344" y="3065069"/>
            <a:ext cx="273594" cy="592531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456514" y="3114446"/>
            <a:ext cx="273594" cy="543154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766683" y="3163824"/>
            <a:ext cx="273594" cy="493776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076853" y="3048610"/>
            <a:ext cx="273594" cy="608990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22960" y="3657600"/>
            <a:ext cx="10545775" cy="36576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41248" y="3866083"/>
            <a:ext cx="273594" cy="559613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51418" y="3915461"/>
            <a:ext cx="273594" cy="510235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461588" y="3800246"/>
            <a:ext cx="273594" cy="625450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771758" y="3849624"/>
            <a:ext cx="273594" cy="576072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081927" y="3899002"/>
            <a:ext cx="273594" cy="526694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392097" y="3783787"/>
            <a:ext cx="273594" cy="641909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702267" y="3833165"/>
            <a:ext cx="273594" cy="592531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012437" y="3882542"/>
            <a:ext cx="273594" cy="543154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322607" y="3931920"/>
            <a:ext cx="273594" cy="493776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632777" y="3816706"/>
            <a:ext cx="273594" cy="608990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42947" y="3866083"/>
            <a:ext cx="273594" cy="559613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53116" y="3915461"/>
            <a:ext cx="273594" cy="510235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563286" y="3800246"/>
            <a:ext cx="273594" cy="625450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873456" y="3849624"/>
            <a:ext cx="273594" cy="576072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183626" y="3899002"/>
            <a:ext cx="273594" cy="526694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493796" y="3783787"/>
            <a:ext cx="273594" cy="641909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03966" y="3833165"/>
            <a:ext cx="273594" cy="592531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114136" y="3882542"/>
            <a:ext cx="273594" cy="543154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424305" y="3931920"/>
            <a:ext cx="273594" cy="493776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734475" y="3816706"/>
            <a:ext cx="273594" cy="608990"/>
          </a:xfrm>
          <a:prstGeom prst="rect">
            <a:avLst/>
          </a:prstGeom>
          <a:solidFill>
            <a:srgbClr val="E0302A"/>
          </a:solidFill>
          <a:ln w="6350">
            <a:solidFill>
              <a:srgbClr val="E0302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044645" y="3866083"/>
            <a:ext cx="273594" cy="559613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354815" y="3915461"/>
            <a:ext cx="273594" cy="510235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664985" y="3800246"/>
            <a:ext cx="273594" cy="625450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975155" y="3849624"/>
            <a:ext cx="273594" cy="576072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285325" y="3899002"/>
            <a:ext cx="273594" cy="526694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595494" y="3783787"/>
            <a:ext cx="273594" cy="641909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905664" y="3833165"/>
            <a:ext cx="273594" cy="592531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215834" y="3882542"/>
            <a:ext cx="273594" cy="543154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526004" y="3931920"/>
            <a:ext cx="273594" cy="493776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836174" y="3816706"/>
            <a:ext cx="273594" cy="608990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146344" y="3866083"/>
            <a:ext cx="273594" cy="559613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456514" y="3915461"/>
            <a:ext cx="273594" cy="510235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766683" y="3800246"/>
            <a:ext cx="273594" cy="625450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1076853" y="3849624"/>
            <a:ext cx="273594" cy="576072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22960" y="4425696"/>
            <a:ext cx="10545775" cy="36576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41248" y="4667098"/>
            <a:ext cx="273594" cy="526694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151418" y="4551883"/>
            <a:ext cx="273594" cy="641909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461588" y="4601261"/>
            <a:ext cx="273594" cy="592531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771758" y="4650638"/>
            <a:ext cx="273594" cy="543154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081927" y="4700016"/>
            <a:ext cx="273594" cy="493776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392097" y="4584802"/>
            <a:ext cx="273594" cy="608990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702267" y="4634179"/>
            <a:ext cx="273594" cy="559613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012437" y="4683557"/>
            <a:ext cx="273594" cy="510235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322607" y="4568342"/>
            <a:ext cx="273594" cy="625450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632777" y="4617720"/>
            <a:ext cx="273594" cy="576072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942947" y="4667098"/>
            <a:ext cx="273594" cy="526694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253116" y="4551883"/>
            <a:ext cx="273594" cy="641909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563286" y="4601261"/>
            <a:ext cx="273594" cy="592531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873456" y="4650638"/>
            <a:ext cx="273594" cy="543154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183626" y="4700016"/>
            <a:ext cx="273594" cy="493776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493796" y="4584802"/>
            <a:ext cx="273594" cy="608990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803966" y="4634179"/>
            <a:ext cx="273594" cy="559613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14136" y="4683557"/>
            <a:ext cx="273594" cy="510235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424305" y="4568342"/>
            <a:ext cx="273594" cy="625450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734475" y="4617720"/>
            <a:ext cx="273594" cy="576072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044645" y="4667098"/>
            <a:ext cx="273594" cy="526694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354815" y="4551883"/>
            <a:ext cx="273594" cy="641909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664985" y="4601261"/>
            <a:ext cx="273594" cy="592531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975155" y="4650638"/>
            <a:ext cx="273594" cy="543154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285325" y="4700016"/>
            <a:ext cx="273594" cy="493776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595494" y="4584802"/>
            <a:ext cx="273594" cy="608990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905664" y="4634179"/>
            <a:ext cx="273594" cy="559613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215834" y="4683557"/>
            <a:ext cx="273594" cy="510235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526004" y="4568342"/>
            <a:ext cx="273594" cy="625450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9836174" y="4617720"/>
            <a:ext cx="273594" cy="576072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146344" y="4667098"/>
            <a:ext cx="273594" cy="526694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0456514" y="4551883"/>
            <a:ext cx="273594" cy="641909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766683" y="4601261"/>
            <a:ext cx="273594" cy="592531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1076853" y="4650638"/>
            <a:ext cx="273594" cy="543154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22960" y="5193792"/>
            <a:ext cx="10545775" cy="36576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41248" y="5468112"/>
            <a:ext cx="273594" cy="493776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151418" y="5352898"/>
            <a:ext cx="273594" cy="608990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461588" y="5402275"/>
            <a:ext cx="273594" cy="559613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771758" y="5451653"/>
            <a:ext cx="273594" cy="510235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2081927" y="5336438"/>
            <a:ext cx="273594" cy="625450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392097" y="5385816"/>
            <a:ext cx="273594" cy="576072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2702267" y="5435194"/>
            <a:ext cx="273594" cy="526694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012437" y="5319979"/>
            <a:ext cx="273594" cy="641909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322607" y="5369357"/>
            <a:ext cx="273594" cy="592531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632777" y="5418734"/>
            <a:ext cx="273594" cy="543154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3942947" y="5468112"/>
            <a:ext cx="273594" cy="493776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4253116" y="5352898"/>
            <a:ext cx="273594" cy="608990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4563286" y="5402275"/>
            <a:ext cx="273594" cy="559613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873456" y="5451653"/>
            <a:ext cx="273594" cy="510235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5183626" y="5336438"/>
            <a:ext cx="273594" cy="625450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5493796" y="5385816"/>
            <a:ext cx="273594" cy="576072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5803966" y="5435194"/>
            <a:ext cx="273594" cy="526694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114136" y="5319979"/>
            <a:ext cx="273594" cy="641909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424305" y="5369357"/>
            <a:ext cx="273594" cy="592531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734475" y="5418734"/>
            <a:ext cx="273594" cy="543154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044645" y="5468112"/>
            <a:ext cx="273594" cy="493776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354815" y="5352898"/>
            <a:ext cx="273594" cy="608990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64985" y="5402275"/>
            <a:ext cx="273594" cy="559613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975155" y="5451653"/>
            <a:ext cx="273594" cy="510235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285325" y="5336438"/>
            <a:ext cx="273594" cy="625450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595494" y="5385816"/>
            <a:ext cx="273594" cy="576072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905664" y="5435194"/>
            <a:ext cx="273594" cy="526694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215834" y="5319979"/>
            <a:ext cx="273594" cy="641909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9526004" y="5369357"/>
            <a:ext cx="273594" cy="592531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9836174" y="5418734"/>
            <a:ext cx="273594" cy="543154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146344" y="5468112"/>
            <a:ext cx="273594" cy="493776"/>
          </a:xfrm>
          <a:prstGeom prst="rect">
            <a:avLst/>
          </a:prstGeom>
          <a:solidFill>
            <a:srgbClr val="C9C9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456514" y="5352898"/>
            <a:ext cx="273594" cy="608990"/>
          </a:xfrm>
          <a:prstGeom prst="rect">
            <a:avLst/>
          </a:prstGeom>
          <a:solidFill>
            <a:srgbClr val="A8A8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766683" y="5402275"/>
            <a:ext cx="273594" cy="559613"/>
          </a:xfrm>
          <a:prstGeom prst="rect">
            <a:avLst/>
          </a:prstGeom>
          <a:solidFill>
            <a:srgbClr val="DADAD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1076853" y="5451653"/>
            <a:ext cx="273594" cy="510235"/>
          </a:xfrm>
          <a:prstGeom prst="rect">
            <a:avLst/>
          </a:prstGeom>
          <a:solidFill>
            <a:srgbClr val="B5B5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22960" y="5961888"/>
            <a:ext cx="10545775" cy="36576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213" name="Text 211"/>
          <p:cNvSpPr txBox="1"/>
          <p:nvPr/>
        </p:nvSpPr>
        <p:spPr>
          <a:xfrm>
            <a:off x="914400" y="59893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서점에 수만 권. 누가 알고 제 책을 사겠어요</a:t>
            </a:r>
            <a:endParaRPr lang="en-US" sz="2000" dirty="0"/>
          </a:p>
        </p:txBody>
      </p:sp>
      <p:sp>
        <p:nvSpPr>
          <p:cNvPr id="214" name="Text 21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</a:t>
            </a:r>
            <a:endParaRPr lang="en-US" sz="1000" dirty="0"/>
          </a:p>
        </p:txBody>
      </p:sp>
      <p:sp>
        <p:nvSpPr>
          <p:cNvPr id="215" name="Text 21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파는 법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모르면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책도 망해요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강의의 핵심이에요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시작했어요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올리면 책도 사주겠지?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알게 된 게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있어요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57200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645920" y="1600200"/>
            <a:ext cx="8899855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소심한 성격 고민 댓글들 캡처 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사람들만을 위한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50쪽짜리 전자책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2,600만원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판매 내역 증빙 캡처 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책이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학원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살렸어요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74520"/>
            <a:ext cx="25603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내기 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91840" y="1920240"/>
            <a:ext cx="798546" cy="713232"/>
          </a:xfrm>
          <a:prstGeom prst="roundRect">
            <a:avLst>
              <a:gd name="adj" fmla="val 10256"/>
            </a:avLst>
          </a:prstGeom>
          <a:solidFill>
            <a:srgbClr val="CFCFC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73266" y="1920240"/>
            <a:ext cx="727835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수강생 3~4명 · 월세도 겨우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25603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 이후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91840" y="3108960"/>
            <a:ext cx="7985455" cy="713232"/>
          </a:xfrm>
          <a:prstGeom prst="roundRect">
            <a:avLst>
              <a:gd name="adj" fmla="val 10256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3108960"/>
            <a:ext cx="76196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수강생 줄 섬 → 수원에서 강남으로 이전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낸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권</a:t>
            </a:r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책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4952848" cy="41148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2148840"/>
            <a:ext cx="440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출판한 종이책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3063240"/>
            <a:ext cx="348980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3246120"/>
            <a:ext cx="42213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1,100만원 들여서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매달려서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망함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324448" y="1874520"/>
            <a:ext cx="4952848" cy="4114800"/>
          </a:xfrm>
          <a:prstGeom prst="roundRect">
            <a:avLst>
              <a:gd name="adj" fmla="val 3333"/>
            </a:avLst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8768" y="2148840"/>
            <a:ext cx="440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50쪽 전자책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055968" y="3063240"/>
            <a:ext cx="3489808" cy="0"/>
          </a:xfrm>
          <a:prstGeom prst="line">
            <a:avLst/>
          </a:prstGeom>
          <a:noFill/>
          <a:ln w="12700">
            <a:solidFill>
              <a:srgbClr val="F4B9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90208" y="3246120"/>
            <a:ext cx="42213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도움이 되게 쓴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권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2,600만원 + 학원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711800" y="3566160"/>
            <a:ext cx="768096" cy="768096"/>
          </a:xfrm>
          <a:prstGeom prst="ellipse">
            <a:avLst/>
          </a:prstGeom>
          <a:solidFill>
            <a:srgbClr val="1A1A1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1800" y="35661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“저는 책을 써본 적도 없고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 재능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없는데요?”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걱정 마세요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있잖아요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AI,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</a:t>
            </a:r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4952848" cy="41148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2148840"/>
            <a:ext cx="440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나왔을 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3063240"/>
            <a:ext cx="348980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3246120"/>
            <a:ext cx="42213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“전자책 써줘”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어색하고 뻔한 글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그대로는 못 팖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324448" y="1874520"/>
            <a:ext cx="4952848" cy="4114800"/>
          </a:xfrm>
          <a:prstGeom prst="roundRect">
            <a:avLst>
              <a:gd name="adj" fmla="val 3333"/>
            </a:avLst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8768" y="2148840"/>
            <a:ext cx="440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055968" y="3063240"/>
            <a:ext cx="3489808" cy="0"/>
          </a:xfrm>
          <a:prstGeom prst="line">
            <a:avLst/>
          </a:prstGeom>
          <a:noFill/>
          <a:ln w="12700">
            <a:solidFill>
              <a:srgbClr val="F4B9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90208" y="3246120"/>
            <a:ext cx="42213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맥락을 읽고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· 스킬에 따라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완전히 달라짐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711800" y="3566160"/>
            <a:ext cx="768096" cy="768096"/>
          </a:xfrm>
          <a:prstGeom prst="ellipse">
            <a:avLst/>
          </a:prstGeom>
          <a:solidFill>
            <a:srgbClr val="1A1A1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1800" y="35661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5808" y="96012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잘 쓰시는 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계세요?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쓴다 1 / 아직 어렵다 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글을 못 써도, AI를 못 써도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되게 만들었어요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전자책을 자동으로 만들어주는 프로그램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작가의 과거 경험 · AI 전환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프로그램 공개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“AI를 활용해서 실제 전자책으로 완성하고 싶다.”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자체 프로그램 공개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한 권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걸리는 시간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3258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프로그램 소요 시간은 실제 시연 기준으로 ]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25603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종이책 출판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91840" y="2286000"/>
            <a:ext cx="7985455" cy="713232"/>
          </a:xfrm>
          <a:prstGeom prst="roundRect">
            <a:avLst>
              <a:gd name="adj" fmla="val 10256"/>
            </a:avLst>
          </a:prstGeom>
          <a:solidFill>
            <a:srgbClr val="CFCFC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74720" y="2286000"/>
            <a:ext cx="76196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 몇 달~몇 년 + 퇴고 + 출판사 + 홍보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25603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AI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91840" y="3474720"/>
            <a:ext cx="2661818" cy="713232"/>
          </a:xfrm>
          <a:prstGeom prst="roundRect">
            <a:avLst>
              <a:gd name="adj" fmla="val 10256"/>
            </a:avLst>
          </a:prstGeom>
          <a:solidFill>
            <a:srgbClr val="CFCFC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36538" y="3474720"/>
            <a:ext cx="541507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공부 · 시행착오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17720"/>
            <a:ext cx="25603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전자책 프로그램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4663440"/>
            <a:ext cx="665455" cy="713232"/>
          </a:xfrm>
          <a:prstGeom prst="roundRect">
            <a:avLst>
              <a:gd name="adj" fmla="val 10993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40175" y="4663440"/>
            <a:ext cx="741144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○시간 ]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자체 프로그램 공개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전자책은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단계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11820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0964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책 제작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49564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90712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9856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판매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28456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69604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8748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잘 팔기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자체 프로그램 공개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안에서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</a:t>
            </a:r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흘러가요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743200"/>
            <a:ext cx="1475689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743200"/>
            <a:ext cx="12928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선정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2115769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527249" y="2743200"/>
            <a:ext cx="1475689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18689" y="2743200"/>
            <a:ext cx="12928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00293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414418" y="2743200"/>
            <a:ext cx="1475689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05858" y="2743200"/>
            <a:ext cx="12928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89010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1588" y="2743200"/>
            <a:ext cx="1475689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93028" y="2743200"/>
            <a:ext cx="12928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777277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188757" y="2743200"/>
            <a:ext cx="1475689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80197" y="2743200"/>
            <a:ext cx="12928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문체 · 디자인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9664446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0075926" y="2743200"/>
            <a:ext cx="1475689" cy="1463040"/>
          </a:xfrm>
          <a:prstGeom prst="roundRect">
            <a:avLst>
              <a:gd name="adj" fmla="val 9375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67366" y="2743200"/>
            <a:ext cx="12928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상세페이지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자체 프로그램 공개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만든다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57200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645920" y="1600200"/>
            <a:ext cx="8899855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시연: 주제 입력 → 원고 생성 화면 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자체 프로그램 공개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디자인한다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57200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645920" y="1600200"/>
            <a:ext cx="8899855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시연: 표지 · 내지 · 3D 목업 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자체 프로그램 공개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상세페이지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57200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645920" y="1600200"/>
            <a:ext cx="8899855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시연: 판매 페이지 자동 생성 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자체 프로그램 공개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돼요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336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표지</a:t>
            </a:r>
            <a:endParaRPr lang="en-US" sz="1800" dirty="0"/>
          </a:p>
        </p:txBody>
      </p:sp>
      <p:sp>
        <p:nvSpPr>
          <p:cNvPr id="4" name="자료자리"/>
          <p:cNvSpPr/>
          <p:nvPr/>
        </p:nvSpPr>
        <p:spPr>
          <a:xfrm>
            <a:off x="731520" y="2057400"/>
            <a:ext cx="3362858" cy="406908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2997098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완성 표지 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414418" y="1600200"/>
            <a:ext cx="336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</a:t>
            </a:r>
            <a:endParaRPr lang="en-US" sz="1800" dirty="0"/>
          </a:p>
        </p:txBody>
      </p:sp>
      <p:sp>
        <p:nvSpPr>
          <p:cNvPr id="7" name="자료자리"/>
          <p:cNvSpPr/>
          <p:nvPr/>
        </p:nvSpPr>
        <p:spPr>
          <a:xfrm>
            <a:off x="4414418" y="2057400"/>
            <a:ext cx="3362858" cy="406908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597298" y="2057400"/>
            <a:ext cx="2997098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본문 몇 쪽 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97317" y="1600200"/>
            <a:ext cx="336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상세페이지</a:t>
            </a:r>
            <a:endParaRPr lang="en-US" sz="1800" dirty="0"/>
          </a:p>
        </p:txBody>
      </p:sp>
      <p:sp>
        <p:nvSpPr>
          <p:cNvPr id="10" name="자료자리"/>
          <p:cNvSpPr/>
          <p:nvPr/>
        </p:nvSpPr>
        <p:spPr>
          <a:xfrm>
            <a:off x="8097317" y="2057400"/>
            <a:ext cx="3362858" cy="406908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8280197" y="2057400"/>
            <a:ext cx="2997098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판매 페이지 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자체 프로그램 공개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시청자 직접 실습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“나도 직접 만들어보고 싶다.”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시청자 직접 실습</a:t>
            </a:r>
            <a:endParaRPr lang="en-US" sz="1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링크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열어드릴게요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57200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645920" y="1600200"/>
            <a:ext cx="8899855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체험 링크 · QR · 이용 시간 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시청자 직접 실습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만들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주제 1개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1개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828800" y="4700016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4882896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700016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첫 부분 + 표지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시청자 직접 실습</a:t>
            </a:r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100만원 심사 시작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제출할 것: [ ]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제출처: [ 링크 ]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마감: [ 시간 ]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828800" y="4700016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4882896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700016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기준: 고객 · 문제 · 배운 순서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시청자 직접 실습</a:t>
            </a:r>
            <a:endParaRPr lang="en-US" sz="1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남겨주세요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스태프가 바로 도와드려요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시청자 직접 실습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 준비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다 끝났어요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사람들에게 보여줄 차례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시청자 직접 실습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 광고 · 판매 구조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“만든 전자책을 구매할 사람들에게 보여주고 싶다.”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메타 광고 · 판매 구조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책이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팔리는 길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2374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1518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310118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51266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410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페이지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89010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30158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9302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67902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09050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194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자동 전달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메타 광고 · 판매 구조</a:t>
            </a:r>
            <a:endParaRPr lang="en-US" sz="1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보여줄까?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3393338" cy="2194560"/>
          </a:xfrm>
          <a:prstGeom prst="roundRect">
            <a:avLst>
              <a:gd name="adj" fmla="val 6250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874520"/>
            <a:ext cx="3027578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 광고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79192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페이스북 · 인스타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99178" y="1691640"/>
            <a:ext cx="3393338" cy="219456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82058" y="1874520"/>
            <a:ext cx="3027578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 스폰서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82058" y="2679192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게시물 홍보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66837" y="1691640"/>
            <a:ext cx="3393338" cy="219456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49717" y="1874520"/>
            <a:ext cx="3027578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크몽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249717" y="2679192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재능마켓 등록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메타 광고 · 판매 구조</a:t>
            </a:r>
            <a:endParaRPr lang="en-US" sz="10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돌린 광고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5204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소재</a:t>
            </a:r>
            <a:endParaRPr lang="en-US" sz="1800" dirty="0"/>
          </a:p>
        </p:txBody>
      </p:sp>
      <p:sp>
        <p:nvSpPr>
          <p:cNvPr id="4" name="자료자리"/>
          <p:cNvSpPr/>
          <p:nvPr/>
        </p:nvSpPr>
        <p:spPr>
          <a:xfrm>
            <a:off x="731520" y="2057400"/>
            <a:ext cx="5204308" cy="406908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4838548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메타 광고 소재 캡처 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55868" y="1600200"/>
            <a:ext cx="5204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성과</a:t>
            </a:r>
            <a:endParaRPr lang="en-US" sz="1800" dirty="0"/>
          </a:p>
        </p:txBody>
      </p:sp>
      <p:sp>
        <p:nvSpPr>
          <p:cNvPr id="7" name="자료자리"/>
          <p:cNvSpPr/>
          <p:nvPr/>
        </p:nvSpPr>
        <p:spPr>
          <a:xfrm>
            <a:off x="6255868" y="2057400"/>
            <a:ext cx="5204308" cy="406908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438748" y="2057400"/>
            <a:ext cx="4838548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노출 · 클릭 · 구매 · 광고비 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103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메타 광고 · 판매 구조</a:t>
            </a:r>
            <a:endParaRPr lang="en-US" sz="1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세팅은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+ 수업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같이 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회사 지원 범위 확정 후 문구 수정 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메타 광고 · 판매 구조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평범한 사람들의 성과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“나와 비슷한 사람은 어떻게 실행했을까?”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평범한 사람들의 성과</a:t>
            </a:r>
            <a:endParaRPr lang="en-US" sz="10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수강생 사례는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순서</a:t>
            </a:r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2374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1518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시작할 때 상황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310118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51266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410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전자책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89010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30158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9302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과정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67902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09050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194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평범한 사람들의 성과</a:t>
            </a:r>
            <a:endParaRPr lang="en-US" sz="10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수강생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님 · [직업]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336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상황</a:t>
            </a:r>
            <a:endParaRPr lang="en-US" sz="1800" dirty="0"/>
          </a:p>
        </p:txBody>
      </p:sp>
      <p:sp>
        <p:nvSpPr>
          <p:cNvPr id="4" name="자료자리"/>
          <p:cNvSpPr/>
          <p:nvPr/>
        </p:nvSpPr>
        <p:spPr>
          <a:xfrm>
            <a:off x="731520" y="2057400"/>
            <a:ext cx="3362858" cy="406908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2997098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사진 · 상황 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414418" y="1600200"/>
            <a:ext cx="336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책</a:t>
            </a:r>
            <a:endParaRPr lang="en-US" sz="1800" dirty="0"/>
          </a:p>
        </p:txBody>
      </p:sp>
      <p:sp>
        <p:nvSpPr>
          <p:cNvPr id="7" name="자료자리"/>
          <p:cNvSpPr/>
          <p:nvPr/>
        </p:nvSpPr>
        <p:spPr>
          <a:xfrm>
            <a:off x="4414418" y="2057400"/>
            <a:ext cx="3362858" cy="406908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597298" y="2057400"/>
            <a:ext cx="2997098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표지 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97317" y="1600200"/>
            <a:ext cx="336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800" dirty="0"/>
          </a:p>
        </p:txBody>
      </p:sp>
      <p:sp>
        <p:nvSpPr>
          <p:cNvPr id="10" name="자료자리"/>
          <p:cNvSpPr/>
          <p:nvPr/>
        </p:nvSpPr>
        <p:spPr>
          <a:xfrm>
            <a:off x="8097317" y="2057400"/>
            <a:ext cx="3362858" cy="406908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8280197" y="2057400"/>
            <a:ext cx="2997098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매출 300만원 캡처 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107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평범한 사람들의 성과</a:t>
            </a:r>
            <a:endParaRPr lang="en-US" sz="10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수강생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님 · [직업]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336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상황</a:t>
            </a:r>
            <a:endParaRPr lang="en-US" sz="1800" dirty="0"/>
          </a:p>
        </p:txBody>
      </p:sp>
      <p:sp>
        <p:nvSpPr>
          <p:cNvPr id="4" name="자료자리"/>
          <p:cNvSpPr/>
          <p:nvPr/>
        </p:nvSpPr>
        <p:spPr>
          <a:xfrm>
            <a:off x="731520" y="2057400"/>
            <a:ext cx="3362858" cy="406908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2997098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사진 · 상황 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414418" y="1600200"/>
            <a:ext cx="336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책</a:t>
            </a:r>
            <a:endParaRPr lang="en-US" sz="1800" dirty="0"/>
          </a:p>
        </p:txBody>
      </p:sp>
      <p:sp>
        <p:nvSpPr>
          <p:cNvPr id="7" name="자료자리"/>
          <p:cNvSpPr/>
          <p:nvPr/>
        </p:nvSpPr>
        <p:spPr>
          <a:xfrm>
            <a:off x="4414418" y="2057400"/>
            <a:ext cx="3362858" cy="406908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597298" y="2057400"/>
            <a:ext cx="2997098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표지 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97317" y="1600200"/>
            <a:ext cx="336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800" dirty="0"/>
          </a:p>
        </p:txBody>
      </p:sp>
      <p:sp>
        <p:nvSpPr>
          <p:cNvPr id="10" name="자료자리"/>
          <p:cNvSpPr/>
          <p:nvPr/>
        </p:nvSpPr>
        <p:spPr>
          <a:xfrm>
            <a:off x="8097317" y="2057400"/>
            <a:ext cx="3362858" cy="406908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8280197" y="2057400"/>
            <a:ext cx="2997098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매출 500만원 캡처 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평범한 사람들의 성과</a:t>
            </a:r>
            <a:endParaRPr lang="en-US" sz="10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수강생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인터뷰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57200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645920" y="1600200"/>
            <a:ext cx="8899855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실제 수강생 인터뷰 영상 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평범한 사람들의 성과</a:t>
            </a:r>
            <a:endParaRPr lang="en-US" sz="10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해결한 과정 정리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“이제 내가 무엇을 하면 되는지 정리하고 싶다.”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오늘 해결한 과정 정리</a:t>
            </a:r>
            <a:endParaRPr lang="en-US" sz="10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어떤가요?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생각보다 간단하지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않아요?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오늘 해결한 과정 정리</a:t>
            </a:r>
            <a:endParaRPr lang="en-US" sz="10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한 걸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화면</a:t>
            </a:r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743200"/>
            <a:ext cx="1475689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743200"/>
            <a:ext cx="12928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팔리는 주제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2115769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527249" y="2743200"/>
            <a:ext cx="1475689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18689" y="2743200"/>
            <a:ext cx="12928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00293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414418" y="2743200"/>
            <a:ext cx="1475689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05858" y="2743200"/>
            <a:ext cx="12928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끌리는 목차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89010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1588" y="2743200"/>
            <a:ext cx="1475689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93028" y="2743200"/>
            <a:ext cx="12928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777277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188757" y="2743200"/>
            <a:ext cx="1475689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80197" y="2743200"/>
            <a:ext cx="12928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문체 · 디자인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9664446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0075926" y="2743200"/>
            <a:ext cx="1475689" cy="1463040"/>
          </a:xfrm>
          <a:prstGeom prst="roundRect">
            <a:avLst>
              <a:gd name="adj" fmla="val 9375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67366" y="2743200"/>
            <a:ext cx="12928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상세페이지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오늘 해결한 과정 정리</a:t>
            </a:r>
            <a:endParaRPr lang="en-US" sz="10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여러분은 오늘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 한 권의 시작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만들었어요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오늘 해결한 과정 정리</a:t>
            </a:r>
            <a:endParaRPr lang="en-US" sz="10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이용 · 수강 연결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“오늘 해본 방식으로 계속 만들고 판매하고 싶다.”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프로그램 이용 · 수강 연결</a:t>
            </a:r>
            <a:endParaRPr lang="en-US" sz="10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“혼자서도 AI로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충분히 만들 수 있지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않나요?”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프로그램 이용 · 수강 연결</a:t>
            </a:r>
            <a:endParaRPr lang="en-US" sz="10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AI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전자책 프로그램</a:t>
            </a:r>
            <a:endParaRPr lang="en-US" sz="3200" dirty="0"/>
          </a:p>
        </p:txBody>
      </p:sp>
      <p:graphicFrame>
        <p:nvGraphicFramePr>
          <p:cNvPr id="1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2865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566160"/>
                <a:gridCol w="2956255"/>
              </a:tblGrid>
              <a:tr h="6335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해야 할 일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혼자 AI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프로그램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302A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길들이기 (프롬프트 · 스킬)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완료 · 계속 업데이트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팔리는 주제 · 자료 조사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E0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2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끌리는 목차 · 사람 냄새 나는 원고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E0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2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표지 · 내지 · 3D 이미지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E0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2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 페이지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E0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2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비싼 요금제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확인 ]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116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프로그램 이용 · 수강 연결</a:t>
            </a:r>
            <a:endParaRPr lang="en-US" sz="10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체험은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중에만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열려요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프로그램은 수강생만 쓸 수 있어요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프로그램 이용 · 수강 연결</a:t>
            </a:r>
            <a:endParaRPr lang="en-US" sz="10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· 혜택 · 가격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“수강하면 무엇을 이용하고, 어떤 순서로 실행할 수 있을까?”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커리큘럼 · 혜택 · 가격</a:t>
            </a:r>
            <a:endParaRPr lang="en-US" sz="10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커리큘럼 [초안]</a:t>
            </a:r>
            <a:endParaRPr lang="en-US" sz="3200" dirty="0"/>
          </a:p>
        </p:txBody>
      </p:sp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2865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217920"/>
                <a:gridCol w="3047695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끝나면 남는 것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1주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마인드셋 · 팔리는 주제 찾기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주제 · 제목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2주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크레킷 가입 · 프로그램으로 전자책 1권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전자책 1권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3주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 페이지 등록 · 메타 광고 세팅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 시작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4주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 성과 읽기 · 다음 책 무한 루프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책 계획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커리큘럼 · 혜택 · 가격</a:t>
            </a:r>
            <a:endParaRPr lang="en-US" sz="10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[미팅 확정]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2476424" cy="219456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874520"/>
            <a:ext cx="211066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이용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79192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기간 · 크레딧 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82264" y="1691640"/>
            <a:ext cx="2476424" cy="219456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65144" y="1874520"/>
            <a:ext cx="211066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지원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665144" y="2679192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범위 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3008" y="1691640"/>
            <a:ext cx="2476424" cy="219456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5888" y="1874520"/>
            <a:ext cx="211066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415888" y="2679192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횟수 · 방식 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983751" y="1691640"/>
            <a:ext cx="2476424" cy="219456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66631" y="1874520"/>
            <a:ext cx="211066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· 자료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166631" y="2679192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]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커리큘럼 · 혜택 · 가격</a:t>
            </a:r>
            <a:endParaRPr lang="en-US" sz="10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수강료</a:t>
            </a:r>
            <a:endParaRPr lang="en-US" sz="3200" dirty="0"/>
          </a:p>
        </p:txBody>
      </p:sp>
      <p:graphicFrame>
        <p:nvGraphicFramePr>
          <p:cNvPr id="1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28655" cy="914400"/>
        </p:xfrm>
        <a:graphic>
          <a:graphicData uri="http://schemas.openxmlformats.org/drawingml/2006/table">
            <a:tbl>
              <a:tblPr/>
              <a:tblGrid>
                <a:gridCol w="4291462"/>
                <a:gridCol w="6437193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온라인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219만원 [확정 전]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오프라인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249만원 [확정 전]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커리큘럼 · 혜택 · 가격</a:t>
            </a:r>
            <a:endParaRPr lang="en-US" sz="10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방법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57200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645920" y="1600200"/>
            <a:ext cx="8899855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신청 링크 · QR · 마감 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커리큘럼 · 혜택 · 가격</a:t>
            </a:r>
            <a:endParaRPr lang="en-US" sz="10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우수작 · 100만원 발표 · 마무리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“오늘 배운 내용을 잘 적용한 결과물을 보고 싶다.”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우수작 · 100만원 발표 · 마무리</a:t>
            </a:r>
            <a:endParaRPr lang="en-US" sz="10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우수작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57200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645920" y="1600200"/>
            <a:ext cx="8899855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제출작 화면 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우수작 · 100만원 발표 · 마무리</a:t>
            </a:r>
            <a:endParaRPr lang="en-US" sz="10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100만원</a:t>
            </a:r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주인공은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우수작 · 100만원 발표 · 마무리</a:t>
            </a:r>
            <a:endParaRPr lang="en-US" sz="10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책이 망했던 제가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 한 권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다시 일어났어요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 차례예요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우수작 · 100만원 발표 · 마무리</a:t>
            </a:r>
            <a:endParaRPr lang="en-US" sz="10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활동명 ] · 비제이라이프스쿨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우수작 · 100만원 발표 · 마무리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127</Slides>
  <Notes>127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127</vt:i4>
      </vt:variant>
    </vt:vector>
  </HeadingPairs>
  <TitlesOfParts>
    <vt:vector size="1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전자책 무료 라이브 PPT 초안 v2</dc:title>
  <dc:subject>PptxGenJS Presentation</dc:subject>
  <dc:creator>병조쌤</dc:creator>
  <cp:lastModifiedBy>병조쌤</cp:lastModifiedBy>
  <cp:revision>1</cp:revision>
  <dcterms:created xsi:type="dcterms:W3CDTF">2026-10-12T23:35:32Z</dcterms:created>
  <dcterms:modified xsi:type="dcterms:W3CDTF">2026-10-12T23:35:32Z</dcterms:modified>
</cp:coreProperties>
</file>