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2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3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</p:sldIdLst>
  <p:notesMasterIdLst>
    <p:notesMasterId r:id="rId1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901b52eb-3662-922d-4935-859140ce6842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추가 100만원 이벤트" id="{6004067b-b1cf-3c89-6e8f-2bff9c65f8da}">
          <p14:sldIdLst>
            <p14:sldId id="262"/>
            <p14:sldId id="263"/>
            <p14:sldId id="264"/>
            <p14:sldId id="265"/>
          </p14:sldIdLst>
        </p14:section>
        <p14:section name="3. 부수입에 대한 공감" id="{68206f01-084b-00ac-203e-c85e979bf523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다른 부업 비교" id="{ffe59632-f69d-545e-1265-e9e3911731bc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전자책 부업 소개" id="{c3cd3346-f52f-1bfc-fc87-8334daf619b9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실제 상품 · 매출 공개" id="{a3de99f7-0e13-f1c9-7d9e-b998344314f2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7. 고객이 구매하는 이유" id="{61ba58b7-25ac-122a-34b3-a0e287ab8b91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8. 팔리는 주제 찾기" id="{49970115-395c-66d0-270c-a4a5547b22bd}">
          <p14:sldIdLst>
            <p14:sldId id="314"/>
            <p14:sldId id="315"/>
            <p14:sldId id="316"/>
            <p14:sldId id="317"/>
            <p14:sldId id="318"/>
          </p14:sldIdLst>
        </p14:section>
        <p14:section name="9. 작가의 과거 경험 · AI 전환" id="{856a2740-3845-6e7a-7202-3f42d63fa59a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  <p14:section name="10. 자체 프로그램 공개" id="{af73148c-3e53-eeb3-5d3a-ce738883f200}">
          <p14:sldIdLst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</p14:sldIdLst>
        </p14:section>
        <p14:section name="11. 시청자 직접 실습" id="{19aa6bc0-b510-38ca-ec6c-fa1b563a194a}">
          <p14:sldIdLst>
            <p14:sldId id="364"/>
            <p14:sldId id="365"/>
            <p14:sldId id="366"/>
            <p14:sldId id="367"/>
            <p14:sldId id="368"/>
            <p14:sldId id="369"/>
          </p14:sldIdLst>
        </p14:section>
        <p14:section name="12. 메타 광고 · 판매 구조" id="{41d13d01-9298-baa5-1a0c-1ad356d38b89}">
          <p14:sldIdLst>
            <p14:sldId id="370"/>
            <p14:sldId id="371"/>
            <p14:sldId id="372"/>
            <p14:sldId id="373"/>
            <p14:sldId id="374"/>
            <p14:sldId id="375"/>
            <p14:sldId id="376"/>
          </p14:sldIdLst>
        </p14:section>
        <p14:section name="13. 평범한 사람들의 성과" id="{b790f555-2761-3f11-fb4e-b6a345fd9cec}">
          <p14:sldIdLst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14. 오늘 해결한 과정 정리" id="{86665c84-77eb-b55a-cb57-c81f281a4caf}">
          <p14:sldIdLst>
            <p14:sldId id="386"/>
            <p14:sldId id="387"/>
            <p14:sldId id="388"/>
            <p14:sldId id="389"/>
          </p14:sldIdLst>
        </p14:section>
        <p14:section name="15. 프로그램 이용 · 수강 연결" id="{75d9ccbc-2f29-cec7-b9db-31a2be44f93a}">
          <p14:sldIdLst>
            <p14:sldId id="390"/>
            <p14:sldId id="391"/>
            <p14:sldId id="392"/>
            <p14:sldId id="393"/>
          </p14:sldIdLst>
        </p14:section>
        <p14:section name="16. 커리큘럼 · 혜택 · 가격" id="{b7a63347-225f-2ce1-3448-6c85ae508685}">
          <p14:sldIdLst>
            <p14:sldId id="394"/>
            <p14:sldId id="395"/>
            <p14:sldId id="396"/>
            <p14:sldId id="397"/>
            <p14:sldId id="398"/>
          </p14:sldIdLst>
        </p14:section>
        <p14:section name="17. 우수작 · 100만원 발표 · 마무리" id="{725f949a-f6a7-f132-bec9-4dbd2fed6f72}">
          <p14:sldIdLst>
            <p14:sldId id="399"/>
            <p14:sldId id="400"/>
            <p14:sldId id="401"/>
            <p14:sldId id="402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notesMaster" Target="notesMasters/notesMaster1.xml"/><Relationship Id="rId151" Type="http://schemas.openxmlformats.org/officeDocument/2006/relationships/presProps" Target="presProps.xml"/><Relationship Id="rId152" Type="http://schemas.openxmlformats.org/officeDocument/2006/relationships/viewProps" Target="viewProps.xml"/><Relationship Id="rId153" Type="http://schemas.openxmlformats.org/officeDocument/2006/relationships/theme" Target="theme/theme1.xml"/><Relationship Id="rId1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000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EA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B0000C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1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  <c:pt idx="6">
                    <c:v>10월(12일까지)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202</c:v>
                </c:pt>
                <c:pt idx="1">
                  <c:v>164</c:v>
                </c:pt>
                <c:pt idx="2">
                  <c:v>164</c:v>
                </c:pt>
                <c:pt idx="3">
                  <c:v>116</c:v>
                </c:pt>
                <c:pt idx="4">
                  <c:v>152</c:v>
                </c:pt>
                <c:pt idx="5">
                  <c:v>178</c:v>
                </c:pt>
                <c:pt idx="6">
                  <c:v>98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11111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B0000C"/>
            </a:solidFill>
            <a:ln w="50800" cap="flat">
              <a:solidFill>
                <a:srgbClr val="B000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B0000C"/>
              </a:solidFill>
              <a:ln w="9525" cap="flat">
                <a:solidFill>
                  <a:srgbClr val="B000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활동명 + 한 줄 프로필. [프로필 사진 있으면 추가]
🎤 말로: 짧게 자기소개. 자세한 이야기는 뒤(망한 작가 스토리)에서 한다고 예고만.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판매 알림 4건(메일 기록 그대로, 구매자 정보 제외).
🎤 말로: 여러분 저도 본업이 있는 사람이거든요. 일하다가 잠깐 쉬면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메일함 목록.
🎤 말로: 이게 지난 며칠 제 메일함이에요.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 → 다음 장에 실제 화면.
🎤 말로: 출금액이 진짜예요. 통장에 들어온 돈만 1,343만원.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대시보드 누적 현황 캡처.
🎤 말로: 라이브 때는 대시보드를 직접 띄워도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딜 목록 캡처.
🎤 말로: 리치코드 263번, 대화법 17번, 감정대화법 12번.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· 상품별 매출표 캡처.
🎤 말로: 리치코드 하나가 4월부터 매달 100만원대 이상. 8~9월엔 강의 수강권이 같이 팔렸어요.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주문 수 캡처.
🎤 말로: 매달 34~62건. 하루 1~2건씩 꾸준히.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3개.
🎤 말로: 전자책만 따로 셌어요. 강의 수강권은 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막대 그래프.
🎤 말로: 한 번 터지고 끝이 아니라 매달 100~200만원씩 들어와요.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 (실제 메일 집계).
🎤 말로: 리치코드가 주력, 대화법은 10월에 새로 낸 책. 감정대화법은 할인 이벤트 포함. 출처: Gmail 판매 알림 집계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실제 결제 페이지 3개 (lifeschool.crekit.io).
🎤 말로: 정가 대비 할인가, 12개월 할부 표시까지 크레킷이 알아서 만들어줘요. 49,000원 · 39,000원 · 29,000원.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함께 사는 비율 카드.
🎤 말로: 본책 옆에 싼 상품 하나 붙여두면 10명 중 4명이 같이 사요. 객단가가 올라가요.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
🎤 말로: 제일 많이 번 달은 9월 485만원(강의 수강권 포함). 전자책만으로는 매달 100~200만원.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새벽 주문 비율.
🎤 말로: 돈 벌고 있는 시간에, 자는 시간에도 책이 돈을 벌어다줘요. 정말 미치지 않았나요?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 (크레킷 상품 페이지).
🎤 말로: 정보를 산 게 아니라 마음이 풀린 거예요. 문제를 해결해 주면 이런 후기가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후기.
🎤 말로: 인터넷에 다 있는데 왜 살까? 정리돼 있고, 바로 따라 할 수 있어서예요. [후기 원문 전체는 상품 페이지에서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→ 다음 장에 크몽 수익관리 화면.
🎤 말로: 근데 그게 진짜 대박이었어요. 자그마치 2,600만원을 팔았어요. 이건 통장으로 실제 출금된 금액이에요.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크몽 실제 캡처.
🎤 말로: 뿐만이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첫 화면.
🎤 말로: 이게 오늘 쓸 프로그램이에요. 내 책 / 새 책 만들기 / 상세페이지, 메뉴가 딱 3개예요.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4단계 + 상세페이지.
🎤 말로: 만드는 중에는 주제 정리 → 자료 조사 → 목차 → 프롤로그와 1장 → 나머지 집필 → 마무리를 알아서 해요. 창을 닫아도 계속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화면.
🎤 말로: 주제를 못 정했으면 관심 분야만 고르면 돼요. 외모·내면·관계·돈 같은 고민으로 좁혀서 추천해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입력 화면. ※ 시연용으로 입력한 예시 문장이에요.
🎤 말로: 문제라고 생각하는 것 · 내가 잘 아는 것 · 힘들었던 일 · 극복한 방법 · 꼭 해야 하는 것. 비워 둔 칸은 자료 조사로 채워요.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표지 선택 화면 + 실제 결과물.
🎤 말로: 디자인 몰라도 3안 중에 고르기만 하면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완성본 3장.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 (실제 광고 관리자는 PC 화면으로 직접 보여주기)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크레킷 판매 페이지 첫 화면.
🎤 말로: 첫 화면 한 줄이 클릭한 사람을 붙잡아요. ‘여자 만나고 싶지 않은 분들 페이지를 나가주세요’처럼.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모바일 판매 페이지를 6컷으로.
🎤 말로: 문제 → 원인 → 저자 → 책 → 목차 → 후기 → 구매. 이 순서를 프로그램이 상세페이지로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번째 예시.
🎤 말로: 주제는 달라도 흐름은 같아요.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→ 옆에 실제 카톡 캡처.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수강생 인증 카톡 5장.
🎤 말로: 한 분씩 짧게 읽어주기. ‘어제 기뻐서 편의점 파스타 먹었습니다’ 같은 말이 제일 와닿아요.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1,000만원 넘었다고 바로 캡처해서 보내주셨어요.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큰 숫자보다 ‘나도 할 수 있겠다’ 싶은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실제 카톡.
🎤 말로: 광고 파트(12구간)와 연결: 광고를 늘리면 바로 반응이 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image" Target="../media/image-10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image" Target="../media/image-105-2.jpg"/><Relationship Id="rId3" Type="http://schemas.openxmlformats.org/officeDocument/2006/relationships/image" Target="../media/image-10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image" Target="../media/image-10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image" Target="../media/image-108-2.jpg"/><Relationship Id="rId3" Type="http://schemas.openxmlformats.org/officeDocument/2006/relationships/image" Target="../media/image-10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image" Target="../media/image-1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image" Target="../media/image-125-2.jpg"/><Relationship Id="rId3" Type="http://schemas.openxmlformats.org/officeDocument/2006/relationships/image" Target="../media/image-125-3.jpg"/><Relationship Id="rId4" Type="http://schemas.openxmlformats.org/officeDocument/2006/relationships/image" Target="../media/image-125-4.jpg"/><Relationship Id="rId5" Type="http://schemas.openxmlformats.org/officeDocument/2006/relationships/image" Target="../media/image-12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pic>
        <p:nvPicPr>
          <p:cNvPr id="3" name="Image 0" descr="img/ph_lap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7194"/>
            <a:ext cx="4480560" cy="42836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1825" y="822960"/>
            <a:ext cx="4344429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안녕하세요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강작가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한 줄 프로필: 출간 작가 · 전자책 누적 매출 · 수강생 성과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l" indent="0" marL="0">
              <a:buNone/>
            </a:pPr>
            <a:r>
              <a:rPr lang="en-US" sz="5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l" indent="0" marL="0">
              <a:buNone/>
            </a:pPr>
            <a:r>
              <a:rPr lang="en-US" sz="5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D9D9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D9D9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15:13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11:15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9:19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10/11 오후 3:13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+ 워크북 ₩50,000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10/9 오후 5:56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+ 멘트집 ₩50,000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메일함에 매일 오는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알림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9631375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965960"/>
            <a:ext cx="365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받은편지함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397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397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97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39935" y="2397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829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829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29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39935" y="2829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3261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261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261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39935" y="3261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36931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54480" y="36931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6931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539935" y="36931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80160" y="41249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54480" y="41249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1249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539935" y="41249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80160" y="4556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54480" y="4556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556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539935" y="4556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80160" y="4988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4988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988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539935" y="4988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280160" y="5420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54480" y="5420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420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539935" y="5420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Gmail 판매 알림 제목 그대로 (최근 8건). 라이브 때는 메일함 화면을 직접 띄워도 좋아요.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열어볼게요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₩15,791,000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10,000,000 달성 배지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₩13,432,356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통장에 들어온 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296건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 ~ 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전자책 + 온라인 강의 수강권 포함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3244462"/>
            <a:ext cx="10436047" cy="1009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to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81038"/>
            <a:ext cx="10362895" cy="9360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딜 목록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책마다 얼마 팔렸나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489801"/>
            <a:ext cx="10436047" cy="251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de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26377"/>
            <a:ext cx="10362895" cy="24453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리치코드 9,921,000원은 함께 사는 워크북 포함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매출표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month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주문 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ord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판매, 6개월 동안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전자책 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₩10,741,000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2026.4.10 ~ 10.12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292건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평균 약 1.6건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1건당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약 ₩36,800</a:t>
            </a:r>
            <a:endParaRPr lang="en-US" sz="35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본책 + 함께 사는 상품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 · 온라인 강의 수강권 매출(₩5,050,000)은 빼고 전자책만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꾸준히 들어와요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전자책 매출 (단위: 만원)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2240280"/>
          <a:ext cx="1036289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1828800"/>
                <a:gridCol w="2041855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리치코드 [현실창조와 끌어당김의 법칙]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9,723,000원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워크북 [썩은 시체 걷어내기]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여자가 빠져들수밖에 없는 매력적인 남자의 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32,000→49,000원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612,000원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실전 멘트집 100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존중받는 부모의 감정대화법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실제로 팔고 있는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여자가 빠져들수밖에 없는 매력적인 남자의 대화법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deal_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6149"/>
            <a:ext cx="3271418" cy="21973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[현실창조와 끌어당김의 법칙]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deal_ri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3016149"/>
            <a:ext cx="3271418" cy="21973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존중받는 부모의 감정대화법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deal_paren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3016149"/>
            <a:ext cx="3271418" cy="21973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같이 사는 상품,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10명 중 4명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같이 사요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→ 워크북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41.9%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워크북을 붙인 9/3 이후 43건 중 18건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→ 실전 멘트집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40.0%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멘트집을 붙인 10/2 이후 15건 중 6건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pic>
        <p:nvPicPr>
          <p:cNvPr id="3" name="Image 0" descr="img/ph_ch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916811"/>
            <a:ext cx="4480560" cy="3024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6개월 1,579만원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 1,343만원 · 크레킷 대시보드 기준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5건 중 1건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 제가 자는 동안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 12시 ~ 아침 7시 주문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61건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292건 중 20.9%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10월 11일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새벽 1:39 · 4:59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highlight>
                  <a:srgbClr val="111111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산 사람들은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말해요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책을 읽으면서 위로되는 심정이었습니다.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지금까지 내가 그렇게 잘못한 건 아니었구나 싶었어요.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앞으로 아이를 위해 뭘 해야 할지 훨씬 더 명확해졌습니다.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존중받는 부모의 감정대화법 구매 후기 (크레킷, 2026.09.14)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유튜브에 다 있는데도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개인적으로 이런 류의 책을 잘 안 사요.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…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재밌고 쉽게 잘 읽힘. 빨리 적용하고 싶단 생각이 듬.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리치코드 전자책 구매 후기 (크레킷, 2026.07.25)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highlight>
                  <a:srgbClr val="111111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pic>
        <p:nvPicPr>
          <p:cNvPr id="3" name="Image 0" descr="img/ph_boo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757302"/>
            <a:ext cx="4480560" cy="33433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031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B0000C"/>
          </a:solidFill>
          <a:ln w="6350">
            <a:solidFill>
              <a:srgbClr val="B0000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0" name="Text 17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1" name="Text 17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크몽 출금 완료 수익금 26,867,042원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수익관리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70383"/>
            <a:ext cx="10436047" cy="195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kmo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06959"/>
            <a:ext cx="10362895" cy="18841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크몽 전문가 수익관리 (출금 완료 수익금) · 계좌 정보는 가림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스튜디오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“주제만 정하면 첫 책이 나와요”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2648" y="2203704"/>
            <a:ext cx="5486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9224" y="2240280"/>
            <a:ext cx="5413248" cy="3383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ebook-studio.preview.webdot.co.kr (미리보기 버전 화면)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원료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 경험)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40분)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완성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정했으면 한 줄, 못 정했으면 추천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정했어요 / 추천받을래요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99388" y="2249424"/>
            <a:ext cx="41371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964" y="2286000"/>
            <a:ext cx="4064000" cy="3657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분야 · 311개 잘 팔리는 주제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73508" y="2249424"/>
            <a:ext cx="3300446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dio_ca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84" y="2286000"/>
            <a:ext cx="3227294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원료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내 경험만 적으면 돼요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주제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top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42662"/>
            <a:ext cx="3271418" cy="29442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 + 경험 5칸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dio_set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2479091"/>
            <a:ext cx="3271418" cy="32714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 (약 40분)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studio_progres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2642662"/>
            <a:ext cx="3271418" cy="294427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표지 3안 · 3D 목업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 중 고르기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570309"/>
            <a:ext cx="5163160" cy="30889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gen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885"/>
            <a:ext cx="5090008" cy="30158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+ 3D 목업 결과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2152" y="2381025"/>
            <a:ext cx="5163160" cy="34675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cover_s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417601"/>
            <a:ext cx="5090008" cy="33943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3D 목업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mock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79091"/>
            <a:ext cx="3271418" cy="32714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gen_bod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2967759"/>
            <a:ext cx="3271418" cy="229408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359816"/>
            <a:ext cx="3344570" cy="350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pag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2396392"/>
            <a:ext cx="3271418" cy="34368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광고를 누르면 보는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crk_talk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05406"/>
            <a:ext cx="5090008" cy="34187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2152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crk_rich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405406"/>
            <a:ext cx="5090008" cy="34187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strip_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페이지를 위에서 아래로 (모바일 화면) — 문제 공감 → 진단 체크 → 왜 안 됐나 → 저자 이야기 → 책 소개 → 목차 → 후기 → 구매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리치코드 판매 페이지도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같은 순서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strip_ri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 (모바일 화면) — 7년 전 이야기 → 인생 뒤엎은 썰 → 왜 안 풀리나 → 목차 → 후기 → 자주 묻는 질문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2,760만원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₩27,606,300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1,000만원 배지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₩22,869,820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613건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인증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카톡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A님 2,760만원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3140007"/>
            <a:ext cx="1889699" cy="194958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76583"/>
            <a:ext cx="1816547" cy="18764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05267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B님 1,002만원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68691" y="3429694"/>
            <a:ext cx="1889699" cy="137021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_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67" y="3466270"/>
            <a:ext cx="1816547" cy="12970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87574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C님 190만원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150998" y="3174941"/>
            <a:ext cx="1889699" cy="187971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stu_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74" y="3211517"/>
            <a:ext cx="1816547" cy="180656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69881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D님 하루 5건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333305" y="3117550"/>
            <a:ext cx="1889699" cy="199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img/stu_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881" y="3154126"/>
            <a:ext cx="1816547" cy="19213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52188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E님 275만원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515612" y="3212370"/>
            <a:ext cx="1889699" cy="180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img/stu_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188" y="3248946"/>
            <a:ext cx="1816547" cy="17317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1,002만원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₩10,020,500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1,000만원 돌파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₩7,774,359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294건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275만원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₩2,752,000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₩2,156,672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88건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“쌤 말씀대로 해서 총 190 벌었네요”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₩1,914,000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판매액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₩816,000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지난달 수익 출금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₩590,767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출금하니 바로 입금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수익금 출금 화면 + 입금 알림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“광고비 증액하고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하루 만에 5건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팔았습니다”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“어제 기뻐서 편의점 파스타 먹었습니다” — 수강생 D님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— 있으면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200" dirty="0"/>
          </a:p>
        </p:txBody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C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200" dirty="0"/>
          </a:p>
        </p:txBody>
      </p:sp>
      <p:graphicFrame>
        <p:nvGraphicFramePr>
          <p:cNvPr id="1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140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141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200" dirty="0"/>
          </a:p>
        </p:txBody>
      </p:sp>
      <p:graphicFrame>
        <p:nvGraphicFramePr>
          <p:cNvPr id="1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144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146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147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1825" y="822960"/>
            <a:ext cx="4344429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 · [ 회사명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148</Slides>
  <Notes>148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148</vt:i4>
      </vt:variant>
    </vt:vector>
  </HeadingPairs>
  <TitlesOfParts>
    <vt:vector size="1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2026-10-13T01:53:08Z</dcterms:created>
  <dcterms:modified xsi:type="dcterms:W3CDTF">2026-10-13T01:53:08Z</dcterms:modified>
</cp:coreProperties>
</file>